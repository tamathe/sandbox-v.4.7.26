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311" r:id="rId2"/>
    <p:sldId id="27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65249-61C9-417C-BE2A-81220BB4F5FE}" v="2" dt="2025-02-25T19:59:48.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ckarski, Justine C." userId="f5ecb3d6-012c-4e7d-9b3e-883b31b87388" providerId="ADAL" clId="{29665249-61C9-417C-BE2A-81220BB4F5FE}"/>
    <pc:docChg chg="addSld modSld">
      <pc:chgData name="Pickarski, Justine C." userId="f5ecb3d6-012c-4e7d-9b3e-883b31b87388" providerId="ADAL" clId="{29665249-61C9-417C-BE2A-81220BB4F5FE}" dt="2025-02-25T19:59:57.162" v="5" actId="20577"/>
      <pc:docMkLst>
        <pc:docMk/>
      </pc:docMkLst>
      <pc:sldChg chg="modSp add mod">
        <pc:chgData name="Pickarski, Justine C." userId="f5ecb3d6-012c-4e7d-9b3e-883b31b87388" providerId="ADAL" clId="{29665249-61C9-417C-BE2A-81220BB4F5FE}" dt="2025-02-25T19:59:53.153" v="3" actId="20577"/>
        <pc:sldMkLst>
          <pc:docMk/>
          <pc:sldMk cId="597929679" sldId="276"/>
        </pc:sldMkLst>
        <pc:spChg chg="mod">
          <ac:chgData name="Pickarski, Justine C." userId="f5ecb3d6-012c-4e7d-9b3e-883b31b87388" providerId="ADAL" clId="{29665249-61C9-417C-BE2A-81220BB4F5FE}" dt="2025-02-25T19:59:53.153" v="3" actId="20577"/>
          <ac:spMkLst>
            <pc:docMk/>
            <pc:sldMk cId="597929679" sldId="276"/>
            <ac:spMk id="4" creationId="{0815422A-619E-D543-83DE-CE4928C14273}"/>
          </ac:spMkLst>
        </pc:spChg>
      </pc:sldChg>
      <pc:sldChg chg="modSp add mod">
        <pc:chgData name="Pickarski, Justine C." userId="f5ecb3d6-012c-4e7d-9b3e-883b31b87388" providerId="ADAL" clId="{29665249-61C9-417C-BE2A-81220BB4F5FE}" dt="2025-02-25T19:59:57.162" v="5" actId="20577"/>
        <pc:sldMkLst>
          <pc:docMk/>
          <pc:sldMk cId="2668489670" sldId="311"/>
        </pc:sldMkLst>
        <pc:spChg chg="mod">
          <ac:chgData name="Pickarski, Justine C." userId="f5ecb3d6-012c-4e7d-9b3e-883b31b87388" providerId="ADAL" clId="{29665249-61C9-417C-BE2A-81220BB4F5FE}" dt="2025-02-25T19:59:57.162" v="5" actId="20577"/>
          <ac:spMkLst>
            <pc:docMk/>
            <pc:sldMk cId="2668489670" sldId="311"/>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3EB56-54B8-42C8-B3B3-089399233371}"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81C1F-5E74-40D3-835B-4A5F776D5294}" type="slidenum">
              <a:rPr lang="en-US" smtClean="0"/>
              <a:t>‹#›</a:t>
            </a:fld>
            <a:endParaRPr lang="en-US"/>
          </a:p>
        </p:txBody>
      </p:sp>
    </p:spTree>
    <p:extLst>
      <p:ext uri="{BB962C8B-B14F-4D97-AF65-F5344CB8AC3E}">
        <p14:creationId xmlns:p14="http://schemas.microsoft.com/office/powerpoint/2010/main" val="366279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BE1C4-B052-4DB7-9257-F533DCC4081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0682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0000"/>
                </a:solidFill>
                <a:latin typeface="Source Sans Pro"/>
                <a:ea typeface="Source Sans Pro"/>
              </a:rPr>
              <a:t>69 with stage IIIB serous endometrial cancer. Presented with PMB, EMB with endometrial cancer. s/p </a:t>
            </a:r>
            <a:r>
              <a:rPr lang="en-US" dirty="0" err="1">
                <a:solidFill>
                  <a:srgbClr val="000000"/>
                </a:solidFill>
                <a:latin typeface="Source Sans Pro"/>
                <a:ea typeface="Source Sans Pro"/>
              </a:rPr>
              <a:t>rTLH</a:t>
            </a:r>
            <a:r>
              <a:rPr lang="en-US" dirty="0">
                <a:solidFill>
                  <a:srgbClr val="000000"/>
                </a:solidFill>
                <a:latin typeface="Source Sans Pro"/>
                <a:ea typeface="Source Sans Pro"/>
              </a:rPr>
              <a:t>, BSO, SLND, sigmoid nodules. Preop CT without any metastatic disease or LAD. Received 6 cycles of adjuvant carbo/</a:t>
            </a:r>
            <a:r>
              <a:rPr lang="en-US" dirty="0" err="1">
                <a:solidFill>
                  <a:srgbClr val="000000"/>
                </a:solidFill>
                <a:latin typeface="Source Sans Pro"/>
                <a:ea typeface="Source Sans Pro"/>
              </a:rPr>
              <a:t>taxol</a:t>
            </a:r>
            <a:r>
              <a:rPr lang="en-US" dirty="0">
                <a:solidFill>
                  <a:srgbClr val="000000"/>
                </a:solidFill>
                <a:latin typeface="Source Sans Pro"/>
                <a:ea typeface="Source Sans Pro"/>
              </a:rPr>
              <a:t> and VBT (completed 8/14/24). Recent CT with concern for recurrence. PET scan with </a:t>
            </a:r>
            <a:r>
              <a:rPr lang="en-US" dirty="0">
                <a:solidFill>
                  <a:srgbClr val="000000"/>
                </a:solidFill>
                <a:effectLst/>
                <a:latin typeface="Arial" panose="020B0604020202020204" pitchFamily="34" charset="0"/>
                <a:ea typeface="Source Sans Pro"/>
              </a:rPr>
              <a:t>h</a:t>
            </a:r>
            <a:r>
              <a:rPr lang="en-US" dirty="0">
                <a:effectLst/>
                <a:latin typeface="Arial" panose="020B0604020202020204" pitchFamily="34" charset="0"/>
              </a:rPr>
              <a:t>ypermetabolic activity along the left lateral aspect of the vaginal cuff concerning for local recurrence and hypermetabolic peritoneal thickening along the left pelvic sidewall and nodularity in the left upper quadrant concerning for metastatic disease.</a:t>
            </a:r>
          </a:p>
          <a:p>
            <a:pPr>
              <a:defRPr/>
            </a:pPr>
            <a:endParaRPr lang="en-US" dirty="0">
              <a:solidFill>
                <a:srgbClr val="000000"/>
              </a:solidFill>
              <a:latin typeface="Source Sans Pro"/>
              <a:ea typeface="Source Sans Pro"/>
            </a:endParaRPr>
          </a:p>
          <a:p>
            <a:pPr>
              <a:defRPr/>
            </a:pPr>
            <a:r>
              <a:rPr lang="en-US" dirty="0">
                <a:solidFill>
                  <a:srgbClr val="000000"/>
                </a:solidFill>
                <a:latin typeface="Source Sans Pro"/>
                <a:ea typeface="Source Sans Pro"/>
              </a:rPr>
              <a:t>PMH: HTN, HLD, anxiety, BMI 33 </a:t>
            </a:r>
            <a:endParaRPr lang="en-US"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Recommendation</a:t>
            </a:r>
          </a:p>
          <a:p>
            <a:pPr marL="228600" indent="-228600">
              <a:buFontTx/>
              <a:buAutoNum type="arabicPeriod"/>
              <a:defRPr/>
            </a:pPr>
            <a:r>
              <a:rPr lang="en-US" b="0" i="0" dirty="0">
                <a:solidFill>
                  <a:srgbClr val="000000"/>
                </a:solidFill>
                <a:effectLst/>
                <a:latin typeface="Source Sans Pro"/>
                <a:ea typeface="Source Sans Pro"/>
              </a:rPr>
              <a:t>Standard of care</a:t>
            </a:r>
            <a:r>
              <a:rPr lang="en-US" dirty="0">
                <a:solidFill>
                  <a:srgbClr val="000000"/>
                </a:solidFill>
                <a:latin typeface="Source Sans Pro"/>
                <a:ea typeface="Source Sans Pro"/>
              </a:rPr>
              <a:t> – already received, did not receive immunotherapy upfront as no measurable disease </a:t>
            </a:r>
            <a:endParaRPr lang="en-US" b="0" i="0" dirty="0">
              <a:solidFill>
                <a:srgbClr val="000000"/>
              </a:solidFill>
              <a:effectLst/>
              <a:latin typeface="Source Sans Pro" panose="020B0503030403020204" pitchFamily="34" charset="0"/>
              <a:ea typeface="Source Sans Pro"/>
            </a:endParaRPr>
          </a:p>
          <a:p>
            <a:pPr marL="228600" indent="-228600">
              <a:buFontTx/>
              <a:buAutoNum type="arabicPeriod"/>
              <a:defRPr/>
            </a:pPr>
            <a:r>
              <a:rPr lang="en-US" b="0" i="0" dirty="0">
                <a:solidFill>
                  <a:srgbClr val="000000"/>
                </a:solidFill>
                <a:effectLst/>
                <a:latin typeface="Source Sans Pro"/>
                <a:ea typeface="Source Sans Pro"/>
              </a:rPr>
              <a:t>Recurrence </a:t>
            </a:r>
            <a:r>
              <a:rPr lang="en-US" dirty="0">
                <a:solidFill>
                  <a:srgbClr val="000000"/>
                </a:solidFill>
                <a:latin typeface="Source Sans Pro"/>
                <a:ea typeface="Source Sans Pro"/>
              </a:rPr>
              <a:t>– if recurrence on PET, last received carbo/</a:t>
            </a:r>
            <a:r>
              <a:rPr lang="en-US" dirty="0" err="1">
                <a:solidFill>
                  <a:srgbClr val="000000"/>
                </a:solidFill>
                <a:latin typeface="Source Sans Pro"/>
                <a:ea typeface="Source Sans Pro"/>
              </a:rPr>
              <a:t>taxol</a:t>
            </a:r>
            <a:r>
              <a:rPr lang="en-US" dirty="0">
                <a:solidFill>
                  <a:srgbClr val="000000"/>
                </a:solidFill>
                <a:latin typeface="Source Sans Pro"/>
                <a:ea typeface="Source Sans Pro"/>
              </a:rPr>
              <a:t> (last 5/14/24) – essentially platinum </a:t>
            </a:r>
            <a:r>
              <a:rPr lang="en-US" dirty="0" err="1">
                <a:solidFill>
                  <a:srgbClr val="000000"/>
                </a:solidFill>
                <a:latin typeface="Source Sans Pro"/>
                <a:ea typeface="Source Sans Pro"/>
              </a:rPr>
              <a:t>resistent</a:t>
            </a:r>
            <a:endParaRPr lang="en-US" b="0" i="0" dirty="0">
              <a:solidFill>
                <a:srgbClr val="000000"/>
              </a:solidFill>
              <a:effectLst/>
              <a:latin typeface="Source Sans Pro" panose="020B0503030403020204" pitchFamily="34" charset="0"/>
              <a:ea typeface="Source Sans Pro"/>
            </a:endParaRPr>
          </a:p>
          <a:p>
            <a:pPr marL="685800" lvl="1" indent="-228600">
              <a:buFont typeface="Courier New"/>
              <a:buChar char="o"/>
              <a:defRPr/>
            </a:pPr>
            <a:r>
              <a:rPr lang="en-US" dirty="0">
                <a:solidFill>
                  <a:srgbClr val="000000"/>
                </a:solidFill>
                <a:latin typeface="Source Sans Pro"/>
                <a:ea typeface="Source Sans Pro"/>
              </a:rPr>
              <a:t>Systemic therapy – </a:t>
            </a:r>
            <a:r>
              <a:rPr lang="en-US" dirty="0" err="1">
                <a:solidFill>
                  <a:srgbClr val="000000"/>
                </a:solidFill>
                <a:latin typeface="Source Sans Pro"/>
                <a:ea typeface="Source Sans Pro"/>
              </a:rPr>
              <a:t>doxil</a:t>
            </a:r>
            <a:r>
              <a:rPr lang="en-US" dirty="0">
                <a:solidFill>
                  <a:srgbClr val="000000"/>
                </a:solidFill>
                <a:latin typeface="Source Sans Pro"/>
                <a:ea typeface="Source Sans Pro"/>
              </a:rPr>
              <a:t>/</a:t>
            </a:r>
            <a:r>
              <a:rPr lang="en-US" dirty="0" err="1">
                <a:solidFill>
                  <a:srgbClr val="000000"/>
                </a:solidFill>
                <a:latin typeface="Source Sans Pro"/>
                <a:ea typeface="Source Sans Pro"/>
              </a:rPr>
              <a:t>bev</a:t>
            </a:r>
            <a:endParaRPr lang="en-US" dirty="0">
              <a:solidFill>
                <a:srgbClr val="000000"/>
              </a:solidFill>
              <a:latin typeface="Source Sans Pro"/>
              <a:ea typeface="Source Sans Pro"/>
            </a:endParaRPr>
          </a:p>
          <a:p>
            <a:pPr marL="685800" lvl="1" indent="-228600">
              <a:buFont typeface="Courier New"/>
              <a:buChar char="o"/>
              <a:defRPr/>
            </a:pPr>
            <a:r>
              <a:rPr lang="en-US" dirty="0">
                <a:solidFill>
                  <a:srgbClr val="000000"/>
                </a:solidFill>
                <a:latin typeface="Source Sans Pro"/>
                <a:ea typeface="Source Sans Pro"/>
              </a:rPr>
              <a:t>Lenvatinib/</a:t>
            </a:r>
            <a:r>
              <a:rPr lang="en-US" dirty="0" err="1">
                <a:solidFill>
                  <a:srgbClr val="000000"/>
                </a:solidFill>
                <a:latin typeface="Source Sans Pro"/>
                <a:ea typeface="Source Sans Pro"/>
              </a:rPr>
              <a:t>pembro</a:t>
            </a:r>
            <a:r>
              <a:rPr lang="en-US" dirty="0">
                <a:solidFill>
                  <a:srgbClr val="000000"/>
                </a:solidFill>
                <a:latin typeface="Source Sans Pro"/>
                <a:ea typeface="Source Sans Pro"/>
              </a:rPr>
              <a:t> (</a:t>
            </a:r>
            <a:r>
              <a:rPr lang="en-US" dirty="0" err="1">
                <a:solidFill>
                  <a:srgbClr val="000000"/>
                </a:solidFill>
                <a:latin typeface="Source Sans Pro"/>
                <a:ea typeface="Source Sans Pro"/>
              </a:rPr>
              <a:t>pMMR</a:t>
            </a:r>
            <a:r>
              <a:rPr lang="en-US" dirty="0">
                <a:solidFill>
                  <a:srgbClr val="000000"/>
                </a:solidFill>
                <a:latin typeface="Source Sans Pro"/>
                <a:ea typeface="Source Sans Pro"/>
              </a:rPr>
              <a:t>)</a:t>
            </a:r>
          </a:p>
          <a:p>
            <a:pPr marL="228600" indent="-228600">
              <a:buFontTx/>
              <a:buAutoNum type="arabicPeriod"/>
              <a:defRPr/>
            </a:pPr>
            <a:r>
              <a:rPr lang="en-US" dirty="0">
                <a:solidFill>
                  <a:srgbClr val="000000"/>
                </a:solidFill>
                <a:latin typeface="Source Sans Pro"/>
                <a:ea typeface="Source Sans Pro"/>
              </a:rPr>
              <a:t>Could consider</a:t>
            </a:r>
            <a:r>
              <a:rPr lang="en-US" b="0" i="0" dirty="0">
                <a:solidFill>
                  <a:srgbClr val="000000"/>
                </a:solidFill>
                <a:effectLst/>
                <a:latin typeface="Source Sans Pro"/>
                <a:ea typeface="Source Sans Pro"/>
              </a:rPr>
              <a:t> hormone therapy </a:t>
            </a:r>
            <a:r>
              <a:rPr lang="en-US" dirty="0">
                <a:solidFill>
                  <a:srgbClr val="000000"/>
                </a:solidFill>
                <a:latin typeface="Source Sans Pro"/>
                <a:ea typeface="Source Sans Pro"/>
              </a:rPr>
              <a:t>if fails other systemic therapy although only 1+ ER/PR</a:t>
            </a:r>
            <a:endParaRPr lang="en-US" b="0" i="0" dirty="0">
              <a:solidFill>
                <a:srgbClr val="000000"/>
              </a:solidFill>
              <a:effectLst/>
              <a:latin typeface="Source Sans Pro"/>
              <a:ea typeface="Source Sans Pro"/>
            </a:endParaRPr>
          </a:p>
          <a:p>
            <a:pPr marL="228600" indent="-228600">
              <a:buFontTx/>
              <a:buAutoNum type="arabicPeriod"/>
              <a:defRPr/>
            </a:pPr>
            <a:r>
              <a:rPr lang="en-US" dirty="0">
                <a:solidFill>
                  <a:srgbClr val="000000"/>
                </a:solidFill>
                <a:latin typeface="Source Sans Pro"/>
                <a:ea typeface="Source Sans Pro"/>
              </a:rPr>
              <a:t>No clinical trial options</a:t>
            </a:r>
          </a:p>
          <a:p>
            <a:pPr marL="228600" indent="-228600">
              <a:buFontTx/>
              <a:buAutoNum type="arabicPeriod"/>
              <a:defRPr/>
            </a:pPr>
            <a:endParaRPr lang="en-US" dirty="0">
              <a:solidFill>
                <a:srgbClr val="000000"/>
              </a:solidFill>
              <a:latin typeface="Source Sans Pro"/>
              <a:ea typeface="Source Sans Pro"/>
            </a:endParaRPr>
          </a:p>
          <a:p>
            <a:pPr marL="228600" indent="-228600">
              <a:buFontTx/>
              <a:buAutoNum type="arabicPeriod"/>
              <a:defRPr/>
            </a:pPr>
            <a:r>
              <a:rPr lang="en-US" dirty="0">
                <a:solidFill>
                  <a:srgbClr val="000000"/>
                </a:solidFill>
                <a:latin typeface="Source Sans Pro"/>
                <a:ea typeface="Source Sans Pro"/>
              </a:rPr>
              <a:t>** looks like CARIS done on original biopsy, had not been performed previously, if concern for recurrence on PET and area available to bx – could consider that for repeat CARIS</a:t>
            </a:r>
          </a:p>
          <a:p>
            <a:pPr marR="0" lvl="0" algn="l" defTabSz="914400" rtl="0" eaLnBrk="1" fontAlgn="auto" latinLnBrk="0" hangingPunct="1">
              <a:lnSpc>
                <a:spcPct val="100000"/>
              </a:lnSpc>
              <a:spcBef>
                <a:spcPts val="0"/>
              </a:spcBef>
              <a:spcAft>
                <a:spcPts val="0"/>
              </a:spcAft>
              <a:buClrTx/>
              <a:buSzTx/>
              <a:tabLst/>
              <a:defRPr/>
            </a:pPr>
            <a:endParaRPr lang="en-US" b="0" i="0" dirty="0">
              <a:solidFill>
                <a:srgbClr val="000000"/>
              </a:solidFill>
              <a:effectLst/>
              <a:latin typeface="Source Sans Pro" panose="020B0503030403020204" pitchFamily="34" charset="0"/>
              <a:ea typeface="Source Sans Pro"/>
            </a:endParaRPr>
          </a:p>
          <a:p>
            <a:pPr marR="0" lvl="0" algn="l" defTabSz="914400" rtl="0" eaLnBrk="1" fontAlgn="auto" latinLnBrk="0" hangingPunct="1">
              <a:lnSpc>
                <a:spcPct val="100000"/>
              </a:lnSpc>
              <a:spcBef>
                <a:spcPts val="0"/>
              </a:spcBef>
              <a:spcAft>
                <a:spcPts val="0"/>
              </a:spcAft>
              <a:buClrTx/>
              <a:buSzTx/>
              <a:tabLst/>
              <a:defRPr/>
            </a:pPr>
            <a:endParaRPr lang="en-US" b="0" i="0" dirty="0">
              <a:solidFill>
                <a:srgbClr val="000000"/>
              </a:solidFill>
              <a:effectLst/>
              <a:latin typeface="Source Sans Pro" panose="020B0503030403020204" pitchFamily="34" charset="0"/>
              <a:ea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dk1"/>
              </a:solidFill>
              <a:effectLst/>
              <a:latin typeface="Source Sans Pro" panose="020B0503030403020204" pitchFamily="34" charset="0"/>
              <a:ea typeface="Source Sans Pro" panose="020B050303040302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8B67E8-07AA-2A48-8744-CEDFF400616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926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9FF98-5475-B152-DC60-3EB0C6AD3E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7F5CB6-70F6-3107-BA2B-20AEC52095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9FBB36-74E5-DD3B-9B9D-AFBA97AC1276}"/>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B2C23599-4CE6-AD97-E655-9561596C07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03405-79CF-4E23-68F0-7B083D4B2AE5}"/>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412624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A0F96-6B57-5001-79B6-2706E659B1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0CBC30-4015-04B0-CAE3-AD3D5703A2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3E3F4-94FD-14A1-4EAB-9447C6F86381}"/>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BFFCC30B-ED41-3B09-A658-99D6172AC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D4054E-030A-5324-0ABC-7DCB748AB171}"/>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3061123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EB765-5DB7-9F20-2F50-105C2B62F6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350345-AA13-46BA-D0BB-E5995BA5A6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37DE9A-BF1A-9AAD-F97C-3CE0CC81D27D}"/>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7FB71E60-94C2-7C72-6795-088FFA1CE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A0E5F3-D8AE-4972-3529-2B2E69CC44CB}"/>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3477114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71BA-D26C-C41A-E5CF-DAD4A528F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3C71D9-261B-1D03-4DF5-DC44B31A9F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4D23D9-5AAA-135C-C0F3-A04FC6DB00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C057CC-5B0B-7362-C054-F50701A1D82D}"/>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6" name="Footer Placeholder 5">
            <a:extLst>
              <a:ext uri="{FF2B5EF4-FFF2-40B4-BE49-F238E27FC236}">
                <a16:creationId xmlns:a16="http://schemas.microsoft.com/office/drawing/2014/main" id="{8D1148E7-E699-64B0-7B69-0652D5DEA3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B1F03B-6615-CC90-3799-B9F0EC563E30}"/>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1314173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E0624-24A8-D2EF-A4F9-71D6C2A13E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9C85D2-1CED-64A4-5625-A201627E23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591162-5B95-965E-BC81-2726FC4C54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63EC8F-C0A6-5733-5BB2-F72000087C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72F4C-5A46-6238-993F-A45EDF3C23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F84F93-47D3-671C-301F-5845C005D884}"/>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8" name="Footer Placeholder 7">
            <a:extLst>
              <a:ext uri="{FF2B5EF4-FFF2-40B4-BE49-F238E27FC236}">
                <a16:creationId xmlns:a16="http://schemas.microsoft.com/office/drawing/2014/main" id="{09D4D948-5F38-CD66-2866-D9C7470321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9B6105-7B75-D225-67D3-AD1A6EF2C472}"/>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318341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82EC-3228-6941-A18F-A7EBF5D293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4AE160-8C78-AA07-95B5-F49CC1CCF4F6}"/>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4" name="Footer Placeholder 3">
            <a:extLst>
              <a:ext uri="{FF2B5EF4-FFF2-40B4-BE49-F238E27FC236}">
                <a16:creationId xmlns:a16="http://schemas.microsoft.com/office/drawing/2014/main" id="{ACD0C97F-CB23-E19F-DC9B-F7AB34882E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63378E-D107-43D9-DE06-86FD363C22E5}"/>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1586763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AD1C17-F242-9B1E-2CF3-1CBF1BE915A5}"/>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3" name="Footer Placeholder 2">
            <a:extLst>
              <a:ext uri="{FF2B5EF4-FFF2-40B4-BE49-F238E27FC236}">
                <a16:creationId xmlns:a16="http://schemas.microsoft.com/office/drawing/2014/main" id="{73B4EDB2-3F6B-1BE3-FABD-F31F10A489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1D0B8E-51B4-0858-8131-F39DFF49DBB8}"/>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1755606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EAED-D9FA-F013-A80F-A7458924B8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02608F-3DA1-E552-90A3-0C0C4FDDEC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1E6512-3AC3-ED03-9569-32E6D2492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EDC4ED-7893-138B-17EC-E134C6BB8A79}"/>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6" name="Footer Placeholder 5">
            <a:extLst>
              <a:ext uri="{FF2B5EF4-FFF2-40B4-BE49-F238E27FC236}">
                <a16:creationId xmlns:a16="http://schemas.microsoft.com/office/drawing/2014/main" id="{446F666F-16FD-0DD1-C6B0-CCFB4FDD52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FBF27D-5C95-A308-7E15-9ABBBB4972AB}"/>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26535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A1728-7DDF-9B1B-526A-EF5E2F90C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6DFC48-03FA-189E-3648-38406FEE3E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F877E4-BC4E-0091-732F-C7EA7E998D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C328F-DF61-B35A-9596-12F24D5EC19B}"/>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6" name="Footer Placeholder 5">
            <a:extLst>
              <a:ext uri="{FF2B5EF4-FFF2-40B4-BE49-F238E27FC236}">
                <a16:creationId xmlns:a16="http://schemas.microsoft.com/office/drawing/2014/main" id="{3D1265E8-3722-F5FB-0090-35CF67305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9EA6F-F5E5-ACE8-EF9A-A98466A232F9}"/>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1299834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588D-C71E-C356-B46A-7FDBA61E74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59B615-90C1-C535-ED3A-890C8E65B6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AD677-7FEC-DC50-2059-272AA9EF0D7B}"/>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EE9A6997-1CE3-A786-C139-A358B8D9C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C7B07-082A-90CC-0BBA-29DDEDAD997B}"/>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3416966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911A1-CFFE-EA9E-E483-FB336112FA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A11F81-B02D-76AD-63A2-E9DB30ACC4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A4701-8824-305E-F957-758451FAE0F8}"/>
              </a:ext>
            </a:extLst>
          </p:cNvPr>
          <p:cNvSpPr>
            <a:spLocks noGrp="1"/>
          </p:cNvSpPr>
          <p:nvPr>
            <p:ph type="dt" sz="half" idx="10"/>
          </p:nvPr>
        </p:nvSpPr>
        <p:spPr/>
        <p:txBody>
          <a:body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34A5E7C8-FEAC-66DC-F4D5-FB260D90B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282963-819C-060D-9455-7433B1978CA8}"/>
              </a:ext>
            </a:extLst>
          </p:cNvPr>
          <p:cNvSpPr>
            <a:spLocks noGrp="1"/>
          </p:cNvSpPr>
          <p:nvPr>
            <p:ph type="sldNum" sz="quarter" idx="12"/>
          </p:nvPr>
        </p:nvSpPr>
        <p:spPr/>
        <p:txBody>
          <a:bodyPr/>
          <a:lstStyle/>
          <a:p>
            <a:fld id="{6E505EC3-8566-4967-84D6-B17C0CF778B4}" type="slidenum">
              <a:rPr lang="en-US" smtClean="0"/>
              <a:t>‹#›</a:t>
            </a:fld>
            <a:endParaRPr lang="en-US"/>
          </a:p>
        </p:txBody>
      </p:sp>
    </p:spTree>
    <p:extLst>
      <p:ext uri="{BB962C8B-B14F-4D97-AF65-F5344CB8AC3E}">
        <p14:creationId xmlns:p14="http://schemas.microsoft.com/office/powerpoint/2010/main" val="381991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EF86E6-A826-4EB2-DBFD-C14FCD19A2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2F4219-F44C-B233-827B-56A1BDA1B6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2B8ED7-0983-3FFA-F612-AF1499B54D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CD7F3B-0B13-4B82-A10E-384959B6B1EA}" type="datetimeFigureOut">
              <a:rPr lang="en-US" smtClean="0"/>
              <a:t>2/25/2025</a:t>
            </a:fld>
            <a:endParaRPr lang="en-US"/>
          </a:p>
        </p:txBody>
      </p:sp>
      <p:sp>
        <p:nvSpPr>
          <p:cNvPr id="5" name="Footer Placeholder 4">
            <a:extLst>
              <a:ext uri="{FF2B5EF4-FFF2-40B4-BE49-F238E27FC236}">
                <a16:creationId xmlns:a16="http://schemas.microsoft.com/office/drawing/2014/main" id="{881F760C-E1FC-7801-57C9-1CB8327C69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91C1E6-86D4-DE6A-B633-2798C48775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05EC3-8566-4967-84D6-B17C0CF778B4}" type="slidenum">
              <a:rPr lang="en-US" smtClean="0"/>
              <a:t>‹#›</a:t>
            </a:fld>
            <a:endParaRPr lang="en-US"/>
          </a:p>
        </p:txBody>
      </p:sp>
    </p:spTree>
    <p:extLst>
      <p:ext uri="{BB962C8B-B14F-4D97-AF65-F5344CB8AC3E}">
        <p14:creationId xmlns:p14="http://schemas.microsoft.com/office/powerpoint/2010/main" val="884477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
            <a:ext cx="8229600" cy="883920"/>
          </a:xfrm>
        </p:spPr>
        <p:txBody>
          <a:bodyPr>
            <a:normAutofit/>
          </a:bodyPr>
          <a:lstStyle/>
          <a:p>
            <a:pPr algn="ctr"/>
            <a:r>
              <a:rPr lang="en-US"/>
              <a:t>Case 2: </a:t>
            </a:r>
            <a:r>
              <a:rPr lang="en-US" dirty="0"/>
              <a:t>EM Dr. Fredericks</a:t>
            </a:r>
          </a:p>
        </p:txBody>
      </p:sp>
      <p:sp>
        <p:nvSpPr>
          <p:cNvPr id="3" name="Content Placeholder 2"/>
          <p:cNvSpPr>
            <a:spLocks noGrp="1"/>
          </p:cNvSpPr>
          <p:nvPr>
            <p:ph idx="1"/>
          </p:nvPr>
        </p:nvSpPr>
        <p:spPr>
          <a:xfrm>
            <a:off x="352425" y="760682"/>
            <a:ext cx="11439525" cy="6035675"/>
          </a:xfrm>
        </p:spPr>
        <p:txBody>
          <a:bodyPr>
            <a:normAutofit lnSpcReduction="10000"/>
          </a:bodyPr>
          <a:lstStyle/>
          <a:p>
            <a:r>
              <a:rPr lang="en-US" sz="1900" dirty="0"/>
              <a:t> 69 year old female</a:t>
            </a:r>
          </a:p>
          <a:p>
            <a:r>
              <a:rPr lang="en-US" sz="2000" b="1" dirty="0"/>
              <a:t>Diagnosis: </a:t>
            </a:r>
            <a:r>
              <a:rPr lang="en-US" sz="1900" dirty="0"/>
              <a:t>Serous carcinoma of the endometrium (Stage IIIB), s/p robotic TLH/BSO/SLN </a:t>
            </a:r>
            <a:endParaRPr lang="en-US" sz="1900" b="1" dirty="0"/>
          </a:p>
          <a:p>
            <a:r>
              <a:rPr lang="en-US" sz="2000" b="1" dirty="0"/>
              <a:t>Other Clinical Information:</a:t>
            </a:r>
          </a:p>
          <a:p>
            <a:pPr lvl="1"/>
            <a:r>
              <a:rPr lang="en-US" sz="1900" dirty="0"/>
              <a:t>Performance Status: Asymptomatic; Pain Scale: 0</a:t>
            </a:r>
          </a:p>
          <a:p>
            <a:pPr lvl="1"/>
            <a:r>
              <a:rPr lang="en-US" sz="1900" dirty="0"/>
              <a:t>Hepatic Function: No recent results in EPIC </a:t>
            </a:r>
          </a:p>
          <a:p>
            <a:pPr lvl="1"/>
            <a:r>
              <a:rPr lang="en-US" sz="1900" dirty="0"/>
              <a:t>Renal Function: No recent results in EPIC</a:t>
            </a:r>
          </a:p>
          <a:p>
            <a:pPr lvl="1"/>
            <a:r>
              <a:rPr lang="en-US" sz="1900" dirty="0"/>
              <a:t>Family History: Mother w/ endometrial cancer, father w/ kidney cancer, sister with kidney cancer, sister with unspecified cancer and brother w/ unspecified cancer</a:t>
            </a:r>
          </a:p>
          <a:p>
            <a:pPr lvl="1"/>
            <a:r>
              <a:rPr lang="en-US" sz="1900" dirty="0"/>
              <a:t>Comorbidities: HTN, HL, anxiety, obesity, melanoma (2016)</a:t>
            </a:r>
          </a:p>
          <a:p>
            <a:r>
              <a:rPr lang="en-US" sz="2000" b="1" dirty="0"/>
              <a:t>Prior Therapy:</a:t>
            </a:r>
          </a:p>
          <a:p>
            <a:pPr lvl="1"/>
            <a:r>
              <a:rPr lang="en-US" sz="1900" dirty="0"/>
              <a:t> S/p carbo/paclitaxel x6 followed by VBT completed 8/2024</a:t>
            </a:r>
          </a:p>
          <a:p>
            <a:r>
              <a:rPr lang="en-US" sz="2000" b="1" dirty="0"/>
              <a:t>Planned Therapy</a:t>
            </a:r>
          </a:p>
          <a:p>
            <a:pPr lvl="1"/>
            <a:r>
              <a:rPr lang="en-US" sz="1900" dirty="0"/>
              <a:t>11/2024 PET scan consistent with small volume recurrence at the cuff and some suggestion of carcinomatosis in left lateral abdomen</a:t>
            </a:r>
          </a:p>
          <a:p>
            <a:pPr lvl="1"/>
            <a:r>
              <a:rPr lang="en-US" sz="1900" dirty="0"/>
              <a:t>Dr. Fredericks recommended doxorubicin liposomal/bevacizumab</a:t>
            </a:r>
          </a:p>
          <a:p>
            <a:pPr lvl="1"/>
            <a:r>
              <a:rPr lang="en-US" sz="1900" dirty="0"/>
              <a:t>Patient seen at MD Anderson for second opinion, recommended </a:t>
            </a:r>
            <a:r>
              <a:rPr lang="en-US" sz="1900" dirty="0" err="1"/>
              <a:t>lenvatanib</a:t>
            </a:r>
            <a:r>
              <a:rPr lang="en-US" sz="1900" dirty="0"/>
              <a:t>/pembrolizumab</a:t>
            </a:r>
          </a:p>
          <a:p>
            <a:r>
              <a:rPr lang="en-US" sz="2000" b="1" dirty="0"/>
              <a:t>Molecular Testing:</a:t>
            </a:r>
          </a:p>
          <a:p>
            <a:pPr lvl="1"/>
            <a:r>
              <a:rPr lang="en-US" sz="1900" dirty="0"/>
              <a:t>Specimen Site: Uterus; Collected: 12/2023; Panel: Caris; Dated: 12/2024</a:t>
            </a:r>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68489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15422A-619E-D543-83DE-CE4928C14273}"/>
              </a:ext>
            </a:extLst>
          </p:cNvPr>
          <p:cNvSpPr>
            <a:spLocks noGrp="1"/>
          </p:cNvSpPr>
          <p:nvPr>
            <p:ph type="title"/>
          </p:nvPr>
        </p:nvSpPr>
        <p:spPr>
          <a:xfrm>
            <a:off x="0" y="32763"/>
            <a:ext cx="10515600" cy="1066800"/>
          </a:xfrm>
        </p:spPr>
        <p:txBody>
          <a:bodyPr/>
          <a:lstStyle/>
          <a:p>
            <a:r>
              <a:rPr lang="en-US" dirty="0"/>
              <a:t>Case #2: EM</a:t>
            </a:r>
          </a:p>
        </p:txBody>
      </p:sp>
      <p:graphicFrame>
        <p:nvGraphicFramePr>
          <p:cNvPr id="6" name="Content Placeholder 3">
            <a:extLst>
              <a:ext uri="{FF2B5EF4-FFF2-40B4-BE49-F238E27FC236}">
                <a16:creationId xmlns:a16="http://schemas.microsoft.com/office/drawing/2014/main" id="{92F7737C-B177-CC44-A17B-C41AE7A06BAB}"/>
              </a:ext>
            </a:extLst>
          </p:cNvPr>
          <p:cNvGraphicFramePr>
            <a:graphicFrameLocks noGrp="1"/>
          </p:cNvGraphicFramePr>
          <p:nvPr>
            <p:ph idx="1"/>
          </p:nvPr>
        </p:nvGraphicFramePr>
        <p:xfrm>
          <a:off x="172278" y="1550504"/>
          <a:ext cx="11728144" cy="4851399"/>
        </p:xfrm>
        <a:graphic>
          <a:graphicData uri="http://schemas.openxmlformats.org/drawingml/2006/table">
            <a:tbl>
              <a:tblPr firstRow="1" firstCol="1" bandRow="1">
                <a:tableStyleId>{5C22544A-7EE6-4342-B048-85BDC9FD1C3A}</a:tableStyleId>
              </a:tblPr>
              <a:tblGrid>
                <a:gridCol w="1395280">
                  <a:extLst>
                    <a:ext uri="{9D8B030D-6E8A-4147-A177-3AD203B41FA5}">
                      <a16:colId xmlns:a16="http://schemas.microsoft.com/office/drawing/2014/main" val="2737443546"/>
                    </a:ext>
                  </a:extLst>
                </a:gridCol>
                <a:gridCol w="2508896">
                  <a:extLst>
                    <a:ext uri="{9D8B030D-6E8A-4147-A177-3AD203B41FA5}">
                      <a16:colId xmlns:a16="http://schemas.microsoft.com/office/drawing/2014/main" val="1072597485"/>
                    </a:ext>
                  </a:extLst>
                </a:gridCol>
                <a:gridCol w="1344221">
                  <a:extLst>
                    <a:ext uri="{9D8B030D-6E8A-4147-A177-3AD203B41FA5}">
                      <a16:colId xmlns:a16="http://schemas.microsoft.com/office/drawing/2014/main" val="533038368"/>
                    </a:ext>
                  </a:extLst>
                </a:gridCol>
                <a:gridCol w="1381262">
                  <a:extLst>
                    <a:ext uri="{9D8B030D-6E8A-4147-A177-3AD203B41FA5}">
                      <a16:colId xmlns:a16="http://schemas.microsoft.com/office/drawing/2014/main" val="687757647"/>
                    </a:ext>
                  </a:extLst>
                </a:gridCol>
                <a:gridCol w="2101293">
                  <a:extLst>
                    <a:ext uri="{9D8B030D-6E8A-4147-A177-3AD203B41FA5}">
                      <a16:colId xmlns:a16="http://schemas.microsoft.com/office/drawing/2014/main" val="4235599529"/>
                    </a:ext>
                  </a:extLst>
                </a:gridCol>
                <a:gridCol w="2141434">
                  <a:extLst>
                    <a:ext uri="{9D8B030D-6E8A-4147-A177-3AD203B41FA5}">
                      <a16:colId xmlns:a16="http://schemas.microsoft.com/office/drawing/2014/main" val="194372045"/>
                    </a:ext>
                  </a:extLst>
                </a:gridCol>
                <a:gridCol w="855758">
                  <a:extLst>
                    <a:ext uri="{9D8B030D-6E8A-4147-A177-3AD203B41FA5}">
                      <a16:colId xmlns:a16="http://schemas.microsoft.com/office/drawing/2014/main" val="1468733850"/>
                    </a:ext>
                  </a:extLst>
                </a:gridCol>
              </a:tblGrid>
              <a:tr h="623115">
                <a:tc>
                  <a:txBody>
                    <a:bodyPr/>
                    <a:lstStyle/>
                    <a:p>
                      <a:pPr marL="0" marR="0">
                        <a:lnSpc>
                          <a:spcPct val="107000"/>
                        </a:lnSpc>
                        <a:spcBef>
                          <a:spcPts val="0"/>
                        </a:spcBef>
                        <a:spcAft>
                          <a:spcPts val="0"/>
                        </a:spcAft>
                      </a:pPr>
                      <a:r>
                        <a:rPr lang="en-US" sz="1300" dirty="0">
                          <a:effectLst/>
                          <a:latin typeface="Calibri" panose="020F0502020204030204" pitchFamily="34" charset="0"/>
                          <a:cs typeface="Calibri" panose="020F0502020204030204" pitchFamily="34" charset="0"/>
                        </a:rPr>
                        <a:t>Alteration</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mn-ea"/>
                          <a:cs typeface="Calibri" panose="020F0502020204030204" pitchFamily="34" charset="0"/>
                        </a:rPr>
                        <a:t>Function</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Oncogenic?</a:t>
                      </a:r>
                      <a:r>
                        <a:rPr lang="en-US" sz="1300" baseline="0" dirty="0">
                          <a:effectLst/>
                          <a:latin typeface="Calibri" panose="020F0502020204030204" pitchFamily="34" charset="0"/>
                          <a:ea typeface="Calibri" panose="020F0502020204030204" pitchFamily="34" charset="0"/>
                          <a:cs typeface="Calibri" panose="020F0502020204030204" pitchFamily="34" charset="0"/>
                        </a:rPr>
                        <a:t> </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On Label</a:t>
                      </a: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Clinical</a:t>
                      </a:r>
                      <a:r>
                        <a:rPr lang="en-US" sz="1300" baseline="0" dirty="0">
                          <a:effectLst/>
                          <a:latin typeface="Calibri" panose="020F0502020204030204" pitchFamily="34" charset="0"/>
                          <a:ea typeface="Calibri" panose="020F0502020204030204" pitchFamily="34" charset="0"/>
                          <a:cs typeface="Calibri" panose="020F0502020204030204" pitchFamily="34" charset="0"/>
                        </a:rPr>
                        <a:t> Trial</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Off Label </a:t>
                      </a:r>
                    </a:p>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(Evidence Category)</a:t>
                      </a: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Variant Frequency</a:t>
                      </a:r>
                    </a:p>
                  </a:txBody>
                  <a:tcPr marL="68580" marR="68580" marT="0" marB="0"/>
                </a:tc>
                <a:extLst>
                  <a:ext uri="{0D108BD9-81ED-4DB2-BD59-A6C34878D82A}">
                    <a16:rowId xmlns:a16="http://schemas.microsoft.com/office/drawing/2014/main" val="2713903021"/>
                  </a:ext>
                </a:extLst>
              </a:tr>
              <a:tr h="623115">
                <a:tc>
                  <a:txBody>
                    <a:bodyPr/>
                    <a:lstStyle/>
                    <a:p>
                      <a:pPr marL="0" marR="0" lvl="0" indent="0" algn="l" rtl="0" eaLnBrk="1" fontAlgn="auto" latinLnBrk="0" hangingPunct="1">
                        <a:lnSpc>
                          <a:spcPct val="107000"/>
                        </a:lnSpc>
                        <a:spcBef>
                          <a:spcPts val="0"/>
                        </a:spcBef>
                        <a:spcAft>
                          <a:spcPts val="0"/>
                        </a:spcAft>
                        <a:buClrTx/>
                        <a:buSzTx/>
                        <a:buFontTx/>
                        <a:buNone/>
                      </a:pPr>
                      <a:r>
                        <a:rPr lang="en-US" sz="1300" baseline="0" dirty="0">
                          <a:solidFill>
                            <a:schemeClr val="bg1"/>
                          </a:solidFill>
                          <a:effectLst/>
                          <a:latin typeface="Calibri"/>
                          <a:ea typeface="Calibri"/>
                          <a:cs typeface="Calibri"/>
                        </a:rPr>
                        <a:t>FGFR2 S252W</a:t>
                      </a:r>
                      <a:endPar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indent="0" algn="l" rtl="0" eaLnBrk="1" fontAlgn="auto" latinLnBrk="0" hangingPunct="1">
                        <a:lnSpc>
                          <a:spcPct val="107000"/>
                        </a:lnSpc>
                        <a:spcBef>
                          <a:spcPts val="0"/>
                        </a:spcBef>
                        <a:spcAft>
                          <a:spcPts val="0"/>
                        </a:spcAft>
                        <a:buClrTx/>
                        <a:buSzTx/>
                        <a:buFontTx/>
                        <a:buNone/>
                      </a:pPr>
                      <a:r>
                        <a:rPr lang="en-US" sz="1300" b="0" i="0" kern="1200" dirty="0">
                          <a:solidFill>
                            <a:schemeClr val="tx1"/>
                          </a:solidFill>
                          <a:effectLst/>
                          <a:latin typeface="Calibri"/>
                          <a:ea typeface="+mn-ea"/>
                          <a:cs typeface="Calibri"/>
                        </a:rPr>
                        <a:t>A receptor tyrosine kinase </a:t>
                      </a:r>
                      <a:endParaRPr lang="en-US" sz="1300" b="0" i="0" kern="1200" dirty="0">
                        <a:solidFill>
                          <a:schemeClr val="tx1"/>
                        </a:solidFill>
                        <a:effectLst/>
                        <a:latin typeface="Calibri" panose="020F0502020204030204" pitchFamily="34" charset="0"/>
                        <a:ea typeface="+mn-ea"/>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Oncogenic, GOF</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Calibri"/>
                          <a:ea typeface="+mn-ea"/>
                          <a:cs typeface="Calibri"/>
                        </a:rPr>
                        <a:t>None</a:t>
                      </a:r>
                      <a:endParaRPr lang="en-US" sz="1300" b="0" i="0" kern="1200" dirty="0">
                        <a:solidFill>
                          <a:schemeClr val="dk1"/>
                        </a:solidFill>
                        <a:effectLst/>
                        <a:latin typeface="Calibri" panose="020F0502020204030204" pitchFamily="34" charset="0"/>
                        <a:ea typeface="+mn-ea"/>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FGFR-targeted inhibitors (4)</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16.64%</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288670708"/>
                  </a:ext>
                </a:extLst>
              </a:tr>
              <a:tr h="667624">
                <a:tc>
                  <a:txBody>
                    <a:bodyPr/>
                    <a:lstStyle/>
                    <a:p>
                      <a:pPr marL="0" marR="0" lvl="0" indent="0" algn="l" rtl="0" eaLnBrk="1" fontAlgn="auto" latinLnBrk="0" hangingPunct="1">
                        <a:lnSpc>
                          <a:spcPct val="107000"/>
                        </a:lnSpc>
                        <a:spcBef>
                          <a:spcPts val="0"/>
                        </a:spcBef>
                        <a:spcAft>
                          <a:spcPts val="0"/>
                        </a:spcAft>
                        <a:buClrTx/>
                        <a:buSzTx/>
                        <a:buFontTx/>
                        <a:buNone/>
                      </a:pPr>
                      <a:r>
                        <a:rPr lang="en-US" sz="1300" baseline="0" dirty="0">
                          <a:solidFill>
                            <a:schemeClr val="bg1"/>
                          </a:solidFill>
                          <a:effectLst/>
                          <a:latin typeface="Calibri"/>
                          <a:ea typeface="Calibri"/>
                          <a:cs typeface="Calibri"/>
                        </a:rPr>
                        <a:t>PPP2R1A P179R</a:t>
                      </a:r>
                      <a:endPar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lvl="0" indent="0" algn="l">
                        <a:lnSpc>
                          <a:spcPct val="107000"/>
                        </a:lnSpc>
                        <a:spcBef>
                          <a:spcPts val="0"/>
                        </a:spcBef>
                        <a:spcAft>
                          <a:spcPts val="0"/>
                        </a:spcAft>
                        <a:buNone/>
                      </a:pPr>
                      <a:r>
                        <a:rPr lang="en-US" sz="1100" b="0" i="0" u="none" strike="noStrike" kern="1200" noProof="0" dirty="0">
                          <a:solidFill>
                            <a:srgbClr val="212529"/>
                          </a:solidFill>
                          <a:effectLst/>
                        </a:rPr>
                        <a:t>Encodes a serine/threonine phosphatase that regulates cell growth and division</a:t>
                      </a:r>
                      <a:endParaRPr lang="en-US" dirty="0"/>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Likely oncogenic, LOF</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Calibri"/>
                          <a:ea typeface="+mn-ea"/>
                          <a:cs typeface="Calibri"/>
                        </a:rPr>
                        <a:t>None</a:t>
                      </a:r>
                      <a:endParaRPr lang="en-US" sz="1300" b="0" i="0" kern="1200" dirty="0">
                        <a:solidFill>
                          <a:schemeClr val="dk1"/>
                        </a:solidFill>
                        <a:effectLst/>
                        <a:latin typeface="Calibri" panose="020F0502020204030204" pitchFamily="34" charset="0"/>
                        <a:ea typeface="+mn-ea"/>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err="1">
                          <a:solidFill>
                            <a:schemeClr val="tx1"/>
                          </a:solidFill>
                          <a:effectLst/>
                          <a:latin typeface="Calibri"/>
                          <a:cs typeface="Calibri"/>
                        </a:rPr>
                        <a:t>Lunresertib</a:t>
                      </a:r>
                      <a:r>
                        <a:rPr lang="en-US" sz="1300" dirty="0">
                          <a:solidFill>
                            <a:schemeClr val="tx1"/>
                          </a:solidFill>
                          <a:effectLst/>
                          <a:latin typeface="Calibri"/>
                          <a:cs typeface="Calibri"/>
                        </a:rPr>
                        <a:t> (PKMYT1 </a:t>
                      </a:r>
                      <a:r>
                        <a:rPr lang="en-US" sz="1300" dirty="0" err="1">
                          <a:solidFill>
                            <a:schemeClr val="tx1"/>
                          </a:solidFill>
                          <a:effectLst/>
                          <a:latin typeface="Calibri"/>
                          <a:cs typeface="Calibri"/>
                        </a:rPr>
                        <a:t>inh</a:t>
                      </a:r>
                      <a:r>
                        <a:rPr lang="en-US" sz="1300" dirty="0">
                          <a:solidFill>
                            <a:schemeClr val="tx1"/>
                          </a:solidFill>
                          <a:effectLst/>
                          <a:latin typeface="Calibri"/>
                          <a:cs typeface="Calibri"/>
                        </a:rPr>
                        <a:t>) + </a:t>
                      </a:r>
                      <a:r>
                        <a:rPr lang="en-US" sz="1300" dirty="0" err="1">
                          <a:solidFill>
                            <a:schemeClr val="tx1"/>
                          </a:solidFill>
                          <a:effectLst/>
                          <a:latin typeface="Calibri"/>
                          <a:cs typeface="Calibri"/>
                        </a:rPr>
                        <a:t>camonsertib</a:t>
                      </a:r>
                      <a:r>
                        <a:rPr lang="en-US" sz="1300" dirty="0">
                          <a:solidFill>
                            <a:schemeClr val="tx1"/>
                          </a:solidFill>
                          <a:effectLst/>
                          <a:latin typeface="Calibri"/>
                          <a:cs typeface="Calibri"/>
                        </a:rPr>
                        <a:t> (ATR </a:t>
                      </a:r>
                      <a:r>
                        <a:rPr lang="en-US" sz="1300" dirty="0" err="1">
                          <a:solidFill>
                            <a:schemeClr val="tx1"/>
                          </a:solidFill>
                          <a:effectLst/>
                          <a:latin typeface="Calibri"/>
                          <a:cs typeface="Calibri"/>
                        </a:rPr>
                        <a:t>inh</a:t>
                      </a:r>
                      <a:r>
                        <a:rPr lang="en-US" sz="1300" dirty="0">
                          <a:solidFill>
                            <a:schemeClr val="tx1"/>
                          </a:solidFill>
                          <a:effectLst/>
                          <a:latin typeface="Calibri"/>
                          <a:cs typeface="Calibri"/>
                        </a:rPr>
                        <a:t>) (3)</a:t>
                      </a:r>
                      <a:endParaRPr lang="en-US" sz="1300" dirty="0" err="1">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17.2%</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529864991"/>
                  </a:ext>
                </a:extLst>
              </a:tr>
              <a:tr h="578608">
                <a:tc>
                  <a:txBody>
                    <a:bodyPr/>
                    <a:lstStyle/>
                    <a:p>
                      <a:pPr marL="0" marR="0" lvl="0" indent="0" algn="l" rtl="0" eaLnBrk="1" fontAlgn="auto" latinLnBrk="0" hangingPunct="1">
                        <a:lnSpc>
                          <a:spcPct val="107000"/>
                        </a:lnSpc>
                        <a:spcBef>
                          <a:spcPts val="0"/>
                        </a:spcBef>
                        <a:spcAft>
                          <a:spcPts val="0"/>
                        </a:spcAft>
                        <a:buClrTx/>
                        <a:buSzTx/>
                        <a:buFontTx/>
                        <a:buNone/>
                      </a:pPr>
                      <a:r>
                        <a:rPr lang="en-US" sz="1300" baseline="0" dirty="0">
                          <a:solidFill>
                            <a:schemeClr val="bg1"/>
                          </a:solidFill>
                          <a:effectLst/>
                          <a:latin typeface="Calibri"/>
                          <a:ea typeface="Calibri"/>
                          <a:cs typeface="Calibri"/>
                        </a:rPr>
                        <a:t>TP53 S94*</a:t>
                      </a:r>
                      <a:endPar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lvl="0">
                        <a:lnSpc>
                          <a:spcPct val="107000"/>
                        </a:lnSpc>
                        <a:spcBef>
                          <a:spcPts val="0"/>
                        </a:spcBef>
                        <a:spcAft>
                          <a:spcPts val="0"/>
                        </a:spcAft>
                        <a:buNone/>
                      </a:pPr>
                      <a:r>
                        <a:rPr lang="en-US" sz="1100" b="0" i="0" u="none" strike="noStrike" kern="1200" noProof="0" dirty="0">
                          <a:solidFill>
                            <a:srgbClr val="212529"/>
                          </a:solidFill>
                          <a:effectLst/>
                        </a:rPr>
                        <a:t>Tumor suppressor in the DNA damage pathway</a:t>
                      </a:r>
                      <a:endParaRPr lang="en-US" dirty="0"/>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Likely oncogenic, LOF</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 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lvl="0" indent="0" algn="l" defTabSz="914400">
                        <a:lnSpc>
                          <a:spcPct val="107000"/>
                        </a:lnSpc>
                        <a:spcBef>
                          <a:spcPts val="0"/>
                        </a:spcBef>
                        <a:spcAft>
                          <a:spcPts val="0"/>
                        </a:spcAft>
                        <a:buNone/>
                        <a:tabLst/>
                        <a:defRPr/>
                      </a:pPr>
                      <a:r>
                        <a:rPr lang="en-US" sz="1300" b="0" i="0" kern="1200" dirty="0">
                          <a:solidFill>
                            <a:schemeClr val="dk1"/>
                          </a:solidFill>
                          <a:effectLst/>
                          <a:latin typeface="Calibri"/>
                          <a:ea typeface="+mn-ea"/>
                          <a:cs typeface="Calibri"/>
                        </a:rPr>
                        <a:t>None</a:t>
                      </a:r>
                      <a:endParaRPr lang="en-US" dirty="0"/>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36.7%</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722825127"/>
                  </a:ext>
                </a:extLst>
              </a:tr>
              <a:tr h="697296">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ER/PR</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Estrogen/Progesterone receptor</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ER 1+ (70%)</a:t>
                      </a:r>
                      <a:endParaRPr lang="en-US" sz="1300" dirty="0">
                        <a:solidFill>
                          <a:schemeClr val="tx1"/>
                        </a:solidFill>
                        <a:effectLst/>
                        <a:latin typeface="Calibri" panose="020F0502020204030204" pitchFamily="34" charset="0"/>
                        <a:cs typeface="Calibri" panose="020F0502020204030204" pitchFamily="34" charset="0"/>
                      </a:endParaRPr>
                    </a:p>
                    <a:p>
                      <a:pPr marL="0" marR="0" lvl="0">
                        <a:lnSpc>
                          <a:spcPct val="107000"/>
                        </a:lnSpc>
                        <a:spcBef>
                          <a:spcPts val="0"/>
                        </a:spcBef>
                        <a:spcAft>
                          <a:spcPts val="0"/>
                        </a:spcAft>
                        <a:buNone/>
                      </a:pPr>
                      <a:r>
                        <a:rPr lang="en-US" sz="1300" dirty="0">
                          <a:solidFill>
                            <a:schemeClr val="tx1"/>
                          </a:solidFill>
                          <a:effectLst/>
                          <a:latin typeface="Calibri"/>
                          <a:cs typeface="Calibri"/>
                        </a:rPr>
                        <a:t>PR 1+ (90%)</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Hormonal therapy</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b="0" i="0" kern="1200" dirty="0">
                        <a:solidFill>
                          <a:schemeClr val="dk1"/>
                        </a:solidFill>
                        <a:effectLst/>
                        <a:latin typeface="Calibri" panose="020F0502020204030204" pitchFamily="34" charset="0"/>
                        <a:ea typeface="+mn-ea"/>
                        <a:cs typeface="Calibri" panose="020F0502020204030204" pitchFamily="34" charset="0"/>
                      </a:endParaRPr>
                    </a:p>
                  </a:txBody>
                  <a:tcPr marL="68580" marR="68580" marT="0" marB="0"/>
                </a:tc>
                <a:tc>
                  <a:txBody>
                    <a:bodyPr/>
                    <a:lstStyle/>
                    <a:p>
                      <a:r>
                        <a:rPr lang="en-US" sz="1300" dirty="0">
                          <a:solidFill>
                            <a:schemeClr val="tx1"/>
                          </a:solidFill>
                          <a:effectLst/>
                          <a:latin typeface="Calibri"/>
                          <a:cs typeface="Calibri"/>
                        </a:rPr>
                        <a:t>None</a:t>
                      </a:r>
                    </a:p>
                  </a:txBody>
                  <a:tcPr marL="68580" marR="68580" marT="0" marB="0"/>
                </a:tc>
                <a:tc>
                  <a:txBody>
                    <a:bodyPr/>
                    <a:lstStyle/>
                    <a:p>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31946289"/>
                  </a:ext>
                </a:extLst>
              </a:tr>
              <a:tr h="519263">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LOH</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Measure of HRD</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9%, low</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202098303"/>
                  </a:ext>
                </a:extLst>
              </a:tr>
              <a:tr h="341230">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TMB</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Measures mut/Mb</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3, low </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928020501"/>
                  </a:ext>
                </a:extLst>
              </a:tr>
              <a:tr h="489590">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MSI</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Measures hypermutability </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stable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lvl="0" indent="0" algn="l" rtl="0" eaLnBrk="1" fontAlgn="auto" latinLnBrk="0" hangingPunct="1">
                        <a:lnSpc>
                          <a:spcPct val="107000"/>
                        </a:lnSpc>
                        <a:spcBef>
                          <a:spcPts val="0"/>
                        </a:spcBef>
                        <a:spcAft>
                          <a:spcPts val="0"/>
                        </a:spcAft>
                        <a:buClrTx/>
                        <a:buSzTx/>
                        <a:buFontTx/>
                        <a:buNone/>
                      </a:pPr>
                      <a:r>
                        <a:rPr lang="en-US" sz="1300" dirty="0" err="1">
                          <a:solidFill>
                            <a:schemeClr val="tx1"/>
                          </a:solidFill>
                          <a:effectLst/>
                          <a:latin typeface="Calibri"/>
                          <a:cs typeface="Calibri"/>
                        </a:rPr>
                        <a:t>Pembro</a:t>
                      </a:r>
                      <a:r>
                        <a:rPr lang="en-US" sz="1300" dirty="0">
                          <a:solidFill>
                            <a:schemeClr val="tx1"/>
                          </a:solidFill>
                          <a:effectLst/>
                          <a:latin typeface="Calibri"/>
                          <a:cs typeface="Calibri"/>
                        </a:rPr>
                        <a:t> + </a:t>
                      </a:r>
                      <a:r>
                        <a:rPr lang="en-US" sz="1300" dirty="0" err="1">
                          <a:solidFill>
                            <a:schemeClr val="tx1"/>
                          </a:solidFill>
                          <a:effectLst/>
                          <a:latin typeface="Calibri"/>
                          <a:cs typeface="Calibri"/>
                        </a:rPr>
                        <a:t>levatinib</a:t>
                      </a:r>
                      <a:endParaRPr lang="en-US" sz="1300" dirty="0" err="1">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3987886"/>
                  </a:ext>
                </a:extLst>
              </a:tr>
              <a:tr h="311558">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PD-L1</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Marker for immunotherapy </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0%, neg </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a:cs typeface="Calibri"/>
                        </a:rPr>
                        <a:t>None</a:t>
                      </a:r>
                      <a:endParaRPr lang="en-US" sz="1300" b="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a:cs typeface="Calibri"/>
                        </a:rPr>
                        <a:t>None</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530063641"/>
                  </a:ext>
                </a:extLst>
              </a:tr>
            </a:tbl>
          </a:graphicData>
        </a:graphic>
      </p:graphicFrame>
      <p:sp>
        <p:nvSpPr>
          <p:cNvPr id="7" name="TextBox 6">
            <a:extLst>
              <a:ext uri="{FF2B5EF4-FFF2-40B4-BE49-F238E27FC236}">
                <a16:creationId xmlns:a16="http://schemas.microsoft.com/office/drawing/2014/main" id="{C4559FBA-58C7-0042-9D38-F37A6CDDA450}"/>
              </a:ext>
            </a:extLst>
          </p:cNvPr>
          <p:cNvSpPr txBox="1"/>
          <p:nvPr/>
        </p:nvSpPr>
        <p:spPr>
          <a:xfrm>
            <a:off x="181232" y="848133"/>
            <a:ext cx="12010768"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Prior treatments: Robotic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hyst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BSO,  SLND, adjuvant chemo, VBT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 treatments: Doxorubicin liposomal/</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bev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8" name="TextBox 7">
            <a:extLst>
              <a:ext uri="{FF2B5EF4-FFF2-40B4-BE49-F238E27FC236}">
                <a16:creationId xmlns:a16="http://schemas.microsoft.com/office/drawing/2014/main" id="{4AC315EE-6C21-6D42-8460-D237A949B798}"/>
              </a:ext>
            </a:extLst>
          </p:cNvPr>
          <p:cNvSpPr txBox="1"/>
          <p:nvPr/>
        </p:nvSpPr>
        <p:spPr>
          <a:xfrm>
            <a:off x="5797296" y="32763"/>
            <a:ext cx="6312865" cy="923330"/>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a:cs typeface="Calibri"/>
              </a:rPr>
              <a:t>Serous carcinoma</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Caris: 12/2024 </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Specimen:  Source, Date collected: endometrium, 12/2023</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597929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Words>
  <Application>Microsoft Office PowerPoint</Application>
  <PresentationFormat>Widescreen</PresentationFormat>
  <Paragraphs>102</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Courier New</vt:lpstr>
      <vt:lpstr>Source Sans Pro</vt:lpstr>
      <vt:lpstr>Office Theme</vt:lpstr>
      <vt:lpstr>Case 2: EM Dr. Fredericks</vt:lpstr>
      <vt:lpstr>Case #2: EM</vt:lpstr>
    </vt:vector>
  </TitlesOfParts>
  <Company>University of Kentucky HealthCare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2: EM Dr. Fredericks</dc:title>
  <dc:creator>Pickarski, Justine C.</dc:creator>
  <cp:lastModifiedBy>Pickarski, Justine C.</cp:lastModifiedBy>
  <cp:revision>1</cp:revision>
  <dcterms:created xsi:type="dcterms:W3CDTF">2025-02-25T19:59:34Z</dcterms:created>
  <dcterms:modified xsi:type="dcterms:W3CDTF">2025-02-25T19:59:58Z</dcterms:modified>
</cp:coreProperties>
</file>