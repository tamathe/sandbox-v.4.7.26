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319" r:id="rId3"/>
    <p:sldId id="261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82695" autoAdjust="0"/>
  </p:normalViewPr>
  <p:slideViewPr>
    <p:cSldViewPr snapToGrid="0">
      <p:cViewPr varScale="1">
        <p:scale>
          <a:sx n="81" d="100"/>
          <a:sy n="81" d="100"/>
        </p:scale>
        <p:origin x="3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ckarski, Justine C." userId="f5ecb3d6-012c-4e7d-9b3e-883b31b87388" providerId="ADAL" clId="{34B12DE9-183E-4328-A270-E36C9EC70685}"/>
    <pc:docChg chg="delSld modSld">
      <pc:chgData name="Pickarski, Justine C." userId="f5ecb3d6-012c-4e7d-9b3e-883b31b87388" providerId="ADAL" clId="{34B12DE9-183E-4328-A270-E36C9EC70685}" dt="2025-08-04T15:31:16.252" v="20" actId="47"/>
      <pc:docMkLst>
        <pc:docMk/>
      </pc:docMkLst>
      <pc:sldChg chg="del">
        <pc:chgData name="Pickarski, Justine C." userId="f5ecb3d6-012c-4e7d-9b3e-883b31b87388" providerId="ADAL" clId="{34B12DE9-183E-4328-A270-E36C9EC70685}" dt="2025-08-04T15:31:15.953" v="19" actId="47"/>
        <pc:sldMkLst>
          <pc:docMk/>
          <pc:sldMk cId="1146570685" sldId="260"/>
        </pc:sldMkLst>
      </pc:sldChg>
      <pc:sldChg chg="modSp mod">
        <pc:chgData name="Pickarski, Justine C." userId="f5ecb3d6-012c-4e7d-9b3e-883b31b87388" providerId="ADAL" clId="{34B12DE9-183E-4328-A270-E36C9EC70685}" dt="2025-08-04T15:30:56.948" v="3" actId="20577"/>
        <pc:sldMkLst>
          <pc:docMk/>
          <pc:sldMk cId="1836879126" sldId="261"/>
        </pc:sldMkLst>
        <pc:spChg chg="mod">
          <ac:chgData name="Pickarski, Justine C." userId="f5ecb3d6-012c-4e7d-9b3e-883b31b87388" providerId="ADAL" clId="{34B12DE9-183E-4328-A270-E36C9EC70685}" dt="2025-08-04T15:30:56.948" v="3" actId="20577"/>
          <ac:spMkLst>
            <pc:docMk/>
            <pc:sldMk cId="1836879126" sldId="261"/>
            <ac:spMk id="2" creationId="{3BBC48F4-F1A2-1E95-94DC-1BAF3C7F62C2}"/>
          </ac:spMkLst>
        </pc:spChg>
      </pc:sldChg>
      <pc:sldChg chg="del">
        <pc:chgData name="Pickarski, Justine C." userId="f5ecb3d6-012c-4e7d-9b3e-883b31b87388" providerId="ADAL" clId="{34B12DE9-183E-4328-A270-E36C9EC70685}" dt="2025-08-04T15:31:02.888" v="7" actId="47"/>
        <pc:sldMkLst>
          <pc:docMk/>
          <pc:sldMk cId="995071796" sldId="262"/>
        </pc:sldMkLst>
      </pc:sldChg>
      <pc:sldChg chg="del">
        <pc:chgData name="Pickarski, Justine C." userId="f5ecb3d6-012c-4e7d-9b3e-883b31b87388" providerId="ADAL" clId="{34B12DE9-183E-4328-A270-E36C9EC70685}" dt="2025-08-04T15:31:14.526" v="18" actId="47"/>
        <pc:sldMkLst>
          <pc:docMk/>
          <pc:sldMk cId="801631586" sldId="263"/>
        </pc:sldMkLst>
      </pc:sldChg>
      <pc:sldChg chg="del">
        <pc:chgData name="Pickarski, Justine C." userId="f5ecb3d6-012c-4e7d-9b3e-883b31b87388" providerId="ADAL" clId="{34B12DE9-183E-4328-A270-E36C9EC70685}" dt="2025-08-04T15:31:14.526" v="18" actId="47"/>
        <pc:sldMkLst>
          <pc:docMk/>
          <pc:sldMk cId="1564872402" sldId="264"/>
        </pc:sldMkLst>
      </pc:sldChg>
      <pc:sldChg chg="del">
        <pc:chgData name="Pickarski, Justine C." userId="f5ecb3d6-012c-4e7d-9b3e-883b31b87388" providerId="ADAL" clId="{34B12DE9-183E-4328-A270-E36C9EC70685}" dt="2025-08-04T15:31:14.526" v="18" actId="47"/>
        <pc:sldMkLst>
          <pc:docMk/>
          <pc:sldMk cId="2070535885" sldId="265"/>
        </pc:sldMkLst>
      </pc:sldChg>
      <pc:sldChg chg="del">
        <pc:chgData name="Pickarski, Justine C." userId="f5ecb3d6-012c-4e7d-9b3e-883b31b87388" providerId="ADAL" clId="{34B12DE9-183E-4328-A270-E36C9EC70685}" dt="2025-08-04T15:31:05.522" v="13" actId="47"/>
        <pc:sldMkLst>
          <pc:docMk/>
          <pc:sldMk cId="294236340" sldId="266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3484894560" sldId="267"/>
        </pc:sldMkLst>
      </pc:sldChg>
      <pc:sldChg chg="del">
        <pc:chgData name="Pickarski, Justine C." userId="f5ecb3d6-012c-4e7d-9b3e-883b31b87388" providerId="ADAL" clId="{34B12DE9-183E-4328-A270-E36C9EC70685}" dt="2025-08-04T15:31:06.199" v="15" actId="47"/>
        <pc:sldMkLst>
          <pc:docMk/>
          <pc:sldMk cId="1931729288" sldId="268"/>
        </pc:sldMkLst>
      </pc:sldChg>
      <pc:sldChg chg="del">
        <pc:chgData name="Pickarski, Justine C." userId="f5ecb3d6-012c-4e7d-9b3e-883b31b87388" providerId="ADAL" clId="{34B12DE9-183E-4328-A270-E36C9EC70685}" dt="2025-08-04T15:31:03.059" v="8" actId="47"/>
        <pc:sldMkLst>
          <pc:docMk/>
          <pc:sldMk cId="2207737651" sldId="269"/>
        </pc:sldMkLst>
      </pc:sldChg>
      <pc:sldChg chg="modSp mod">
        <pc:chgData name="Pickarski, Justine C." userId="f5ecb3d6-012c-4e7d-9b3e-883b31b87388" providerId="ADAL" clId="{34B12DE9-183E-4328-A270-E36C9EC70685}" dt="2025-08-04T15:31:00.302" v="5" actId="20577"/>
        <pc:sldMkLst>
          <pc:docMk/>
          <pc:sldMk cId="3954595602" sldId="275"/>
        </pc:sldMkLst>
        <pc:spChg chg="mod">
          <ac:chgData name="Pickarski, Justine C." userId="f5ecb3d6-012c-4e7d-9b3e-883b31b87388" providerId="ADAL" clId="{34B12DE9-183E-4328-A270-E36C9EC70685}" dt="2025-08-04T15:31:00.302" v="5" actId="20577"/>
          <ac:spMkLst>
            <pc:docMk/>
            <pc:sldMk cId="3954595602" sldId="275"/>
            <ac:spMk id="4" creationId="{1C7C40F0-7C80-EB55-AE26-893820C197BA}"/>
          </ac:spMkLst>
        </pc:spChg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2224502507" sldId="277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1058007156" sldId="278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2139741748" sldId="279"/>
        </pc:sldMkLst>
      </pc:sldChg>
      <pc:sldChg chg="del">
        <pc:chgData name="Pickarski, Justine C." userId="f5ecb3d6-012c-4e7d-9b3e-883b31b87388" providerId="ADAL" clId="{34B12DE9-183E-4328-A270-E36C9EC70685}" dt="2025-08-04T15:31:14.526" v="18" actId="47"/>
        <pc:sldMkLst>
          <pc:docMk/>
          <pc:sldMk cId="939221434" sldId="300"/>
        </pc:sldMkLst>
      </pc:sldChg>
      <pc:sldChg chg="del">
        <pc:chgData name="Pickarski, Justine C." userId="f5ecb3d6-012c-4e7d-9b3e-883b31b87388" providerId="ADAL" clId="{34B12DE9-183E-4328-A270-E36C9EC70685}" dt="2025-08-04T15:31:14.526" v="18" actId="47"/>
        <pc:sldMkLst>
          <pc:docMk/>
          <pc:sldMk cId="1040819033" sldId="318"/>
        </pc:sldMkLst>
      </pc:sldChg>
      <pc:sldChg chg="modSp mod">
        <pc:chgData name="Pickarski, Justine C." userId="f5ecb3d6-012c-4e7d-9b3e-883b31b87388" providerId="ADAL" clId="{34B12DE9-183E-4328-A270-E36C9EC70685}" dt="2025-08-04T15:30:53.656" v="1" actId="20577"/>
        <pc:sldMkLst>
          <pc:docMk/>
          <pc:sldMk cId="1562460790" sldId="319"/>
        </pc:sldMkLst>
        <pc:spChg chg="mod">
          <ac:chgData name="Pickarski, Justine C." userId="f5ecb3d6-012c-4e7d-9b3e-883b31b87388" providerId="ADAL" clId="{34B12DE9-183E-4328-A270-E36C9EC70685}" dt="2025-08-04T15:30:53.656" v="1" actId="20577"/>
          <ac:spMkLst>
            <pc:docMk/>
            <pc:sldMk cId="1562460790" sldId="319"/>
            <ac:spMk id="2" creationId="{00000000-0000-0000-0000-000000000000}"/>
          </ac:spMkLst>
        </pc:spChg>
      </pc:sldChg>
      <pc:sldChg chg="del">
        <pc:chgData name="Pickarski, Justine C." userId="f5ecb3d6-012c-4e7d-9b3e-883b31b87388" providerId="ADAL" clId="{34B12DE9-183E-4328-A270-E36C9EC70685}" dt="2025-08-04T15:31:02.665" v="6" actId="47"/>
        <pc:sldMkLst>
          <pc:docMk/>
          <pc:sldMk cId="3350981178" sldId="320"/>
        </pc:sldMkLst>
      </pc:sldChg>
      <pc:sldChg chg="del">
        <pc:chgData name="Pickarski, Justine C." userId="f5ecb3d6-012c-4e7d-9b3e-883b31b87388" providerId="ADAL" clId="{34B12DE9-183E-4328-A270-E36C9EC70685}" dt="2025-08-04T15:31:03.167" v="9" actId="47"/>
        <pc:sldMkLst>
          <pc:docMk/>
          <pc:sldMk cId="2955403937" sldId="321"/>
        </pc:sldMkLst>
      </pc:sldChg>
      <pc:sldChg chg="del">
        <pc:chgData name="Pickarski, Justine C." userId="f5ecb3d6-012c-4e7d-9b3e-883b31b87388" providerId="ADAL" clId="{34B12DE9-183E-4328-A270-E36C9EC70685}" dt="2025-08-04T15:31:05.032" v="12" actId="47"/>
        <pc:sldMkLst>
          <pc:docMk/>
          <pc:sldMk cId="3625958221" sldId="322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2900485213" sldId="323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1210623057" sldId="324"/>
        </pc:sldMkLst>
      </pc:sldChg>
      <pc:sldChg chg="del">
        <pc:chgData name="Pickarski, Justine C." userId="f5ecb3d6-012c-4e7d-9b3e-883b31b87388" providerId="ADAL" clId="{34B12DE9-183E-4328-A270-E36C9EC70685}" dt="2025-08-04T15:31:16.252" v="20" actId="47"/>
        <pc:sldMkLst>
          <pc:docMk/>
          <pc:sldMk cId="2272928662" sldId="325"/>
        </pc:sldMkLst>
      </pc:sldChg>
      <pc:sldChg chg="del">
        <pc:chgData name="Pickarski, Justine C." userId="f5ecb3d6-012c-4e7d-9b3e-883b31b87388" providerId="ADAL" clId="{34B12DE9-183E-4328-A270-E36C9EC70685}" dt="2025-08-04T15:31:04.051" v="11" actId="47"/>
        <pc:sldMkLst>
          <pc:docMk/>
          <pc:sldMk cId="1846283176" sldId="326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40800521" sldId="328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701987243" sldId="329"/>
        </pc:sldMkLst>
      </pc:sldChg>
      <pc:sldChg chg="del">
        <pc:chgData name="Pickarski, Justine C." userId="f5ecb3d6-012c-4e7d-9b3e-883b31b87388" providerId="ADAL" clId="{34B12DE9-183E-4328-A270-E36C9EC70685}" dt="2025-08-04T15:31:03.692" v="10" actId="47"/>
        <pc:sldMkLst>
          <pc:docMk/>
          <pc:sldMk cId="2683688459" sldId="330"/>
        </pc:sldMkLst>
      </pc:sldChg>
      <pc:sldChg chg="del">
        <pc:chgData name="Pickarski, Justine C." userId="f5ecb3d6-012c-4e7d-9b3e-883b31b87388" providerId="ADAL" clId="{34B12DE9-183E-4328-A270-E36C9EC70685}" dt="2025-08-04T15:31:05.855" v="14" actId="47"/>
        <pc:sldMkLst>
          <pc:docMk/>
          <pc:sldMk cId="3478486087" sldId="331"/>
        </pc:sldMkLst>
      </pc:sldChg>
      <pc:sldChg chg="del">
        <pc:chgData name="Pickarski, Justine C." userId="f5ecb3d6-012c-4e7d-9b3e-883b31b87388" providerId="ADAL" clId="{34B12DE9-183E-4328-A270-E36C9EC70685}" dt="2025-08-04T15:31:06.567" v="16" actId="47"/>
        <pc:sldMkLst>
          <pc:docMk/>
          <pc:sldMk cId="2513164568" sldId="332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746602051" sldId="333"/>
        </pc:sldMkLst>
      </pc:sldChg>
      <pc:sldChg chg="del">
        <pc:chgData name="Pickarski, Justine C." userId="f5ecb3d6-012c-4e7d-9b3e-883b31b87388" providerId="ADAL" clId="{34B12DE9-183E-4328-A270-E36C9EC70685}" dt="2025-08-04T15:31:10.725" v="17" actId="47"/>
        <pc:sldMkLst>
          <pc:docMk/>
          <pc:sldMk cId="1512620786" sldId="3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7669E-087B-4212-92A2-DBE657C0EF2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495FC-F78D-47DF-834A-606FC237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443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98F1-FADA-7C29-DAD1-C0207591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25991-E7AE-D747-BAB6-5CBD7FEC5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9A4EC-7F32-73CE-3E68-271A044C3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4/15/25 collected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Initial PD-L1 70%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Hx</a:t>
            </a:r>
            <a:r>
              <a:rPr lang="en-US" dirty="0"/>
              <a:t> of pulmonary fibrosis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KRAS: note that KRYSTAL-1 (</a:t>
            </a:r>
            <a:r>
              <a:rPr lang="en-US" dirty="0" err="1"/>
              <a:t>adagrasib</a:t>
            </a:r>
            <a:r>
              <a:rPr lang="en-US" dirty="0"/>
              <a:t>), there are only 3 (2.6%) pts with squamous etiology but approved for all NSCLC. CodeBreaK100 (</a:t>
            </a:r>
            <a:r>
              <a:rPr lang="en-US" dirty="0" err="1"/>
              <a:t>sotorasib</a:t>
            </a:r>
            <a:r>
              <a:rPr lang="en-US" dirty="0"/>
              <a:t>) only had 1 (0.8%) with squamous </a:t>
            </a:r>
            <a:r>
              <a:rPr lang="en-US" dirty="0" err="1"/>
              <a:t>etilogy</a:t>
            </a:r>
            <a:endParaRPr lang="en-US" dirty="0"/>
          </a:p>
          <a:p>
            <a:endParaRPr lang="en-US" dirty="0"/>
          </a:p>
          <a:p>
            <a:r>
              <a:rPr lang="en-US" dirty="0"/>
              <a:t>MET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NCT04270591 (Ph 1b/2): </a:t>
            </a:r>
            <a:r>
              <a:rPr lang="en-US" sz="1200" dirty="0" err="1"/>
              <a:t>glumetinib</a:t>
            </a:r>
            <a:r>
              <a:rPr lang="en-US" sz="1200" dirty="0"/>
              <a:t> (selective </a:t>
            </a:r>
            <a:r>
              <a:rPr lang="en-US" sz="1200" dirty="0" err="1"/>
              <a:t>METi</a:t>
            </a:r>
            <a:r>
              <a:rPr lang="en-US" sz="1200" dirty="0"/>
              <a:t>), NSCLC w/ Met alterations (Met amp GCN &gt;4, MET IHC 2+), closest in Louisville (preliminary, 4 MET overexpressed NSCL (1 PR, 3 SD)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NCT03175224 (Ph 1/2): APL-101 (</a:t>
            </a:r>
            <a:r>
              <a:rPr lang="en-US" sz="1200" dirty="0" err="1"/>
              <a:t>cMETi</a:t>
            </a:r>
            <a:r>
              <a:rPr lang="en-US" sz="1200" dirty="0"/>
              <a:t>), Cohort F (MET overexpression, unknown cutoff), closest in SCRI or Ohio State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NCT04693468 (Ph 1b): </a:t>
            </a:r>
            <a:r>
              <a:rPr lang="en-US" sz="1200" dirty="0" err="1"/>
              <a:t>Talazoparib</a:t>
            </a:r>
            <a:r>
              <a:rPr lang="en-US" sz="1200" dirty="0"/>
              <a:t> + </a:t>
            </a:r>
            <a:r>
              <a:rPr lang="en-US" sz="1200" dirty="0" err="1"/>
              <a:t>Crizotinib</a:t>
            </a:r>
            <a:r>
              <a:rPr lang="en-US" sz="1200" dirty="0"/>
              <a:t>, Arm C (MET defects, unknown cutoff), only MDACC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NCT06083857 (Ph 1/2): </a:t>
            </a:r>
            <a:r>
              <a:rPr lang="en-US" sz="1200" dirty="0" err="1"/>
              <a:t>amivantamab</a:t>
            </a:r>
            <a:r>
              <a:rPr lang="en-US" sz="1200" dirty="0"/>
              <a:t> + </a:t>
            </a:r>
            <a:r>
              <a:rPr lang="en-US" sz="1200" dirty="0" err="1"/>
              <a:t>tepotinib</a:t>
            </a:r>
            <a:r>
              <a:rPr lang="en-US" sz="1200" dirty="0"/>
              <a:t>, MET skipping, amp, overexpression IHC 3+, MDACC only</a:t>
            </a:r>
          </a:p>
          <a:p>
            <a:endParaRPr lang="en-US" dirty="0"/>
          </a:p>
          <a:p>
            <a:r>
              <a:rPr lang="en-US" dirty="0"/>
              <a:t>ARID2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NCT05687136 (Ph 1b): NCT05687136 (Ph 1b): </a:t>
            </a:r>
            <a:r>
              <a:rPr lang="en-US" sz="1200" dirty="0" err="1"/>
              <a:t>peposertib</a:t>
            </a:r>
            <a:r>
              <a:rPr lang="en-US" sz="1200" dirty="0"/>
              <a:t> (DNA-PK inhibitor) + </a:t>
            </a:r>
            <a:r>
              <a:rPr lang="en-US" sz="1200" dirty="0" err="1"/>
              <a:t>tuvusertib</a:t>
            </a:r>
            <a:r>
              <a:rPr lang="en-US" sz="1200" dirty="0"/>
              <a:t> (</a:t>
            </a:r>
            <a:r>
              <a:rPr lang="en-US" sz="1200" dirty="0" err="1"/>
              <a:t>ATRi</a:t>
            </a:r>
            <a:r>
              <a:rPr lang="en-US" sz="1200"/>
              <a:t>), ATM mutations, amplification of MYC, mutation of FBXW7, CCNE1 amplification, SWI/SNF member mutation (ARID1A, PBRM1, SMARCA4, ARID2, ARID1b, SMARCA2, SS18), and ATRX/DAXX, only at NCI or Boston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89109-ADE3-D0F4-C975-CBE2C5E70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06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D01-8390-4DF0-9793-F4688872F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7FBC0-C313-44AE-9A18-4953143D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F00E-03CF-498A-BB47-C66E2BAC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7B0-3ED4-4F98-916B-420B882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730E-4D53-4E55-91B8-D070321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8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451-FB46-47FF-8D5A-2B33D69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8EC3-74BF-44FF-ABED-987EDF62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2D66-E32F-48F5-9CC5-749F475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5503-FAD8-4F04-8CAC-42827050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3F69-328D-4D49-9879-344C10DA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0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D371-4097-4E41-ADF7-163C4EE4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1A97-7FC3-4657-844D-6B6948C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8F14-05B6-4A48-AF14-FCAF42F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BD68-2787-4D31-AA81-14FA15C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29D8-3E0E-4F81-AC1E-1627F07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7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7EE-F7D5-451C-B7AC-A5E7081C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247-D29B-455D-853C-ECD9D5396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7B2E-4CE5-4E59-BAB1-F8CA79CC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448F-2F68-4967-BC78-95A97FE5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98AF-BB52-4E69-B12B-74B5C31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8047B-7B96-4350-BBB9-B6DF1CBB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FC33-263B-4FE9-945E-5080442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6499-23FF-429B-A282-07C0F54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CBFC5-BC7E-401E-AF41-277061B6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E3FC8-7997-4875-97E7-42F75ADA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9ADE6-5497-4F57-88B0-EB6B3545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20C7-7BAE-4357-B66C-DBA6CC13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41C24-154D-4A3E-87CF-09C7E7AF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8F5F-CC2B-4370-A679-E5317F0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614-5BED-4433-B12B-8F640B3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4256-5589-4F24-8F1B-C9B7AE46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639EA-2E71-42D9-BD8A-1ACE2877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71B4A-C87B-4A0A-9857-DEA4DD3E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4BBAA-61D3-4F36-9194-A17BFB4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E1B18-E277-4CC0-8449-B00FE507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1665-6D11-4351-B9F7-E1ABCFAF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B048-42E0-4609-A4FD-F07C6926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5ECD-6267-4093-BD68-7590FC98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71CD-1F15-4FB6-BA67-27F4043F7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7D70-6FE2-4B90-80E1-5D2AC389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FD505-0993-4DC7-8E1F-38689305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DC09-1B2B-47E8-942C-2E3DB5BE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3329-6E09-4178-B29C-FC9C618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056A7-945F-4884-A359-6DE30888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57F9-A63B-4670-A011-CB28D700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936D-8001-46BA-BDC9-0E871D4C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F0CC-E6D6-4947-A98D-78755F18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53B80-4103-4856-B003-D1C0FE9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0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918-98B8-4A07-AFC4-6E6FC61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788-9794-458C-9B2A-2E9F8DDA2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9DA0A-A483-428E-BDE2-6823D3E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543-6D8B-4935-9EEA-191C90B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B9CA-9B64-4C88-A56A-571170B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8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60A0E-9ADB-4B61-B929-A4A229E9E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9F2AB-A477-4FE1-B75A-0C379D6D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AAB-E398-4D1B-B8C8-A443AF6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02EE-C65F-4FBE-B87A-F5DDE866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0732-844E-46C1-B867-F7EA4C7D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2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F231-040F-1DE7-CA3D-9306FF24F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F7AD6-7DEC-F451-22AC-B07AFE57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29ED-5B6C-8146-7A58-424A545A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EDB9-2FA8-4639-2A71-8C574CAB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2602-67C0-B459-DF5E-2B127703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2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A60-BD78-984C-8F07-31827B73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CC63-7FBF-CB21-22F2-CF02DA50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046B1-9411-A979-82B2-CC8034CC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3EAB-3186-5F00-519D-E8781ACC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7357-E18A-E83B-7E0D-6560019B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82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5140-0F5D-C64A-9F80-91AE4D23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E1D1-444F-5BAE-E2CB-57815FFE8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950D-ECCA-D58D-0FBA-CFEB5D8E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C012-F8E4-CE24-7363-03769A0A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055E0-3576-3623-5383-CD712612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20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EB64-B12D-8AA0-6A32-C2398DF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3E65-09E5-EF4B-BAA3-0F34372E2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571FD-6A31-7E4E-F043-DB246738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6349C-DEBA-1293-C176-8D1FDF3B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25F12-20C1-467E-3C8F-EA87CDA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3493-1D58-864F-E748-B1F6F579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38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6AEE-5505-7F6B-7F7C-437D601B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162CE-9A0E-193D-4DC5-79C2CD4F8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1B557-0F5F-9E92-A03E-A46DAEEE0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1EB63-7171-E1C4-1826-0E92AFA65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63459-FF13-2F7C-68BE-AB7239683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B1E1A-7B38-6AD7-7933-AAD5F4BB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29DBF-514D-054A-A374-1471A130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1B036-8833-B807-8F24-60357B09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73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7EB9-93D1-8C9B-D8F1-7C52D38C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149B4-AA63-1524-9809-4BFE98EA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E5D7F-AFB7-6F11-017E-5AA0066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87311-3796-9D77-5566-94F41987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39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8F565-BB98-EA99-46B3-401E6FA7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94C3B-C61E-E42D-8D19-C319A413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63EB-DC86-1B4D-F63E-AC25BDFB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70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842-3023-F8DB-4CCF-E29BB394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CFDE-AEAD-3C51-5F19-52D9FAAD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09067-52AD-81E0-CD79-81D5A9000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781AD-CC21-6C96-45F3-8AB36934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67B1F-4336-B71B-4443-661E4950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1F887-7DD7-0598-E50E-4F49C766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6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5FCC-095C-CC61-FC21-027EDE4E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B16EE-10BB-5CFD-0923-78A423804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0FB0-2E9E-5A4B-C902-5E30E139F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B07B8-315B-CA2B-8BBA-054FF842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E56C9-569D-E3BB-2218-55CE70D5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AEF89-73EF-0173-2BE5-B0D0AF7C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4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8F14-282F-615A-75E8-20A00947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2BDB5-F68E-26AF-9CB1-DAFF8825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E8B2-4493-A22E-D058-6F335B69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4EA5-7164-1EB9-EF24-B0EAA489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46F8B-82B9-B7B5-C1DA-82538F17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65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BAAE6-E2E7-C762-27C8-1AF603DB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F1576-E982-A868-6CF5-0F4FFBBDF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BBEA-BB88-4FBD-284A-1DA37337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40AC-5C53-78DE-B374-98CF727B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1E59-D8C0-E19A-4507-72D67F21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5ECF-7D16-4C24-815F-929C21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6D8A-F1B3-4CBA-999A-AA17F13E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9F2B-3C6C-4B92-BAA7-2C048DD99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94DA-0037-4DF6-8D75-1E9E530A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50B-9ACA-4499-B1D4-B4944A9C6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1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7A47B-8457-E9B7-7292-3DED2B3B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6C719-0857-BF6E-9D89-4C51C907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D991-699B-0749-5456-BD7B9EC8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B49B-B10E-FA78-1ABF-5B05BF591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B0599-9A1D-8556-8C45-D08B85AA8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8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4: GC Dr. Sekkath Veedu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/>
          </a:bodyPr>
          <a:lstStyle/>
          <a:p>
            <a:r>
              <a:rPr lang="en-US" sz="1900" dirty="0"/>
              <a:t> 74 year old male</a:t>
            </a:r>
          </a:p>
          <a:p>
            <a:r>
              <a:rPr lang="en-US" sz="2000" b="1" dirty="0"/>
              <a:t>Diagnosis: </a:t>
            </a:r>
            <a:r>
              <a:rPr lang="en-US" sz="1900" dirty="0"/>
              <a:t>Metastatic squamous cell carcinoma of the lung (Stage IVB; cM1b), initially diagnosed in 3/2023; with a T6 metastasis and progressive mediastinal lymphadenopathy </a:t>
            </a:r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Performance Status: 1</a:t>
            </a:r>
          </a:p>
          <a:p>
            <a:pPr lvl="1"/>
            <a:r>
              <a:rPr lang="en-US" sz="1800" dirty="0"/>
              <a:t>Hepatic Function: AST 29; ALT 19; ALP 335; T. Bili 0.3; Albumin 3.7; T Protein 7.2 </a:t>
            </a:r>
          </a:p>
          <a:p>
            <a:pPr lvl="1"/>
            <a:r>
              <a:rPr lang="en-US" sz="1800" dirty="0"/>
              <a:t>Renal Function: BUN 17; Cr. 0.45 </a:t>
            </a:r>
          </a:p>
          <a:p>
            <a:pPr lvl="1"/>
            <a:r>
              <a:rPr lang="en-US" sz="1800" dirty="0"/>
              <a:t>Family History: Lung cancer in mother and father, bone cancer in brother</a:t>
            </a:r>
          </a:p>
          <a:p>
            <a:pPr lvl="1"/>
            <a:r>
              <a:rPr lang="en-US" sz="1800" dirty="0"/>
              <a:t>Comorbidities: Pulmonary fibrosis, former smoker (35 pack year </a:t>
            </a:r>
            <a:r>
              <a:rPr lang="en-US" sz="1800" dirty="0" err="1"/>
              <a:t>hx</a:t>
            </a:r>
            <a:r>
              <a:rPr lang="en-US" sz="1800" dirty="0"/>
              <a:t>, quit 2020)</a:t>
            </a:r>
          </a:p>
          <a:p>
            <a:r>
              <a:rPr lang="en-US" sz="2000" b="1" dirty="0"/>
              <a:t>Oncology History:</a:t>
            </a:r>
          </a:p>
          <a:p>
            <a:pPr lvl="1"/>
            <a:r>
              <a:rPr lang="en-US" sz="1800" dirty="0"/>
              <a:t>2/2023 – 2/2025: Pembrolizumab </a:t>
            </a:r>
          </a:p>
          <a:p>
            <a:pPr lvl="1"/>
            <a:r>
              <a:rPr lang="en-US" sz="1800" dirty="0"/>
              <a:t>Current: Carboplatin / paclitaxel + RT (6000cGy in 30 fractions)</a:t>
            </a:r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Thoracic lymph node; Collected: 4/2025; Panel: Caris; Dated: 4/2025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46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48F4-F1A2-1E95-94DC-1BAF3C7F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0D4CB-61AB-CEEC-F336-9F7D8DABF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048" y="240320"/>
            <a:ext cx="7334643" cy="614785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5CA83E-AABE-E314-1426-04CA209281E5}"/>
              </a:ext>
            </a:extLst>
          </p:cNvPr>
          <p:cNvCxnSpPr/>
          <p:nvPr/>
        </p:nvCxnSpPr>
        <p:spPr>
          <a:xfrm>
            <a:off x="6986279" y="973606"/>
            <a:ext cx="249980" cy="2960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E32EC1-36FE-AD61-60C2-DAB693DBA0B2}"/>
              </a:ext>
            </a:extLst>
          </p:cNvPr>
          <p:cNvCxnSpPr>
            <a:cxnSpLocks/>
          </p:cNvCxnSpPr>
          <p:nvPr/>
        </p:nvCxnSpPr>
        <p:spPr>
          <a:xfrm flipH="1">
            <a:off x="7538882" y="1175657"/>
            <a:ext cx="253112" cy="2419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79C199-C417-99EA-9E70-6195E23FC21E}"/>
              </a:ext>
            </a:extLst>
          </p:cNvPr>
          <p:cNvSpPr txBox="1"/>
          <p:nvPr/>
        </p:nvSpPr>
        <p:spPr>
          <a:xfrm>
            <a:off x="306977" y="2005149"/>
            <a:ext cx="3167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Station 7 lymph node: Metastatic adenocarcinoma, compatible with a lung primary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0C3214-87FF-FFD9-960A-FD119CB66C22}"/>
              </a:ext>
            </a:extLst>
          </p:cNvPr>
          <p:cNvSpPr txBox="1"/>
          <p:nvPr/>
        </p:nvSpPr>
        <p:spPr>
          <a:xfrm>
            <a:off x="503305" y="3709852"/>
            <a:ext cx="3167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Intracytoplasmic mucin, indicative of glandular differentiation (arrows)</a:t>
            </a:r>
          </a:p>
        </p:txBody>
      </p:sp>
    </p:spTree>
    <p:extLst>
      <p:ext uri="{BB962C8B-B14F-4D97-AF65-F5344CB8AC3E}">
        <p14:creationId xmlns:p14="http://schemas.microsoft.com/office/powerpoint/2010/main" val="183687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4844-5C73-FD80-4EB8-AED28EBF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7C40F0-7C80-EB55-AE26-893820C1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6" y="119800"/>
            <a:ext cx="11686478" cy="1325563"/>
          </a:xfrm>
        </p:spPr>
        <p:txBody>
          <a:bodyPr>
            <a:normAutofit/>
          </a:bodyPr>
          <a:lstStyle/>
          <a:p>
            <a:r>
              <a:rPr lang="en-US" dirty="0"/>
              <a:t>Case 4</a:t>
            </a:r>
            <a:br>
              <a:rPr lang="en-US" dirty="0"/>
            </a:br>
            <a:r>
              <a:rPr lang="en-US" sz="2200" dirty="0"/>
              <a:t>Prior: </a:t>
            </a:r>
            <a:r>
              <a:rPr lang="en-US" sz="2200" dirty="0" err="1"/>
              <a:t>pembro</a:t>
            </a:r>
            <a:r>
              <a:rPr lang="en-US" sz="2200" dirty="0"/>
              <a:t> (2/2023 – 2/2025)                                                                                                               Caris                                                                                                                                     </a:t>
            </a:r>
            <a:br>
              <a:rPr lang="en-US" sz="2200" dirty="0"/>
            </a:br>
            <a:r>
              <a:rPr lang="en-US" sz="2200" dirty="0"/>
              <a:t>Current: carbo/paclitaxel + XRT(planned)                                                                            Dx: lung squamous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8709BF9-85B3-497C-403A-45B7FB395A42}"/>
              </a:ext>
            </a:extLst>
          </p:cNvPr>
          <p:cNvGraphicFramePr>
            <a:graphicFrameLocks/>
          </p:cNvGraphicFramePr>
          <p:nvPr/>
        </p:nvGraphicFramePr>
        <p:xfrm>
          <a:off x="234176" y="1429688"/>
          <a:ext cx="11686478" cy="468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38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1314824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1882588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2014668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345028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299546">
                  <a:extLst>
                    <a:ext uri="{9D8B030D-6E8A-4147-A177-3AD203B41FA5}">
                      <a16:colId xmlns:a16="http://schemas.microsoft.com/office/drawing/2014/main" val="3543759243"/>
                    </a:ext>
                  </a:extLst>
                </a:gridCol>
              </a:tblGrid>
              <a:tr h="374474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Receptor tyrosine kinase; PI3K/MEK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100%,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NCT04270591 (Ph 1b/2)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NCT03175224 (Ph 1/2)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NCT04693468 (Ph 1b)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NCT06083857 (Ph 1/2)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 err="1"/>
                        <a:t>Telisotuzumab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vedotin</a:t>
                      </a:r>
                      <a:r>
                        <a:rPr lang="en-US" sz="1400" dirty="0"/>
                        <a:t> (2L+)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2584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KRAS G12C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GTPase ; MAPK signaling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 err="1"/>
                        <a:t>Sotorasib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adagrasib</a:t>
                      </a:r>
                      <a:r>
                        <a:rPr lang="en-US" sz="1400" dirty="0"/>
                        <a:t> (2L+)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76734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ARID2 G1699*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Transcription regulation; DNA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NCT05687136 (Ph 1b)</a:t>
                      </a:r>
                    </a:p>
                    <a:p>
                      <a:pPr lvl="0">
                        <a:buNone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2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ASXL1 I617fs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Epigenetic regulator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347401"/>
                  </a:ext>
                </a:extLst>
              </a:tr>
              <a:tr h="2202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TP53 R273C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DNA repair and apoptosis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Likely,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48172"/>
                  </a:ext>
                </a:extLst>
              </a:tr>
              <a:tr h="2202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Loss of heterozygosity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11%, equivocal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029619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mutation/Mb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4, 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55973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hypermutability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162085"/>
                  </a:ext>
                </a:extLst>
              </a:tr>
              <a:tr h="3744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PD-L1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response to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TPS 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Immunotherapy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(PD)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27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5956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605</Words>
  <Application>Microsoft Office PowerPoint</Application>
  <PresentationFormat>Widescreen</PresentationFormat>
  <Paragraphs>117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1_Office Theme</vt:lpstr>
      <vt:lpstr>Office Theme</vt:lpstr>
      <vt:lpstr>Case 4: GC Dr. Sekkath Veedu</vt:lpstr>
      <vt:lpstr>Case 4</vt:lpstr>
      <vt:lpstr>Case 4 Prior: pembro (2/2023 – 2/2025)                                                                                                               Caris                                                                                                                                      Current: carbo/paclitaxel + XRT(planned)                                                                            Dx: lung squamous</vt:lpstr>
    </vt:vector>
  </TitlesOfParts>
  <Company>University of Kentucky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Abigail M.</dc:creator>
  <cp:lastModifiedBy>Pickarski, Justine C.</cp:lastModifiedBy>
  <cp:revision>186</cp:revision>
  <dcterms:created xsi:type="dcterms:W3CDTF">2025-01-17T22:09:34Z</dcterms:created>
  <dcterms:modified xsi:type="dcterms:W3CDTF">2025-08-04T15:31:22Z</dcterms:modified>
</cp:coreProperties>
</file>