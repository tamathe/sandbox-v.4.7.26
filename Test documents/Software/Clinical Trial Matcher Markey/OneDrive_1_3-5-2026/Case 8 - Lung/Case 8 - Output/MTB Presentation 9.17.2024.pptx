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6" r:id="rId2"/>
    <p:sldId id="257" r:id="rId3"/>
    <p:sldId id="270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761F-DF49-4CF6-8091-4D2A62654DA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BAF87-4562-4176-98DA-A4AAA2C37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8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BE1C4-B052-4DB7-9257-F533DCC408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37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hospice on 9/1 SCC Unknown primary</a:t>
            </a:r>
          </a:p>
          <a:p>
            <a:endParaRPr lang="en-US" dirty="0"/>
          </a:p>
          <a:p>
            <a:r>
              <a:rPr lang="en-US" dirty="0"/>
              <a:t>EGFR (Exon 18), G824A – in tyrosine kinase region but not usually reported</a:t>
            </a:r>
          </a:p>
          <a:p>
            <a:endParaRPr lang="en-US" dirty="0"/>
          </a:p>
          <a:p>
            <a:r>
              <a:rPr lang="en-US" dirty="0"/>
              <a:t>BRCA2 S662F, N570D (uncertain, </a:t>
            </a:r>
            <a:r>
              <a:rPr lang="en-US"/>
              <a:t>conflicting around the region) - both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CEC7ED-A473-4D8E-9BC7-B22B3BEAF3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0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ED01-8390-4DF0-9793-F4688872F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7FBC0-C313-44AE-9A18-4953143D1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DF00E-03CF-498A-BB47-C66E2BAC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F37B0-3ED4-4F98-916B-420B8826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730E-4D53-4E55-91B8-D070321E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3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5451-FB46-47FF-8D5A-2B33D697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8EC3-74BF-44FF-ABED-987EDF62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2D66-E32F-48F5-9CC5-749F475D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C5503-FAD8-4F04-8CAC-42827050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F3F69-328D-4D49-9879-344C10DA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1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D371-4097-4E41-ADF7-163C4EE4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41A97-7FC3-4657-844D-6B6948C66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E8F14-05B6-4A48-AF14-FCAF42F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ABD68-2787-4D31-AA81-14FA15C9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29D8-3E0E-4F81-AC1E-1627F07D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9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57EE-F7D5-451C-B7AC-A5E7081C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2247-D29B-455D-853C-ECD9D5396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67B2E-4CE5-4E59-BAB1-F8CA79CC2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448F-2F68-4967-BC78-95A97FE5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98AF-BB52-4E69-B12B-74B5C318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8047B-7B96-4350-BBB9-B6DF1CBB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FC33-263B-4FE9-945E-50804421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D6499-23FF-429B-A282-07C0F549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CBFC5-BC7E-401E-AF41-277061B6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E3FC8-7997-4875-97E7-42F75ADA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9ADE6-5497-4F57-88B0-EB6B35457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920C7-7BAE-4357-B66C-DBA6CC13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41C24-154D-4A3E-87CF-09C7E7AF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48F5F-CC2B-4370-A679-E5317F0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2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3614-5BED-4433-B12B-8F640B3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54256-5589-4F24-8F1B-C9B7AE46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639EA-2E71-42D9-BD8A-1ACE2877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71B4A-C87B-4A0A-9857-DEA4DD3E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3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4BBAA-61D3-4F36-9194-A17BFB4A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E1B18-E277-4CC0-8449-B00FE507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31665-6D11-4351-B9F7-E1ABCFAF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2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B048-42E0-4609-A4FD-F07C6926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5ECD-6267-4093-BD68-7590FC98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871CD-1F15-4FB6-BA67-27F4043F7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77D70-6FE2-4B90-80E1-5D2AC389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FD505-0993-4DC7-8E1F-38689305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FDC09-1B2B-47E8-942C-2E3DB5BE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2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3329-6E09-4178-B29C-FC9C6187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056A7-945F-4884-A359-6DE30888E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857F9-A63B-4670-A011-CB28D7009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936D-8001-46BA-BDC9-0E871D4C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F0CC-E6D6-4947-A98D-78755F18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53B80-4103-4856-B003-D1C0FE93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1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B918-98B8-4A07-AFC4-6E6FC614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2788-9794-458C-9B2A-2E9F8DDA2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9DA0A-A483-428E-BDE2-6823D3E0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F543-6D8B-4935-9EEA-191C90B9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B9CA-9B64-4C88-A56A-571170B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8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60A0E-9ADB-4B61-B929-A4A229E9E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9F2AB-A477-4FE1-B75A-0C379D6D2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AAB-E398-4D1B-B8C8-A443AF64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02EE-C65F-4FBE-B87A-F5DDE866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0732-844E-46C1-B867-F7EA4C7D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7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F5ECF-7D16-4C24-815F-929C214A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6D8A-F1B3-4CBA-999A-AA17F13E1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9F2B-3C6C-4B92-BAA7-2C048DD99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94DA-0037-4DF6-8D75-1E9E530AB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D50B-9ACA-4499-B1D4-B4944A9C6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9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"/>
            <a:ext cx="8229600" cy="8839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Case 1: WC Dr. </a:t>
            </a:r>
            <a:r>
              <a:rPr lang="en-US" dirty="0" err="1"/>
              <a:t>Maskey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760682"/>
            <a:ext cx="11439525" cy="6035675"/>
          </a:xfrm>
        </p:spPr>
        <p:txBody>
          <a:bodyPr>
            <a:normAutofit/>
          </a:bodyPr>
          <a:lstStyle/>
          <a:p>
            <a:r>
              <a:rPr lang="en-US" sz="1900" dirty="0"/>
              <a:t>79 year old male</a:t>
            </a:r>
          </a:p>
          <a:p>
            <a:r>
              <a:rPr lang="en-US" sz="2000" b="1" dirty="0"/>
              <a:t>Diagnosis: </a:t>
            </a:r>
            <a:r>
              <a:rPr lang="en-US" sz="2000" dirty="0"/>
              <a:t>Squamous cell carcinoma of the upper lobe of the lung dx 7/2024 </a:t>
            </a:r>
            <a:endParaRPr lang="en-US" sz="2000" b="1" dirty="0"/>
          </a:p>
          <a:p>
            <a:r>
              <a:rPr lang="en-US" sz="2000" b="1" dirty="0"/>
              <a:t>Other Clinical Information:</a:t>
            </a:r>
          </a:p>
          <a:p>
            <a:pPr lvl="1"/>
            <a:r>
              <a:rPr lang="en-US" sz="1800" dirty="0"/>
              <a:t>ECOG: Baseline ECOG 1/2 since COVID19 infection in 2023, uses rolling walker since then; requires wheelchair as of 9/2024 discharge</a:t>
            </a:r>
          </a:p>
          <a:p>
            <a:pPr lvl="1"/>
            <a:r>
              <a:rPr lang="en-US" sz="1800" dirty="0"/>
              <a:t>Hepatic Function: AST 29; ALT 25; ALP 140; T. Bili 0.6; T. Protein 5.5 </a:t>
            </a:r>
          </a:p>
          <a:p>
            <a:pPr lvl="1"/>
            <a:r>
              <a:rPr lang="en-US" sz="1800" dirty="0"/>
              <a:t>Renal Function: BUN 18; Cr. 1.05 </a:t>
            </a:r>
          </a:p>
          <a:p>
            <a:pPr lvl="1"/>
            <a:r>
              <a:rPr lang="en-US" sz="1800" dirty="0"/>
              <a:t>Family History: Unspecified cancer in mother and father, sister w/ breast cancer</a:t>
            </a:r>
          </a:p>
          <a:p>
            <a:pPr lvl="1"/>
            <a:r>
              <a:rPr lang="en-US" sz="1800" dirty="0"/>
              <a:t>Comorbidities: Recent hospitalization found to have acute stroke on </a:t>
            </a:r>
            <a:r>
              <a:rPr lang="en-US" sz="1800"/>
              <a:t>MRI head, </a:t>
            </a:r>
            <a:r>
              <a:rPr lang="en-US" sz="1800" dirty="0"/>
              <a:t>R-kidney biopsy proven oncocytoma, AFIB, HLD, HTN, DM2, former smoker (quit 25 </a:t>
            </a:r>
            <a:r>
              <a:rPr lang="en-US" sz="1800" dirty="0" err="1"/>
              <a:t>yrs</a:t>
            </a:r>
            <a:r>
              <a:rPr lang="en-US" sz="1800" dirty="0"/>
              <a:t> ago)</a:t>
            </a:r>
          </a:p>
          <a:p>
            <a:r>
              <a:rPr lang="en-US" sz="2000" b="1" dirty="0"/>
              <a:t>Current Therapy: </a:t>
            </a:r>
          </a:p>
          <a:p>
            <a:pPr lvl="1"/>
            <a:r>
              <a:rPr lang="en-US" sz="1800" dirty="0"/>
              <a:t>8/2024: Planned for 600cGy in 15 fractions to the right lung using IMRT technique; </a:t>
            </a:r>
            <a:r>
              <a:rPr lang="en-US" sz="1800" dirty="0" err="1"/>
              <a:t>pt</a:t>
            </a:r>
            <a:r>
              <a:rPr lang="en-US" sz="1800" dirty="0"/>
              <a:t> received 800cGy in 2 fractions and transferred to hospice </a:t>
            </a:r>
          </a:p>
          <a:p>
            <a:r>
              <a:rPr lang="en-US" sz="2000" b="1" dirty="0"/>
              <a:t>Molecular Testing:</a:t>
            </a:r>
          </a:p>
          <a:p>
            <a:pPr lvl="1"/>
            <a:r>
              <a:rPr lang="en-US" sz="1800" dirty="0"/>
              <a:t>Specimen Site: Upper lobe, lung; Collected: July, 2024; Panel: </a:t>
            </a:r>
            <a:r>
              <a:rPr lang="en-US" sz="1800" dirty="0" err="1"/>
              <a:t>Caris</a:t>
            </a:r>
            <a:r>
              <a:rPr lang="en-US" sz="1800" dirty="0"/>
              <a:t>; Dated: August, 2024 </a:t>
            </a:r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15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DDF5-7E6B-BFC3-F441-44721A8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</a:t>
            </a:r>
          </a:p>
        </p:txBody>
      </p:sp>
      <p:pic>
        <p:nvPicPr>
          <p:cNvPr id="7" name="Content Placeholder 6" descr="A microscope view of a purple and white cell&#10;&#10;Description automatically generated">
            <a:extLst>
              <a:ext uri="{FF2B5EF4-FFF2-40B4-BE49-F238E27FC236}">
                <a16:creationId xmlns:a16="http://schemas.microsoft.com/office/drawing/2014/main" id="{4E53C0D2-D78B-015E-F120-F9D71A0030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1424"/>
            <a:ext cx="5181600" cy="4064000"/>
          </a:xfrm>
        </p:spPr>
      </p:pic>
      <p:pic>
        <p:nvPicPr>
          <p:cNvPr id="9" name="Content Placeholder 8" descr="A close-up of a microscope&#10;&#10;Description automatically generated">
            <a:extLst>
              <a:ext uri="{FF2B5EF4-FFF2-40B4-BE49-F238E27FC236}">
                <a16:creationId xmlns:a16="http://schemas.microsoft.com/office/drawing/2014/main" id="{C3E163D2-657A-62BA-BA40-6D35AAFC19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21424"/>
            <a:ext cx="5181600" cy="4064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559FB8-65AE-0C31-5B16-0EC7B1CC96EF}"/>
              </a:ext>
            </a:extLst>
          </p:cNvPr>
          <p:cNvSpPr txBox="1"/>
          <p:nvPr/>
        </p:nvSpPr>
        <p:spPr>
          <a:xfrm>
            <a:off x="662473" y="5859624"/>
            <a:ext cx="112153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Lung, RUL, collected 7/2024: squamous cell carcinoma (original path report called it “non-small cell carcinoma” because of some focal GATA3 staining and CK7 staining, which could both still be consistent with </a:t>
            </a:r>
            <a:r>
              <a:rPr lang="en-US" dirty="0" err="1"/>
              <a:t>SqCC</a:t>
            </a:r>
            <a:r>
              <a:rPr lang="en-US" dirty="0"/>
              <a:t>. Overall, the morphology, IHC profile, and molecular profile is consistent with a squamous cell carcinoma.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E53D71-88F1-02F6-030E-6E996DF16AFE}"/>
              </a:ext>
            </a:extLst>
          </p:cNvPr>
          <p:cNvSpPr txBox="1"/>
          <p:nvPr/>
        </p:nvSpPr>
        <p:spPr>
          <a:xfrm>
            <a:off x="6279502" y="5225143"/>
            <a:ext cx="89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p40</a:t>
            </a:r>
          </a:p>
        </p:txBody>
      </p:sp>
    </p:spTree>
    <p:extLst>
      <p:ext uri="{BB962C8B-B14F-4D97-AF65-F5344CB8AC3E}">
        <p14:creationId xmlns:p14="http://schemas.microsoft.com/office/powerpoint/2010/main" val="88768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80D298-E04F-48C7-9AB4-4C7F0AC2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6" y="119800"/>
            <a:ext cx="11686478" cy="1325563"/>
          </a:xfrm>
        </p:spPr>
        <p:txBody>
          <a:bodyPr>
            <a:normAutofit/>
          </a:bodyPr>
          <a:lstStyle/>
          <a:p>
            <a:r>
              <a:rPr lang="en-US" dirty="0"/>
              <a:t>Case 1</a:t>
            </a:r>
            <a:br>
              <a:rPr lang="en-US" dirty="0"/>
            </a:br>
            <a:r>
              <a:rPr lang="en-US" sz="2200" dirty="0"/>
              <a:t>Prior: none                                                                                                                                                        Caris</a:t>
            </a:r>
            <a:br>
              <a:rPr lang="en-US" sz="2200" dirty="0"/>
            </a:br>
            <a:r>
              <a:rPr lang="en-US" sz="2200" dirty="0"/>
              <a:t>Current: none                                                                                                         Dx: squamous cell carcinoma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492CB34-AD76-4E22-984E-6A07A47F097B}"/>
              </a:ext>
            </a:extLst>
          </p:cNvPr>
          <p:cNvGraphicFramePr>
            <a:graphicFrameLocks/>
          </p:cNvGraphicFramePr>
          <p:nvPr/>
        </p:nvGraphicFramePr>
        <p:xfrm>
          <a:off x="234176" y="1580300"/>
          <a:ext cx="11686478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779">
                  <a:extLst>
                    <a:ext uri="{9D8B030D-6E8A-4147-A177-3AD203B41FA5}">
                      <a16:colId xmlns:a16="http://schemas.microsoft.com/office/drawing/2014/main" val="18278842"/>
                    </a:ext>
                  </a:extLst>
                </a:gridCol>
                <a:gridCol w="2458151">
                  <a:extLst>
                    <a:ext uri="{9D8B030D-6E8A-4147-A177-3AD203B41FA5}">
                      <a16:colId xmlns:a16="http://schemas.microsoft.com/office/drawing/2014/main" val="800993633"/>
                    </a:ext>
                  </a:extLst>
                </a:gridCol>
                <a:gridCol w="1167788">
                  <a:extLst>
                    <a:ext uri="{9D8B030D-6E8A-4147-A177-3AD203B41FA5}">
                      <a16:colId xmlns:a16="http://schemas.microsoft.com/office/drawing/2014/main" val="907277223"/>
                    </a:ext>
                  </a:extLst>
                </a:gridCol>
                <a:gridCol w="2688116">
                  <a:extLst>
                    <a:ext uri="{9D8B030D-6E8A-4147-A177-3AD203B41FA5}">
                      <a16:colId xmlns:a16="http://schemas.microsoft.com/office/drawing/2014/main" val="341268983"/>
                    </a:ext>
                  </a:extLst>
                </a:gridCol>
                <a:gridCol w="1388125">
                  <a:extLst>
                    <a:ext uri="{9D8B030D-6E8A-4147-A177-3AD203B41FA5}">
                      <a16:colId xmlns:a16="http://schemas.microsoft.com/office/drawing/2014/main" val="89431549"/>
                    </a:ext>
                  </a:extLst>
                </a:gridCol>
                <a:gridCol w="1388973">
                  <a:extLst>
                    <a:ext uri="{9D8B030D-6E8A-4147-A177-3AD203B41FA5}">
                      <a16:colId xmlns:a16="http://schemas.microsoft.com/office/drawing/2014/main" val="1435740330"/>
                    </a:ext>
                  </a:extLst>
                </a:gridCol>
                <a:gridCol w="1299546">
                  <a:extLst>
                    <a:ext uri="{9D8B030D-6E8A-4147-A177-3AD203B41FA5}">
                      <a16:colId xmlns:a16="http://schemas.microsoft.com/office/drawing/2014/main" val="3543759243"/>
                    </a:ext>
                  </a:extLst>
                </a:gridCol>
              </a:tblGrid>
              <a:tr h="271899">
                <a:tc>
                  <a:txBody>
                    <a:bodyPr/>
                    <a:lstStyle/>
                    <a:p>
                      <a:r>
                        <a:rPr lang="en-US" sz="1400" dirty="0"/>
                        <a:t>Alteration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Oncogenic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Off-label (Evidence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Allele frequency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849634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EGFR G719A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Receptor tyrosine kinase; PI3K, MAPK/Ras 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Yes,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dirty="0"/>
                        <a:t>Afatinib, Osimertinib (preferred)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Erlotinib, gefitinib, dacomitinib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76734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PTEN Q110*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Lipid and protein phosphatase; PI3K/Akt signaling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Yes,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RBM10 E47*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Tumor suppressor; regulate mRNA alternative splicing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347401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TERT c-124C&gt;T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Maintain telomere length; genomic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Yes, gain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87173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TP53 S241T, S241F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DNA repair and apoptosis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12, 24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31877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Loss of heterozygosity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14%, 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029619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mutation/Mb 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25, high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Pembrolizumab (2L+)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55973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MSI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hypermutability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Stable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162085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PD-L1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response to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TPS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Immunotherapy (NSCLC)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27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25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548DE6-4FA3-A7EE-9CAE-AF4DEAC3AB2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8732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172944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517434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228309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18826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Lung SCC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Urothelial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Breast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15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EGFR mutations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85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66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RBM10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278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TERT mutations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717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506129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252FE7C-3E14-1F5E-996C-4157326E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6" y="119800"/>
            <a:ext cx="11686478" cy="1325563"/>
          </a:xfrm>
        </p:spPr>
        <p:txBody>
          <a:bodyPr>
            <a:normAutofit/>
          </a:bodyPr>
          <a:lstStyle/>
          <a:p>
            <a:r>
              <a:rPr lang="en-US" dirty="0"/>
              <a:t>Case 1</a:t>
            </a:r>
            <a:br>
              <a:rPr lang="en-US" dirty="0"/>
            </a:br>
            <a:r>
              <a:rPr lang="en-US" sz="2200" dirty="0"/>
              <a:t>Prior: none                                                                                                                                                        Caris</a:t>
            </a:r>
            <a:br>
              <a:rPr lang="en-US" sz="2200" dirty="0"/>
            </a:br>
            <a:r>
              <a:rPr lang="en-US" sz="2200" dirty="0"/>
              <a:t>Current: none                                                                                                         Dx: squamous cell carcinoma</a:t>
            </a:r>
          </a:p>
        </p:txBody>
      </p:sp>
    </p:spTree>
    <p:extLst>
      <p:ext uri="{BB962C8B-B14F-4D97-AF65-F5344CB8AC3E}">
        <p14:creationId xmlns:p14="http://schemas.microsoft.com/office/powerpoint/2010/main" val="376067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520</Words>
  <Application>Microsoft Office PowerPoint</Application>
  <PresentationFormat>Widescreen</PresentationFormat>
  <Paragraphs>127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Case 1: WC Dr. Maskey</vt:lpstr>
      <vt:lpstr>Case 1</vt:lpstr>
      <vt:lpstr>Case 1 Prior: none                                                                                                                                                        Caris Current: none                                                                                                         Dx: squamous cell carcinoma</vt:lpstr>
      <vt:lpstr>Case 1 Prior: none                                                                                                                                                        Caris Current: none                                                                                                         Dx: squamous cell carcinoma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 Abigail M.</dc:creator>
  <cp:lastModifiedBy>Pickarski, Justine C.</cp:lastModifiedBy>
  <cp:revision>74</cp:revision>
  <dcterms:created xsi:type="dcterms:W3CDTF">2024-08-22T13:59:51Z</dcterms:created>
  <dcterms:modified xsi:type="dcterms:W3CDTF">2025-08-04T15:50:40Z</dcterms:modified>
</cp:coreProperties>
</file>