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7"/>
  </p:notesMasterIdLst>
  <p:sldIdLst>
    <p:sldId id="318" r:id="rId3"/>
    <p:sldId id="257" r:id="rId4"/>
    <p:sldId id="258" r:id="rId5"/>
    <p:sldId id="2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1" autoAdjust="0"/>
    <p:restoredTop sz="82695" autoAdjust="0"/>
  </p:normalViewPr>
  <p:slideViewPr>
    <p:cSldViewPr snapToGrid="0">
      <p:cViewPr varScale="1">
        <p:scale>
          <a:sx n="81" d="100"/>
          <a:sy n="81" d="100"/>
        </p:scale>
        <p:origin x="3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ckarski, Justine C." userId="f5ecb3d6-012c-4e7d-9b3e-883b31b87388" providerId="ADAL" clId="{205DD3E1-7E91-462F-A95F-1819FF7255B5}"/>
    <pc:docChg chg="delSld">
      <pc:chgData name="Pickarski, Justine C." userId="f5ecb3d6-012c-4e7d-9b3e-883b31b87388" providerId="ADAL" clId="{205DD3E1-7E91-462F-A95F-1819FF7255B5}" dt="2025-08-04T15:43:20.345" v="6" actId="47"/>
      <pc:docMkLst>
        <pc:docMk/>
      </pc:docMkLst>
      <pc:sldChg chg="del">
        <pc:chgData name="Pickarski, Justine C." userId="f5ecb3d6-012c-4e7d-9b3e-883b31b87388" providerId="ADAL" clId="{205DD3E1-7E91-462F-A95F-1819FF7255B5}" dt="2025-08-04T15:43:17.059" v="5" actId="47"/>
        <pc:sldMkLst>
          <pc:docMk/>
          <pc:sldMk cId="4061167314" sldId="259"/>
        </pc:sldMkLst>
      </pc:sldChg>
      <pc:sldChg chg="del">
        <pc:chgData name="Pickarski, Justine C." userId="f5ecb3d6-012c-4e7d-9b3e-883b31b87388" providerId="ADAL" clId="{205DD3E1-7E91-462F-A95F-1819FF7255B5}" dt="2025-08-04T15:43:20.345" v="6" actId="47"/>
        <pc:sldMkLst>
          <pc:docMk/>
          <pc:sldMk cId="2417273490" sldId="260"/>
        </pc:sldMkLst>
      </pc:sldChg>
      <pc:sldChg chg="del">
        <pc:chgData name="Pickarski, Justine C." userId="f5ecb3d6-012c-4e7d-9b3e-883b31b87388" providerId="ADAL" clId="{205DD3E1-7E91-462F-A95F-1819FF7255B5}" dt="2025-08-04T15:43:13.118" v="1" actId="47"/>
        <pc:sldMkLst>
          <pc:docMk/>
          <pc:sldMk cId="801631586" sldId="263"/>
        </pc:sldMkLst>
      </pc:sldChg>
      <pc:sldChg chg="del">
        <pc:chgData name="Pickarski, Justine C." userId="f5ecb3d6-012c-4e7d-9b3e-883b31b87388" providerId="ADAL" clId="{205DD3E1-7E91-462F-A95F-1819FF7255B5}" dt="2025-08-04T15:43:13.562" v="2" actId="47"/>
        <pc:sldMkLst>
          <pc:docMk/>
          <pc:sldMk cId="1564872402" sldId="264"/>
        </pc:sldMkLst>
      </pc:sldChg>
      <pc:sldChg chg="del">
        <pc:chgData name="Pickarski, Justine C." userId="f5ecb3d6-012c-4e7d-9b3e-883b31b87388" providerId="ADAL" clId="{205DD3E1-7E91-462F-A95F-1819FF7255B5}" dt="2025-08-04T15:43:12.664" v="0" actId="47"/>
        <pc:sldMkLst>
          <pc:docMk/>
          <pc:sldMk cId="2070535885" sldId="265"/>
        </pc:sldMkLst>
      </pc:sldChg>
      <pc:sldChg chg="del">
        <pc:chgData name="Pickarski, Justine C." userId="f5ecb3d6-012c-4e7d-9b3e-883b31b87388" providerId="ADAL" clId="{205DD3E1-7E91-462F-A95F-1819FF7255B5}" dt="2025-08-04T15:43:20.345" v="6" actId="47"/>
        <pc:sldMkLst>
          <pc:docMk/>
          <pc:sldMk cId="3484894560" sldId="267"/>
        </pc:sldMkLst>
      </pc:sldChg>
      <pc:sldChg chg="del">
        <pc:chgData name="Pickarski, Justine C." userId="f5ecb3d6-012c-4e7d-9b3e-883b31b87388" providerId="ADAL" clId="{205DD3E1-7E91-462F-A95F-1819FF7255B5}" dt="2025-08-04T15:43:20.345" v="6" actId="47"/>
        <pc:sldMkLst>
          <pc:docMk/>
          <pc:sldMk cId="2207737651" sldId="269"/>
        </pc:sldMkLst>
      </pc:sldChg>
      <pc:sldChg chg="del">
        <pc:chgData name="Pickarski, Justine C." userId="f5ecb3d6-012c-4e7d-9b3e-883b31b87388" providerId="ADAL" clId="{205DD3E1-7E91-462F-A95F-1819FF7255B5}" dt="2025-08-04T15:43:20.345" v="6" actId="47"/>
        <pc:sldMkLst>
          <pc:docMk/>
          <pc:sldMk cId="1846283176" sldId="275"/>
        </pc:sldMkLst>
      </pc:sldChg>
      <pc:sldChg chg="del">
        <pc:chgData name="Pickarski, Justine C." userId="f5ecb3d6-012c-4e7d-9b3e-883b31b87388" providerId="ADAL" clId="{205DD3E1-7E91-462F-A95F-1819FF7255B5}" dt="2025-08-04T15:43:20.345" v="6" actId="47"/>
        <pc:sldMkLst>
          <pc:docMk/>
          <pc:sldMk cId="2224502507" sldId="277"/>
        </pc:sldMkLst>
      </pc:sldChg>
      <pc:sldChg chg="del">
        <pc:chgData name="Pickarski, Justine C." userId="f5ecb3d6-012c-4e7d-9b3e-883b31b87388" providerId="ADAL" clId="{205DD3E1-7E91-462F-A95F-1819FF7255B5}" dt="2025-08-04T15:43:13.996" v="3" actId="47"/>
        <pc:sldMkLst>
          <pc:docMk/>
          <pc:sldMk cId="939221434" sldId="300"/>
        </pc:sldMkLst>
      </pc:sldChg>
      <pc:sldChg chg="del">
        <pc:chgData name="Pickarski, Justine C." userId="f5ecb3d6-012c-4e7d-9b3e-883b31b87388" providerId="ADAL" clId="{205DD3E1-7E91-462F-A95F-1819FF7255B5}" dt="2025-08-04T15:43:16.721" v="4" actId="47"/>
        <pc:sldMkLst>
          <pc:docMk/>
          <pc:sldMk cId="3237086731" sldId="319"/>
        </pc:sldMkLst>
      </pc:sldChg>
      <pc:sldChg chg="del">
        <pc:chgData name="Pickarski, Justine C." userId="f5ecb3d6-012c-4e7d-9b3e-883b31b87388" providerId="ADAL" clId="{205DD3E1-7E91-462F-A95F-1819FF7255B5}" dt="2025-08-04T15:43:20.345" v="6" actId="47"/>
        <pc:sldMkLst>
          <pc:docMk/>
          <pc:sldMk cId="2258716371" sldId="320"/>
        </pc:sldMkLst>
      </pc:sldChg>
      <pc:sldChg chg="del">
        <pc:chgData name="Pickarski, Justine C." userId="f5ecb3d6-012c-4e7d-9b3e-883b31b87388" providerId="ADAL" clId="{205DD3E1-7E91-462F-A95F-1819FF7255B5}" dt="2025-08-04T15:43:20.345" v="6" actId="47"/>
        <pc:sldMkLst>
          <pc:docMk/>
          <pc:sldMk cId="1171533635" sldId="321"/>
        </pc:sldMkLst>
      </pc:sldChg>
      <pc:sldChg chg="del">
        <pc:chgData name="Pickarski, Justine C." userId="f5ecb3d6-012c-4e7d-9b3e-883b31b87388" providerId="ADAL" clId="{205DD3E1-7E91-462F-A95F-1819FF7255B5}" dt="2025-08-04T15:43:20.345" v="6" actId="47"/>
        <pc:sldMkLst>
          <pc:docMk/>
          <pc:sldMk cId="800342435" sldId="322"/>
        </pc:sldMkLst>
      </pc:sldChg>
      <pc:sldChg chg="del">
        <pc:chgData name="Pickarski, Justine C." userId="f5ecb3d6-012c-4e7d-9b3e-883b31b87388" providerId="ADAL" clId="{205DD3E1-7E91-462F-A95F-1819FF7255B5}" dt="2025-08-04T15:43:20.345" v="6" actId="47"/>
        <pc:sldMkLst>
          <pc:docMk/>
          <pc:sldMk cId="190005264" sldId="323"/>
        </pc:sldMkLst>
      </pc:sldChg>
      <pc:sldChg chg="del">
        <pc:chgData name="Pickarski, Justine C." userId="f5ecb3d6-012c-4e7d-9b3e-883b31b87388" providerId="ADAL" clId="{205DD3E1-7E91-462F-A95F-1819FF7255B5}" dt="2025-08-04T15:43:20.345" v="6" actId="47"/>
        <pc:sldMkLst>
          <pc:docMk/>
          <pc:sldMk cId="3954595602" sldId="3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7669E-087B-4212-92A2-DBE657C0EF2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495FC-F78D-47DF-834A-606FC237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BE1C4-B052-4DB7-9257-F533DCC408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232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487A1-184C-7D55-9B7B-D8180FFC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056AF-4ED9-396B-4179-1D64E6373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78448-FA06-9DDD-D6CD-2B4D8A3E8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2AC5A-201D-69ED-D88E-8C885A114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CEC7ED-A473-4D8E-9BC7-B22B3BEAF3C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580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ED01-8390-4DF0-9793-F4688872F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7FBC0-C313-44AE-9A18-4953143D1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DF00E-03CF-498A-BB47-C66E2BAC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F37B0-3ED4-4F98-916B-420B8826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D730E-4D53-4E55-91B8-D070321E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8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5451-FB46-47FF-8D5A-2B33D697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68EC3-74BF-44FF-ABED-987EDF62A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12D66-E32F-48F5-9CC5-749F475D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C5503-FAD8-4F04-8CAC-42827050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F3F69-328D-4D49-9879-344C10DAA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0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D371-4097-4E41-ADF7-163C4EE4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41A97-7FC3-4657-844D-6B6948C66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E8F14-05B6-4A48-AF14-FCAF42F8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ABD68-2787-4D31-AA81-14FA15C9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29D8-3E0E-4F81-AC1E-1627F07D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70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57EE-F7D5-451C-B7AC-A5E7081C4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32247-D29B-455D-853C-ECD9D5396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67B2E-4CE5-4E59-BAB1-F8CA79CC2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F448F-2F68-4967-BC78-95A97FE5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B98AF-BB52-4E69-B12B-74B5C318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8047B-7B96-4350-BBB9-B6DF1CBB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18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FC33-263B-4FE9-945E-50804421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D6499-23FF-429B-A282-07C0F549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CBFC5-BC7E-401E-AF41-277061B6F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E3FC8-7997-4875-97E7-42F75ADA6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9ADE6-5497-4F57-88B0-EB6B35457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920C7-7BAE-4357-B66C-DBA6CC13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41C24-154D-4A3E-87CF-09C7E7AF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648F5F-CC2B-4370-A679-E5317F06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6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3614-5BED-4433-B12B-8F640B32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54256-5589-4F24-8F1B-C9B7AE466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639EA-2E71-42D9-BD8A-1ACE2877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71B4A-C87B-4A0A-9857-DEA4DD3E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7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4BBAA-61D3-4F36-9194-A17BFB4A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E1B18-E277-4CC0-8449-B00FE507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31665-6D11-4351-B9F7-E1ABCFAF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2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B048-42E0-4609-A4FD-F07C69266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15ECD-6267-4093-BD68-7590FC98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871CD-1F15-4FB6-BA67-27F4043F7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77D70-6FE2-4B90-80E1-5D2AC389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FD505-0993-4DC7-8E1F-38689305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FDC09-1B2B-47E8-942C-2E3DB5BE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0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3329-6E09-4178-B29C-FC9C6187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056A7-945F-4884-A359-6DE30888E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857F9-A63B-4670-A011-CB28D7009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A936D-8001-46BA-BDC9-0E871D4C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9F0CC-E6D6-4947-A98D-78755F18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53B80-4103-4856-B003-D1C0FE93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0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B918-98B8-4A07-AFC4-6E6FC614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82788-9794-458C-9B2A-2E9F8DDA2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9DA0A-A483-428E-BDE2-6823D3E0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F543-6D8B-4935-9EEA-191C90B9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AB9CA-9B64-4C88-A56A-571170B5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8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A60A0E-9ADB-4B61-B929-A4A229E9E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9F2AB-A477-4FE1-B75A-0C379D6D2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B2AAB-E398-4D1B-B8C8-A443AF64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B02EE-C65F-4FBE-B87A-F5DDE866E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E0732-844E-46C1-B867-F7EA4C7D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21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F231-040F-1DE7-CA3D-9306FF24F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F7AD6-7DEC-F451-22AC-B07AFE575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C29ED-5B6C-8146-7A58-424A545A6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5EDB9-2FA8-4639-2A71-8C574CAB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A2602-67C0-B459-DF5E-2B127703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33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8A60-BD78-984C-8F07-31827B73A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CC63-7FBF-CB21-22F2-CF02DA505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046B1-9411-A979-82B2-CC8034CC7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A3EAB-3186-5F00-519D-E8781ACC4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97357-E18A-E83B-7E0D-6560019B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33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85140-0F5D-C64A-9F80-91AE4D232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8E1D1-444F-5BAE-E2CB-57815FFE8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A950D-ECCA-D58D-0FBA-CFEB5D8E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4C012-F8E4-CE24-7363-03769A0A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055E0-3576-3623-5383-CD712612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70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EB64-B12D-8AA0-6A32-C2398DF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3E65-09E5-EF4B-BAA3-0F34372E2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571FD-6A31-7E4E-F043-DB2467380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6349C-DEBA-1293-C176-8D1FDF3B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25F12-20C1-467E-3C8F-EA87CDA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D3493-1D58-864F-E748-B1F6F5794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55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A6AEE-5505-7F6B-7F7C-437D601B5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162CE-9A0E-193D-4DC5-79C2CD4F8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1B557-0F5F-9E92-A03E-A46DAEEE0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1EB63-7171-E1C4-1826-0E92AFA65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563459-FF13-2F7C-68BE-AB7239683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B1E1A-7B38-6AD7-7933-AAD5F4BBE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29DBF-514D-054A-A374-1471A130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D1B036-8833-B807-8F24-60357B090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73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67EB9-93D1-8C9B-D8F1-7C52D38C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149B4-AA63-1524-9809-4BFE98EA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E5D7F-AFB7-6F11-017E-5AA0066F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87311-3796-9D77-5566-94F41987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79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88F565-BB98-EA99-46B3-401E6FA7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94C3B-C61E-E42D-8D19-C319A413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463EB-DC86-1B4D-F63E-AC25BDFB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19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E842-3023-F8DB-4CCF-E29BB394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6CFDE-AEAD-3C51-5F19-52D9FAADC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09067-52AD-81E0-CD79-81D5A9000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781AD-CC21-6C96-45F3-8AB36934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67B1F-4336-B71B-4443-661E4950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1F887-7DD7-0598-E50E-4F49C766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470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5FCC-095C-CC61-FC21-027EDE4E6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B16EE-10BB-5CFD-0923-78A423804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50FB0-2E9E-5A4B-C902-5E30E139F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B07B8-315B-CA2B-8BBA-054FF842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E56C9-569D-E3BB-2218-55CE70D51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AEF89-73EF-0173-2BE5-B0D0AF7C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629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8F14-282F-615A-75E8-20A00947B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2BDB5-F68E-26AF-9CB1-DAFF8825C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FE8B2-4493-A22E-D058-6F335B69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14EA5-7164-1EB9-EF24-B0EAA489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46F8B-82B9-B7B5-C1DA-82538F17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30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6BAAE6-E2E7-C762-27C8-1AF603DBA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F1576-E982-A868-6CF5-0F4FFBBDF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3BBEA-BB88-4FBD-284A-1DA373375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240AC-5C53-78DE-B374-98CF727B6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1E59-D8C0-E19A-4507-72D67F21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1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F5ECF-7D16-4C24-815F-929C214AF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36D8A-F1B3-4CBA-999A-AA17F13E1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39F2B-3C6C-4B92-BAA7-2C048DD99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594DA-0037-4DF6-8D75-1E9E530AB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BD50B-9ACA-4499-B1D4-B4944A9C6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1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F7A47B-8457-E9B7-7292-3DED2B3BF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6C719-0857-BF6E-9D89-4C51C9077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5D991-699B-0749-5456-BD7B9EC81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AB49B-B10E-FA78-1ABF-5B05BF591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B0599-9A1D-8556-8C45-D08B85AA8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33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"/>
            <a:ext cx="8229600" cy="88392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Case 1: DM Dr. Patel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25" y="760682"/>
            <a:ext cx="11439525" cy="6035675"/>
          </a:xfrm>
        </p:spPr>
        <p:txBody>
          <a:bodyPr>
            <a:normAutofit/>
          </a:bodyPr>
          <a:lstStyle/>
          <a:p>
            <a:r>
              <a:rPr lang="en-US" sz="1900" dirty="0"/>
              <a:t> 66 year old male</a:t>
            </a:r>
          </a:p>
          <a:p>
            <a:r>
              <a:rPr lang="en-US" sz="2000" b="1" dirty="0"/>
              <a:t>Diagnosis: </a:t>
            </a:r>
            <a:r>
              <a:rPr lang="en-US" sz="1900" dirty="0"/>
              <a:t>Non-small cell lung carcinoma with </a:t>
            </a:r>
            <a:r>
              <a:rPr lang="en-US" sz="1900" dirty="0" err="1"/>
              <a:t>choriocarcinomatous</a:t>
            </a:r>
            <a:r>
              <a:rPr lang="en-US" sz="1900" dirty="0"/>
              <a:t> differentiation, staging scans concerning for metastasis to brain, bilateral adrenals, descending colon and lymph nodes; Caris consistent with germ cell tumor (92%)</a:t>
            </a:r>
          </a:p>
          <a:p>
            <a:r>
              <a:rPr lang="en-US" sz="2000" b="1" dirty="0"/>
              <a:t>Other Clinical Information:</a:t>
            </a:r>
          </a:p>
          <a:p>
            <a:pPr lvl="1"/>
            <a:r>
              <a:rPr lang="en-US" sz="1800" dirty="0"/>
              <a:t>Performance Status: Hospice</a:t>
            </a:r>
          </a:p>
          <a:p>
            <a:pPr lvl="1"/>
            <a:r>
              <a:rPr lang="en-US" sz="1800" dirty="0"/>
              <a:t>Hepatic Function: AST 35; ALT 63; ALP 102; T. Bili 0.3; Albumin 2.2; T Protein 5.5</a:t>
            </a:r>
          </a:p>
          <a:p>
            <a:pPr lvl="1"/>
            <a:r>
              <a:rPr lang="en-US" sz="1800" dirty="0"/>
              <a:t>Renal Function: BUN 13; Cr. 0.54  </a:t>
            </a:r>
          </a:p>
          <a:p>
            <a:pPr lvl="1"/>
            <a:r>
              <a:rPr lang="en-US" sz="1800" dirty="0"/>
              <a:t>Family History: Mother and father w/ unspecified cancers</a:t>
            </a:r>
          </a:p>
          <a:p>
            <a:pPr lvl="1"/>
            <a:r>
              <a:rPr lang="en-US" sz="1800" dirty="0"/>
              <a:t>Comorbidities: HTN, HLD, COPD</a:t>
            </a:r>
          </a:p>
          <a:p>
            <a:r>
              <a:rPr lang="en-US" sz="2000" b="1" dirty="0"/>
              <a:t>Oncology History:</a:t>
            </a:r>
          </a:p>
          <a:p>
            <a:pPr lvl="1"/>
            <a:r>
              <a:rPr lang="en-US" sz="1800" dirty="0"/>
              <a:t>3/2025: Craniotomy </a:t>
            </a:r>
          </a:p>
          <a:p>
            <a:pPr lvl="1"/>
            <a:r>
              <a:rPr lang="en-US" sz="1800" dirty="0"/>
              <a:t>4/2025: S/p carboplatin + etoposide cycle 1, then pt desired to stop all treatment and opted for home hospice</a:t>
            </a:r>
          </a:p>
          <a:p>
            <a:r>
              <a:rPr lang="en-US" sz="2000" b="1" dirty="0"/>
              <a:t>Molecular Testing:</a:t>
            </a:r>
          </a:p>
          <a:p>
            <a:pPr lvl="1"/>
            <a:r>
              <a:rPr lang="en-US" sz="1800" dirty="0"/>
              <a:t>Specimen Site: Brain; Collected: 3/2025; Panel: Caris; Dated: 4/2025 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819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1E2C-4B3B-D477-8CA5-74B4EC08A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19400" cy="832147"/>
          </a:xfrm>
        </p:spPr>
        <p:txBody>
          <a:bodyPr/>
          <a:lstStyle/>
          <a:p>
            <a:r>
              <a:rPr lang="en-US" dirty="0"/>
              <a:t>Case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C38579-B0FB-4977-EEFC-8F3D9F449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671" y="196071"/>
            <a:ext cx="2897421" cy="2126691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25945A8-69AF-C101-D5AC-0990F1743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450" y="904888"/>
            <a:ext cx="7252554" cy="5350138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2814F0-EEF5-17CE-CDC4-F8B17A822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671" y="2391687"/>
            <a:ext cx="2897422" cy="21223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A9A46B-EF9D-BDFC-69CC-93C7843E3AC1}"/>
              </a:ext>
            </a:extLst>
          </p:cNvPr>
          <p:cNvSpPr txBox="1"/>
          <p:nvPr/>
        </p:nvSpPr>
        <p:spPr>
          <a:xfrm>
            <a:off x="8162671" y="196071"/>
            <a:ext cx="86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CK7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C4A497-575B-0F97-6B60-2A35A6941B0A}"/>
              </a:ext>
            </a:extLst>
          </p:cNvPr>
          <p:cNvSpPr txBox="1"/>
          <p:nvPr/>
        </p:nvSpPr>
        <p:spPr>
          <a:xfrm>
            <a:off x="8162671" y="2335365"/>
            <a:ext cx="86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p40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48FCE1D-8DAE-ECFA-106F-884FB0299655}"/>
              </a:ext>
            </a:extLst>
          </p:cNvPr>
          <p:cNvCxnSpPr/>
          <p:nvPr/>
        </p:nvCxnSpPr>
        <p:spPr>
          <a:xfrm flipV="1">
            <a:off x="3180522" y="3742010"/>
            <a:ext cx="390939" cy="2667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4877506-5C5D-9CC7-C18C-708BBF728267}"/>
              </a:ext>
            </a:extLst>
          </p:cNvPr>
          <p:cNvCxnSpPr/>
          <p:nvPr/>
        </p:nvCxnSpPr>
        <p:spPr>
          <a:xfrm flipV="1">
            <a:off x="3228419" y="4727051"/>
            <a:ext cx="390939" cy="2667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1473F6FD-6DB8-FB44-B771-06DEDFB15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2671" y="4570358"/>
            <a:ext cx="2913693" cy="213094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1209822-FD0D-CFD7-81C0-320ACD1C66E4}"/>
              </a:ext>
            </a:extLst>
          </p:cNvPr>
          <p:cNvSpPr txBox="1"/>
          <p:nvPr/>
        </p:nvSpPr>
        <p:spPr>
          <a:xfrm>
            <a:off x="8162671" y="4500499"/>
            <a:ext cx="86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TTF-1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D33D3A7-C8E6-A62C-4F6F-538C0E9C3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236" y="4685165"/>
            <a:ext cx="2172768" cy="15770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16CB42D-A428-DFC6-2CE2-36CC98A4DF12}"/>
              </a:ext>
            </a:extLst>
          </p:cNvPr>
          <p:cNvSpPr txBox="1"/>
          <p:nvPr/>
        </p:nvSpPr>
        <p:spPr>
          <a:xfrm>
            <a:off x="5166235" y="6198277"/>
            <a:ext cx="1764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PD-L1: &gt;95%</a:t>
            </a:r>
          </a:p>
        </p:txBody>
      </p:sp>
    </p:spTree>
    <p:extLst>
      <p:ext uri="{BB962C8B-B14F-4D97-AF65-F5344CB8AC3E}">
        <p14:creationId xmlns:p14="http://schemas.microsoft.com/office/powerpoint/2010/main" val="116075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78904-E1CE-A452-BE5D-25F681B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910149" cy="588464"/>
          </a:xfrm>
        </p:spPr>
        <p:txBody>
          <a:bodyPr>
            <a:normAutofit fontScale="90000"/>
          </a:bodyPr>
          <a:lstStyle/>
          <a:p>
            <a:r>
              <a:rPr lang="en-US" dirty="0"/>
              <a:t>Case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DE38-E8E4-7BDA-99CC-946263DDE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Tobacco-associated DNA damage signature was detected (this is not a germ cell tumor)</a:t>
            </a:r>
          </a:p>
          <a:p>
            <a:r>
              <a:rPr lang="en-US" dirty="0"/>
              <a:t>SALL4 variably positive (usually strongly positive in </a:t>
            </a:r>
            <a:r>
              <a:rPr lang="en-US" dirty="0" err="1"/>
              <a:t>cytotrophoblastic</a:t>
            </a:r>
            <a:r>
              <a:rPr lang="en-US" dirty="0"/>
              <a:t> cells cells)</a:t>
            </a:r>
          </a:p>
          <a:p>
            <a:r>
              <a:rPr lang="en-US" dirty="0"/>
              <a:t>Inhibin weakly positive in </a:t>
            </a:r>
            <a:r>
              <a:rPr lang="en-US" dirty="0" err="1"/>
              <a:t>syncytiotrophoblastic</a:t>
            </a:r>
            <a:r>
              <a:rPr lang="en-US" dirty="0"/>
              <a:t>-like cells (usually strongly positive)</a:t>
            </a:r>
          </a:p>
          <a:p>
            <a:r>
              <a:rPr lang="en-US" dirty="0"/>
              <a:t>Human placental lactogen and HCG detected (mRNA level)</a:t>
            </a:r>
          </a:p>
          <a:p>
            <a:r>
              <a:rPr lang="en-US" dirty="0"/>
              <a:t>GATA-3 diffuse (usually just in </a:t>
            </a:r>
            <a:r>
              <a:rPr lang="en-US" dirty="0" err="1"/>
              <a:t>cytotrophoblastic</a:t>
            </a:r>
            <a:r>
              <a:rPr lang="en-US" dirty="0"/>
              <a:t> cells)</a:t>
            </a:r>
          </a:p>
          <a:p>
            <a:r>
              <a:rPr lang="en-US" dirty="0"/>
              <a:t>PD-L1 is usually positive in the </a:t>
            </a:r>
            <a:r>
              <a:rPr lang="en-US" dirty="0" err="1"/>
              <a:t>syncytiotrophoblastic</a:t>
            </a:r>
            <a:r>
              <a:rPr lang="en-US" dirty="0"/>
              <a:t> cells in choriocarcinoma, not strong and diffuse in every cell </a:t>
            </a:r>
          </a:p>
          <a:p>
            <a:r>
              <a:rPr lang="en-US" dirty="0" err="1"/>
              <a:t>GPSai</a:t>
            </a:r>
            <a:r>
              <a:rPr lang="en-US" dirty="0"/>
              <a:t>: 92% germ cell (largely mRNA based, COSMIC signatures not utilized); 3% NSCLC</a:t>
            </a:r>
          </a:p>
          <a:p>
            <a:r>
              <a:rPr lang="en-US" dirty="0"/>
              <a:t>Take-home: Metastatic non-small cell carcinoma with </a:t>
            </a:r>
            <a:r>
              <a:rPr lang="en-US" dirty="0" err="1"/>
              <a:t>choriocarcinomatous</a:t>
            </a:r>
            <a:r>
              <a:rPr lang="en-US" dirty="0"/>
              <a:t>-like differentiation, consistent with a lung primary</a:t>
            </a:r>
          </a:p>
          <a:p>
            <a:pPr lvl="1"/>
            <a:r>
              <a:rPr lang="en-US" dirty="0"/>
              <a:t>Essentially a NSCLC running a primitive trophoblastic-like program (i.e. homeobox genes for placental development could be turned on)</a:t>
            </a:r>
          </a:p>
          <a:p>
            <a:pPr lvl="2"/>
            <a:r>
              <a:rPr lang="en-US" dirty="0"/>
              <a:t>The NOTCH1 and DACH1 dysregulation in this tumor may be affecting developmental pathways</a:t>
            </a:r>
          </a:p>
        </p:txBody>
      </p:sp>
    </p:spTree>
    <p:extLst>
      <p:ext uri="{BB962C8B-B14F-4D97-AF65-F5344CB8AC3E}">
        <p14:creationId xmlns:p14="http://schemas.microsoft.com/office/powerpoint/2010/main" val="1627758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12856-D1CE-E92E-2135-0B4EBD874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5EDAA0-D628-689E-696C-0922D1CE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76" y="119800"/>
            <a:ext cx="1168647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Case 1</a:t>
            </a:r>
            <a:br>
              <a:rPr lang="en-US" dirty="0"/>
            </a:br>
            <a:r>
              <a:rPr lang="en-US" sz="2200" dirty="0"/>
              <a:t>Prior: None                                                                                                       				                Caris</a:t>
            </a:r>
            <a:br>
              <a:rPr lang="en-US" sz="2200" dirty="0"/>
            </a:br>
            <a:r>
              <a:rPr lang="en-US" sz="2200" dirty="0"/>
              <a:t>Current: Carboplatin/Etoposide		                             Dx: NSCLC with </a:t>
            </a:r>
            <a:r>
              <a:rPr lang="en-US" sz="2200" dirty="0" err="1"/>
              <a:t>choriocarcinomatous</a:t>
            </a:r>
            <a:r>
              <a:rPr lang="en-US" sz="2200" dirty="0"/>
              <a:t> differentiation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4532DD7-C2C4-BE5F-6075-20C122D930E4}"/>
              </a:ext>
            </a:extLst>
          </p:cNvPr>
          <p:cNvGraphicFramePr>
            <a:graphicFrameLocks/>
          </p:cNvGraphicFramePr>
          <p:nvPr/>
        </p:nvGraphicFramePr>
        <p:xfrm>
          <a:off x="234176" y="1580300"/>
          <a:ext cx="11686478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538">
                  <a:extLst>
                    <a:ext uri="{9D8B030D-6E8A-4147-A177-3AD203B41FA5}">
                      <a16:colId xmlns:a16="http://schemas.microsoft.com/office/drawing/2014/main" val="18278842"/>
                    </a:ext>
                  </a:extLst>
                </a:gridCol>
                <a:gridCol w="2652486">
                  <a:extLst>
                    <a:ext uri="{9D8B030D-6E8A-4147-A177-3AD203B41FA5}">
                      <a16:colId xmlns:a16="http://schemas.microsoft.com/office/drawing/2014/main" val="80099363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0727722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268983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89431549"/>
                    </a:ext>
                  </a:extLst>
                </a:gridCol>
                <a:gridCol w="1413608">
                  <a:extLst>
                    <a:ext uri="{9D8B030D-6E8A-4147-A177-3AD203B41FA5}">
                      <a16:colId xmlns:a16="http://schemas.microsoft.com/office/drawing/2014/main" val="1435740330"/>
                    </a:ext>
                  </a:extLst>
                </a:gridCol>
                <a:gridCol w="1299546">
                  <a:extLst>
                    <a:ext uri="{9D8B030D-6E8A-4147-A177-3AD203B41FA5}">
                      <a16:colId xmlns:a16="http://schemas.microsoft.com/office/drawing/2014/main" val="3543759243"/>
                    </a:ext>
                  </a:extLst>
                </a:gridCol>
              </a:tblGrid>
              <a:tr h="271899">
                <a:tc>
                  <a:txBody>
                    <a:bodyPr/>
                    <a:lstStyle/>
                    <a:p>
                      <a:r>
                        <a:rPr lang="en-US" sz="1400" dirty="0"/>
                        <a:t>Alteration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Oncogenic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On-label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Clinical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Off-label (Evidence 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Allele frequency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849634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HER2 amplification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+mn-lt"/>
                        </a:rPr>
                        <a:t>Receptor tyrosine kinase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IHC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Trastuzumab </a:t>
                      </a:r>
                      <a:r>
                        <a:rPr lang="en-US" sz="1400" dirty="0" err="1">
                          <a:latin typeface="+mn-lt"/>
                        </a:rPr>
                        <a:t>deruxtecan</a:t>
                      </a:r>
                      <a:endParaRPr 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269200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BCL2 deleted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Anti-apoptotic 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160101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DACH1 c.1436-2A&gt;T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Tumor suppressor; transcriptional repressor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467175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NOTCH1 E242*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Transmembrane receptor and transcription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Likely,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181503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SMAD4 deleted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Transcription factor in the </a:t>
                      </a:r>
                      <a:r>
                        <a:rPr lang="en-US" sz="1400" dirty="0" err="1">
                          <a:latin typeface="+mn-lt"/>
                        </a:rPr>
                        <a:t>TGFß</a:t>
                      </a:r>
                      <a:r>
                        <a:rPr lang="en-US" sz="1400" dirty="0">
                          <a:latin typeface="+mn-lt"/>
                        </a:rPr>
                        <a:t> pathway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Likely,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353987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SMARCA4 E1526*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+mn-lt"/>
                        </a:rPr>
                        <a:t>Tumor suppressor; chromatin remodeling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Likely,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313410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TP53 G117fs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+mn-lt"/>
                        </a:rPr>
                        <a:t>Tumor suppressor; DNA damage pathway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Yes,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36114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dirty="0"/>
                        <a:t>TMB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dirty="0"/>
                        <a:t>Measures mutation/Mb 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29,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dirty="0"/>
                        <a:t>Pembrolizumab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759519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dirty="0">
                          <a:latin typeface="+mn-lt"/>
                        </a:rPr>
                        <a:t>MSI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Measures hypermutability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dirty="0"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dirty="0"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dirty="0"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455973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PD-L1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response to immunotherapy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TPS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Immunotherapy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865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29286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2782</TotalTime>
  <Words>496</Words>
  <Application>Microsoft Office PowerPoint</Application>
  <PresentationFormat>Widescreen</PresentationFormat>
  <Paragraphs>120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1_Office Theme</vt:lpstr>
      <vt:lpstr>Office Theme</vt:lpstr>
      <vt:lpstr>Case 1: DM Dr. Patel</vt:lpstr>
      <vt:lpstr>Case 1</vt:lpstr>
      <vt:lpstr>Case 1</vt:lpstr>
      <vt:lpstr>Case 1 Prior: None                                                                                                                           Caris Current: Carboplatin/Etoposide                               Dx: NSCLC with choriocarcinomatous differentiation</vt:lpstr>
    </vt:vector>
  </TitlesOfParts>
  <Company>University of Kentucky HealthCare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Anderson, Abigail M.</dc:creator>
  <cp:lastModifiedBy>Pickarski, Justine C.</cp:lastModifiedBy>
  <cp:revision>161</cp:revision>
  <dcterms:created xsi:type="dcterms:W3CDTF">2025-01-17T22:09:34Z</dcterms:created>
  <dcterms:modified xsi:type="dcterms:W3CDTF">2025-08-04T15:43:25Z</dcterms:modified>
</cp:coreProperties>
</file>