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316" r:id="rId3"/>
    <p:sldId id="323" r:id="rId4"/>
    <p:sldId id="258" r:id="rId5"/>
    <p:sldId id="268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9" autoAdjust="0"/>
    <p:restoredTop sz="83314" autoAdjust="0"/>
  </p:normalViewPr>
  <p:slideViewPr>
    <p:cSldViewPr snapToGrid="0">
      <p:cViewPr varScale="1">
        <p:scale>
          <a:sx n="82" d="100"/>
          <a:sy n="82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ckarski, Justine C." userId="f5ecb3d6-012c-4e7d-9b3e-883b31b87388" providerId="ADAL" clId="{5BE30464-2893-48BB-99B2-3BD8A646A960}"/>
    <pc:docChg chg="delSld">
      <pc:chgData name="Pickarski, Justine C." userId="f5ecb3d6-012c-4e7d-9b3e-883b31b87388" providerId="ADAL" clId="{5BE30464-2893-48BB-99B2-3BD8A646A960}" dt="2025-08-04T15:46:31.928" v="1" actId="47"/>
      <pc:docMkLst>
        <pc:docMk/>
      </pc:docMkLst>
      <pc:sldChg chg="del">
        <pc:chgData name="Pickarski, Justine C." userId="f5ecb3d6-012c-4e7d-9b3e-883b31b87388" providerId="ADAL" clId="{5BE30464-2893-48BB-99B2-3BD8A646A960}" dt="2025-08-04T15:46:13.425" v="0" actId="47"/>
        <pc:sldMkLst>
          <pc:docMk/>
          <pc:sldMk cId="430848083" sldId="257"/>
        </pc:sldMkLst>
      </pc:sldChg>
      <pc:sldChg chg="del">
        <pc:chgData name="Pickarski, Justine C." userId="f5ecb3d6-012c-4e7d-9b3e-883b31b87388" providerId="ADAL" clId="{5BE30464-2893-48BB-99B2-3BD8A646A960}" dt="2025-08-04T15:46:31.928" v="1" actId="47"/>
        <pc:sldMkLst>
          <pc:docMk/>
          <pc:sldMk cId="4075178778" sldId="259"/>
        </pc:sldMkLst>
      </pc:sldChg>
      <pc:sldChg chg="del">
        <pc:chgData name="Pickarski, Justine C." userId="f5ecb3d6-012c-4e7d-9b3e-883b31b87388" providerId="ADAL" clId="{5BE30464-2893-48BB-99B2-3BD8A646A960}" dt="2025-08-04T15:46:31.928" v="1" actId="47"/>
        <pc:sldMkLst>
          <pc:docMk/>
          <pc:sldMk cId="1785014418" sldId="260"/>
        </pc:sldMkLst>
      </pc:sldChg>
      <pc:sldChg chg="del">
        <pc:chgData name="Pickarski, Justine C." userId="f5ecb3d6-012c-4e7d-9b3e-883b31b87388" providerId="ADAL" clId="{5BE30464-2893-48BB-99B2-3BD8A646A960}" dt="2025-08-04T15:46:31.928" v="1" actId="47"/>
        <pc:sldMkLst>
          <pc:docMk/>
          <pc:sldMk cId="1429525502" sldId="261"/>
        </pc:sldMkLst>
      </pc:sldChg>
      <pc:sldChg chg="del">
        <pc:chgData name="Pickarski, Justine C." userId="f5ecb3d6-012c-4e7d-9b3e-883b31b87388" providerId="ADAL" clId="{5BE30464-2893-48BB-99B2-3BD8A646A960}" dt="2025-08-04T15:46:13.425" v="0" actId="47"/>
        <pc:sldMkLst>
          <pc:docMk/>
          <pc:sldMk cId="801631586" sldId="263"/>
        </pc:sldMkLst>
      </pc:sldChg>
      <pc:sldChg chg="del">
        <pc:chgData name="Pickarski, Justine C." userId="f5ecb3d6-012c-4e7d-9b3e-883b31b87388" providerId="ADAL" clId="{5BE30464-2893-48BB-99B2-3BD8A646A960}" dt="2025-08-04T15:46:13.425" v="0" actId="47"/>
        <pc:sldMkLst>
          <pc:docMk/>
          <pc:sldMk cId="1564872402" sldId="264"/>
        </pc:sldMkLst>
      </pc:sldChg>
      <pc:sldChg chg="del">
        <pc:chgData name="Pickarski, Justine C." userId="f5ecb3d6-012c-4e7d-9b3e-883b31b87388" providerId="ADAL" clId="{5BE30464-2893-48BB-99B2-3BD8A646A960}" dt="2025-08-04T15:46:13.425" v="0" actId="47"/>
        <pc:sldMkLst>
          <pc:docMk/>
          <pc:sldMk cId="2070535885" sldId="265"/>
        </pc:sldMkLst>
      </pc:sldChg>
      <pc:sldChg chg="del">
        <pc:chgData name="Pickarski, Justine C." userId="f5ecb3d6-012c-4e7d-9b3e-883b31b87388" providerId="ADAL" clId="{5BE30464-2893-48BB-99B2-3BD8A646A960}" dt="2025-08-04T15:46:31.928" v="1" actId="47"/>
        <pc:sldMkLst>
          <pc:docMk/>
          <pc:sldMk cId="3484894560" sldId="267"/>
        </pc:sldMkLst>
      </pc:sldChg>
      <pc:sldChg chg="del">
        <pc:chgData name="Pickarski, Justine C." userId="f5ecb3d6-012c-4e7d-9b3e-883b31b87388" providerId="ADAL" clId="{5BE30464-2893-48BB-99B2-3BD8A646A960}" dt="2025-08-04T15:46:13.425" v="0" actId="47"/>
        <pc:sldMkLst>
          <pc:docMk/>
          <pc:sldMk cId="2332239063" sldId="269"/>
        </pc:sldMkLst>
      </pc:sldChg>
      <pc:sldChg chg="del">
        <pc:chgData name="Pickarski, Justine C." userId="f5ecb3d6-012c-4e7d-9b3e-883b31b87388" providerId="ADAL" clId="{5BE30464-2893-48BB-99B2-3BD8A646A960}" dt="2025-08-04T15:46:31.928" v="1" actId="47"/>
        <pc:sldMkLst>
          <pc:docMk/>
          <pc:sldMk cId="3482323771" sldId="271"/>
        </pc:sldMkLst>
      </pc:sldChg>
      <pc:sldChg chg="del">
        <pc:chgData name="Pickarski, Justine C." userId="f5ecb3d6-012c-4e7d-9b3e-883b31b87388" providerId="ADAL" clId="{5BE30464-2893-48BB-99B2-3BD8A646A960}" dt="2025-08-04T15:46:31.928" v="1" actId="47"/>
        <pc:sldMkLst>
          <pc:docMk/>
          <pc:sldMk cId="3730474624" sldId="272"/>
        </pc:sldMkLst>
      </pc:sldChg>
      <pc:sldChg chg="del">
        <pc:chgData name="Pickarski, Justine C." userId="f5ecb3d6-012c-4e7d-9b3e-883b31b87388" providerId="ADAL" clId="{5BE30464-2893-48BB-99B2-3BD8A646A960}" dt="2025-08-04T15:46:31.928" v="1" actId="47"/>
        <pc:sldMkLst>
          <pc:docMk/>
          <pc:sldMk cId="4243639255" sldId="273"/>
        </pc:sldMkLst>
      </pc:sldChg>
      <pc:sldChg chg="del">
        <pc:chgData name="Pickarski, Justine C." userId="f5ecb3d6-012c-4e7d-9b3e-883b31b87388" providerId="ADAL" clId="{5BE30464-2893-48BB-99B2-3BD8A646A960}" dt="2025-08-04T15:46:31.928" v="1" actId="47"/>
        <pc:sldMkLst>
          <pc:docMk/>
          <pc:sldMk cId="3954595602" sldId="275"/>
        </pc:sldMkLst>
      </pc:sldChg>
      <pc:sldChg chg="del">
        <pc:chgData name="Pickarski, Justine C." userId="f5ecb3d6-012c-4e7d-9b3e-883b31b87388" providerId="ADAL" clId="{5BE30464-2893-48BB-99B2-3BD8A646A960}" dt="2025-08-04T15:46:13.425" v="0" actId="47"/>
        <pc:sldMkLst>
          <pc:docMk/>
          <pc:sldMk cId="939221434" sldId="300"/>
        </pc:sldMkLst>
      </pc:sldChg>
      <pc:sldChg chg="del">
        <pc:chgData name="Pickarski, Justine C." userId="f5ecb3d6-012c-4e7d-9b3e-883b31b87388" providerId="ADAL" clId="{5BE30464-2893-48BB-99B2-3BD8A646A960}" dt="2025-08-04T15:46:13.425" v="0" actId="47"/>
        <pc:sldMkLst>
          <pc:docMk/>
          <pc:sldMk cId="2459028382" sldId="315"/>
        </pc:sldMkLst>
      </pc:sldChg>
      <pc:sldChg chg="del">
        <pc:chgData name="Pickarski, Justine C." userId="f5ecb3d6-012c-4e7d-9b3e-883b31b87388" providerId="ADAL" clId="{5BE30464-2893-48BB-99B2-3BD8A646A960}" dt="2025-08-04T15:46:31.928" v="1" actId="47"/>
        <pc:sldMkLst>
          <pc:docMk/>
          <pc:sldMk cId="1254387956" sldId="318"/>
        </pc:sldMkLst>
      </pc:sldChg>
      <pc:sldChg chg="del">
        <pc:chgData name="Pickarski, Justine C." userId="f5ecb3d6-012c-4e7d-9b3e-883b31b87388" providerId="ADAL" clId="{5BE30464-2893-48BB-99B2-3BD8A646A960}" dt="2025-08-04T15:46:31.928" v="1" actId="47"/>
        <pc:sldMkLst>
          <pc:docMk/>
          <pc:sldMk cId="634550342" sldId="319"/>
        </pc:sldMkLst>
      </pc:sldChg>
      <pc:sldChg chg="del">
        <pc:chgData name="Pickarski, Justine C." userId="f5ecb3d6-012c-4e7d-9b3e-883b31b87388" providerId="ADAL" clId="{5BE30464-2893-48BB-99B2-3BD8A646A960}" dt="2025-08-04T15:46:31.928" v="1" actId="47"/>
        <pc:sldMkLst>
          <pc:docMk/>
          <pc:sldMk cId="373467521" sldId="320"/>
        </pc:sldMkLst>
      </pc:sldChg>
      <pc:sldChg chg="del">
        <pc:chgData name="Pickarski, Justine C." userId="f5ecb3d6-012c-4e7d-9b3e-883b31b87388" providerId="ADAL" clId="{5BE30464-2893-48BB-99B2-3BD8A646A960}" dt="2025-08-04T15:46:13.425" v="0" actId="47"/>
        <pc:sldMkLst>
          <pc:docMk/>
          <pc:sldMk cId="3750738548" sldId="321"/>
        </pc:sldMkLst>
      </pc:sldChg>
      <pc:sldChg chg="del">
        <pc:chgData name="Pickarski, Justine C." userId="f5ecb3d6-012c-4e7d-9b3e-883b31b87388" providerId="ADAL" clId="{5BE30464-2893-48BB-99B2-3BD8A646A960}" dt="2025-08-04T15:46:13.425" v="0" actId="47"/>
        <pc:sldMkLst>
          <pc:docMk/>
          <pc:sldMk cId="2961760043" sldId="322"/>
        </pc:sldMkLst>
      </pc:sldChg>
      <pc:sldChg chg="del">
        <pc:chgData name="Pickarski, Justine C." userId="f5ecb3d6-012c-4e7d-9b3e-883b31b87388" providerId="ADAL" clId="{5BE30464-2893-48BB-99B2-3BD8A646A960}" dt="2025-08-04T15:46:31.928" v="1" actId="47"/>
        <pc:sldMkLst>
          <pc:docMk/>
          <pc:sldMk cId="2488965629" sldId="324"/>
        </pc:sldMkLst>
      </pc:sldChg>
      <pc:sldChg chg="del">
        <pc:chgData name="Pickarski, Justine C." userId="f5ecb3d6-012c-4e7d-9b3e-883b31b87388" providerId="ADAL" clId="{5BE30464-2893-48BB-99B2-3BD8A646A960}" dt="2025-08-04T15:46:31.928" v="1" actId="47"/>
        <pc:sldMkLst>
          <pc:docMk/>
          <pc:sldMk cId="419100135" sldId="325"/>
        </pc:sldMkLst>
      </pc:sldChg>
      <pc:sldChg chg="del">
        <pc:chgData name="Pickarski, Justine C." userId="f5ecb3d6-012c-4e7d-9b3e-883b31b87388" providerId="ADAL" clId="{5BE30464-2893-48BB-99B2-3BD8A646A960}" dt="2025-08-04T15:46:31.928" v="1" actId="47"/>
        <pc:sldMkLst>
          <pc:docMk/>
          <pc:sldMk cId="3230465959" sldId="32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761F-DF49-4CF6-8091-4D2A62654DA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BAF87-4562-4176-98DA-A4AAA2C37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82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BE1C4-B052-4DB7-9257-F533DCC408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75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C4BB14-2368-4562-AB3D-08DD960145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6571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r>
              <a:rPr lang="en-US" sz="1200" dirty="0"/>
              <a:t>NCT06208124 (Ph1/2a) – IMM-6-415 (MEK inhibitor) – none local</a:t>
            </a:r>
          </a:p>
          <a:p>
            <a:pPr lvl="0">
              <a:buNone/>
            </a:pPr>
            <a:r>
              <a:rPr lang="en-US" sz="1200" dirty="0"/>
              <a:t>NCT05585320 (Ph1/2a) – IMM-1-104 (MEK1/2 inhibitor) SCRI (after progression on G12C therapy)</a:t>
            </a:r>
          </a:p>
          <a:p>
            <a:endParaRPr lang="en-US" dirty="0"/>
          </a:p>
          <a:p>
            <a:r>
              <a:rPr lang="en-US" dirty="0"/>
              <a:t>Data with </a:t>
            </a:r>
            <a:r>
              <a:rPr lang="en-US" dirty="0" err="1"/>
              <a:t>tepotinib</a:t>
            </a:r>
            <a:r>
              <a:rPr lang="en-US" dirty="0"/>
              <a:t> and </a:t>
            </a:r>
            <a:r>
              <a:rPr lang="en-US" dirty="0" err="1"/>
              <a:t>crizotinib</a:t>
            </a:r>
            <a:r>
              <a:rPr lang="en-US" dirty="0"/>
              <a:t> in some MET fusions but none specifically with SND1-MET (unknown if it is pathologic)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NCT04983745 (Ph 2): niraparib + </a:t>
            </a:r>
            <a:r>
              <a:rPr lang="en-US" sz="1200" dirty="0" err="1"/>
              <a:t>dostarlimab</a:t>
            </a:r>
            <a:r>
              <a:rPr lang="en-US" sz="1200" dirty="0"/>
              <a:t>, solid tumors w/ SOMATIC HRD mutations, only in Germantown, TN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NCT05038839 (Ph 1): </a:t>
            </a:r>
            <a:r>
              <a:rPr lang="en-US" sz="1200" dirty="0" err="1"/>
              <a:t>cabozantinib</a:t>
            </a:r>
            <a:r>
              <a:rPr lang="en-US" sz="1200" dirty="0"/>
              <a:t> + </a:t>
            </a:r>
            <a:r>
              <a:rPr lang="en-US" sz="1200" dirty="0" err="1"/>
              <a:t>pamiparib</a:t>
            </a:r>
            <a:r>
              <a:rPr lang="en-US" sz="1200" dirty="0"/>
              <a:t> (PALB1/2i), solid tumors w/ HRD mutations, only in MDACC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NCT05687136 (Ph 1b): </a:t>
            </a:r>
            <a:r>
              <a:rPr lang="en-US" sz="1200" dirty="0" err="1"/>
              <a:t>peposertib</a:t>
            </a:r>
            <a:r>
              <a:rPr lang="en-US" sz="1200" dirty="0"/>
              <a:t> (DNA-PK inhibitor) + </a:t>
            </a:r>
            <a:r>
              <a:rPr lang="en-US" sz="1200" dirty="0" err="1"/>
              <a:t>tuvusertib</a:t>
            </a:r>
            <a:r>
              <a:rPr lang="en-US" sz="1200" dirty="0"/>
              <a:t> (</a:t>
            </a:r>
            <a:r>
              <a:rPr lang="en-US" sz="1200" dirty="0" err="1"/>
              <a:t>ATRi</a:t>
            </a:r>
            <a:r>
              <a:rPr lang="en-US" sz="1200" dirty="0"/>
              <a:t>), ATM mutations, amplification of MYC, mutation of FBXW7, CCNE1 amplification, SWI/SNF member mutation (ARID1A, PBRM1, SMARCA4, ARID2, ARID1b, SMARCA2, SS18), and ATRX/DAXX, only at NCI or Boston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NCT05887492 – TNG260 (</a:t>
            </a:r>
            <a:r>
              <a:rPr lang="en-US" b="0" i="0" dirty="0" err="1">
                <a:solidFill>
                  <a:srgbClr val="1B1B1B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CoRESTi</a:t>
            </a: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+ </a:t>
            </a:r>
            <a:r>
              <a:rPr lang="en-US" b="0" i="0" dirty="0" err="1">
                <a:solidFill>
                  <a:srgbClr val="1B1B1B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pembro</a:t>
            </a: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) SCRI – designed to overcome IO resistance with STK11 mutations [</a:t>
            </a:r>
            <a:r>
              <a:rPr lang="en-US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ontserrat" panose="020F0502020204030204" pitchFamily="2" charset="0"/>
              </a:rPr>
              <a:t>C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ontserrat" panose="020F0502020204030204" pitchFamily="2" charset="0"/>
              </a:rPr>
              <a:t>o-repressor of </a:t>
            </a:r>
            <a:r>
              <a:rPr lang="en-US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ontserrat" panose="020F0502020204030204" pitchFamily="2" charset="0"/>
              </a:rPr>
              <a:t>R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ontserrat" panose="020F0502020204030204" pitchFamily="2" charset="0"/>
              </a:rPr>
              <a:t>epressor </a:t>
            </a:r>
            <a:r>
              <a:rPr lang="en-US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ontserrat" panose="020F0502020204030204" pitchFamily="2" charset="0"/>
              </a:rPr>
              <a:t>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ontserrat" panose="020F0502020204030204" pitchFamily="2" charset="0"/>
              </a:rPr>
              <a:t>lement-1 </a:t>
            </a:r>
            <a:r>
              <a:rPr lang="en-US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ontserrat" panose="020F0502020204030204" pitchFamily="2" charset="0"/>
              </a:rPr>
              <a:t>S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ontserrat" panose="020F0502020204030204" pitchFamily="2" charset="0"/>
              </a:rPr>
              <a:t>ilencing </a:t>
            </a:r>
            <a:r>
              <a:rPr lang="en-US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ontserrat" panose="020F0502020204030204" pitchFamily="2" charset="0"/>
              </a:rPr>
              <a:t>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ontserrat" panose="020F0502020204030204" pitchFamily="2" charset="0"/>
              </a:rPr>
              <a:t>ranscription</a:t>
            </a: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DCEC7ED-A473-4D8E-9BC7-B22B3BEAF3C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2563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DCEC7ED-A473-4D8E-9BC7-B22B3BEAF3C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9972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ED01-8390-4DF0-9793-F4688872F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7FBC0-C313-44AE-9A18-4953143D1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DF00E-03CF-498A-BB47-C66E2BACA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F37B0-3ED4-4F98-916B-420B88265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D730E-4D53-4E55-91B8-D070321E4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35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65451-FB46-47FF-8D5A-2B33D6970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68EC3-74BF-44FF-ABED-987EDF62A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12D66-E32F-48F5-9CC5-749F475D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C5503-FAD8-4F04-8CAC-428270505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F3F69-328D-4D49-9879-344C10DAA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12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D371-4097-4E41-ADF7-163C4EE4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41A97-7FC3-4657-844D-6B6948C66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E8F14-05B6-4A48-AF14-FCAF42F89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ABD68-2787-4D31-AA81-14FA15C99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729D8-3E0E-4F81-AC1E-1627F07D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99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57EE-F7D5-451C-B7AC-A5E7081C4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32247-D29B-455D-853C-ECD9D5396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67B2E-4CE5-4E59-BAB1-F8CA79CC2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F448F-2F68-4967-BC78-95A97FE59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B98AF-BB52-4E69-B12B-74B5C318F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8047B-7B96-4350-BBB9-B6DF1CBB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6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CFC33-263B-4FE9-945E-508044215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D6499-23FF-429B-A282-07C0F5498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CBFC5-BC7E-401E-AF41-277061B6F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4E3FC8-7997-4875-97E7-42F75ADA6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69ADE6-5497-4F57-88B0-EB6B35457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3920C7-7BAE-4357-B66C-DBA6CC131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341C24-154D-4A3E-87CF-09C7E7AF9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648F5F-CC2B-4370-A679-E5317F06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2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E3614-5BED-4433-B12B-8F640B32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D54256-5589-4F24-8F1B-C9B7AE466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639EA-2E71-42D9-BD8A-1ACE2877B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71B4A-C87B-4A0A-9857-DEA4DD3EA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35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24BBAA-61D3-4F36-9194-A17BFB4A6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E1B18-E277-4CC0-8449-B00FE507A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31665-6D11-4351-B9F7-E1ABCFAFF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23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B048-42E0-4609-A4FD-F07C69266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15ECD-6267-4093-BD68-7590FC98D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871CD-1F15-4FB6-BA67-27F4043F7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77D70-6FE2-4B90-80E1-5D2AC389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FD505-0993-4DC7-8E1F-38689305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FDC09-1B2B-47E8-942C-2E3DB5BE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20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3329-6E09-4178-B29C-FC9C6187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0056A7-945F-4884-A359-6DE30888E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857F9-A63B-4670-A011-CB28D7009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A936D-8001-46BA-BDC9-0E871D4CE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9F0CC-E6D6-4947-A98D-78755F186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53B80-4103-4856-B003-D1C0FE93C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16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CB918-98B8-4A07-AFC4-6E6FC614F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82788-9794-458C-9B2A-2E9F8DDA2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9DA0A-A483-428E-BDE2-6823D3E0A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7F543-6D8B-4935-9EEA-191C90B9F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AB9CA-9B64-4C88-A56A-571170B5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87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A60A0E-9ADB-4B61-B929-A4A229E9E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9F2AB-A477-4FE1-B75A-0C379D6D2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B2AAB-E398-4D1B-B8C8-A443AF64A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B02EE-C65F-4FBE-B87A-F5DDE866E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E0732-844E-46C1-B867-F7EA4C7D6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78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A1DE9-5234-4DF8-868A-2F68900BA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4E622-DCD3-420D-AD82-C84A51C0F4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AD99E-47F7-41E8-BAD6-E4E252F7E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750AB-3E3E-41E6-89AE-54B9FF71BCC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57B7E-D88B-46B2-94E5-94A1E4DC1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4FE3D-1BCD-431A-A173-957952F3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1C61-D829-4938-A7C1-6DBA904F4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44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F9A92-0F6B-4469-92F6-3738BB37D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DEF25-38F8-49B1-852C-EE4628918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27130-99B8-4E04-9795-9DDB5073F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750AB-3E3E-41E6-89AE-54B9FF71BCC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AAA06-9599-4B39-A2A6-8240DBA0B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BE39F-4693-411B-B8F9-830348443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1C61-D829-4938-A7C1-6DBA904F4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368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FEBFD-1531-4A11-B841-1BF00E49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514E1-77C0-4077-A7DC-EB8EA2B85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74FF2-A497-4755-8DF7-19D587E4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750AB-3E3E-41E6-89AE-54B9FF71BCC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7549B-E2F0-4DCC-BB5D-79A9E2403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D1889-A211-447D-80CB-FF9611D5A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1C61-D829-4938-A7C1-6DBA904F4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87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F712-96ED-469B-8B8D-84AE95A4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1847E-595B-47AE-B12C-77F9053CD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C56099-89DA-488E-8A4F-6E0CF11AF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3BBE5-C17D-4CE9-B591-F4166593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750AB-3E3E-41E6-89AE-54B9FF71BCC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0E70B-38CD-4B62-BE29-AC158EC25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8C77E-42CE-4454-ADE6-A7412AC5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1C61-D829-4938-A7C1-6DBA904F4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9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2C370-00C6-4F74-91B4-0C293A2F3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EF30F-D28E-40D8-BF65-2261B7361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3A4CD-915C-4063-9ABA-85FE1E8C3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5A20E-F43C-405A-A60B-41BE67599B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3951A0-48EE-440E-95D9-B6FF10A8AD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2E068E-6F4F-42D9-A5CD-1C1AF49E2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750AB-3E3E-41E6-89AE-54B9FF71BCC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7C83D0-2B1E-47B7-99F9-5778D7EF2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016B0E-9BE9-461F-9B51-B27160A6C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1C61-D829-4938-A7C1-6DBA904F4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35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BAE5F-D53E-4E14-9B98-6A4C43371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CBF845-F0FC-4E29-B416-25227F3CF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750AB-3E3E-41E6-89AE-54B9FF71BCC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1A861-A59A-41E5-9283-EB150EB59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6F4BF-7892-4CC3-8F6C-6C75705D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1C61-D829-4938-A7C1-6DBA904F4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0717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2E33CC-93BC-4B9A-B97E-156964C32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750AB-3E3E-41E6-89AE-54B9FF71BCC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F4910A-0425-4ACE-9840-363730543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CBFCA-5247-4F08-9E61-35DD09307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1C61-D829-4938-A7C1-6DBA904F4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739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00286-3B53-4B57-8BCF-27E32DEB1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745F3-56F1-4552-BE05-6B7924DFF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B0D3C-70AA-4262-A265-5D1014BE5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E4A2A-7854-4248-A49B-90C5AE54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750AB-3E3E-41E6-89AE-54B9FF71BCC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3FC02-725A-4310-99B8-19066D2CB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29291-A9CD-46AF-A2A6-870FBB4E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1C61-D829-4938-A7C1-6DBA904F4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544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CE87-14A8-4DF1-A05B-4E93C2980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0803BF-4917-43A7-8499-27F068E877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58434-DF8A-4015-9F02-95684D1CF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1903-D11A-4FA0-9F99-3E3B58267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750AB-3E3E-41E6-89AE-54B9FF71BCC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778B9-C338-4E90-9C28-32F61E888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815E5-3118-489F-8D16-9E2F38C6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1C61-D829-4938-A7C1-6DBA904F4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4423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34525-0BBA-41EA-AC86-852FB3426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6197F8-F7DF-43E7-83A7-9D1FE1C21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13698-51CA-4B89-987C-566C9B2A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750AB-3E3E-41E6-89AE-54B9FF71BCC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DE797-B0EA-4367-9160-3C22E3F25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4663C-959E-453B-AB35-21F86BEC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1C61-D829-4938-A7C1-6DBA904F4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508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EDC051-4E6B-4302-8E2A-F8D5A29ED7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ABC3D0-0ACB-4242-BAE4-2E9214695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57614-2BB5-496D-AF19-F6130B744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750AB-3E3E-41E6-89AE-54B9FF71BCC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41485-E9C3-47C0-A0D4-2B97E14E6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42942-8A19-4371-8A5E-BAE50772E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1C61-D829-4938-A7C1-6DBA904F4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60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F5ECF-7D16-4C24-815F-929C214AF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36D8A-F1B3-4CBA-999A-AA17F13E1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39F2B-3C6C-4B92-BAA7-2C048DD99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594DA-0037-4DF6-8D75-1E9E530AB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BD50B-9ACA-4499-B1D4-B4944A9C6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90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337EC-38DD-47E9-ACF9-97D70FCD3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AB57C-9F94-49B4-ACBF-2A8E81405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138F2-6DC5-4ED9-AD1F-A907F9085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750AB-3E3E-41E6-89AE-54B9FF71BCC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F87C9-98ED-427A-905D-DD9C28AE9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5CBE3-D3AF-4148-8891-7D8CE4DB7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11C61-D829-4938-A7C1-6DBA904F4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95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"/>
            <a:ext cx="8229600" cy="88392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Case 2: KM Dr. J. Miller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425" y="760682"/>
            <a:ext cx="11439525" cy="6035675"/>
          </a:xfrm>
        </p:spPr>
        <p:txBody>
          <a:bodyPr>
            <a:normAutofit/>
          </a:bodyPr>
          <a:lstStyle/>
          <a:p>
            <a:r>
              <a:rPr lang="en-US" sz="1900" dirty="0"/>
              <a:t> 71 year old male</a:t>
            </a:r>
          </a:p>
          <a:p>
            <a:r>
              <a:rPr lang="en-US" sz="2000" b="1" dirty="0"/>
              <a:t>Diagnosis: </a:t>
            </a:r>
            <a:r>
              <a:rPr lang="en-US" sz="2000" dirty="0"/>
              <a:t>Mixed adenocarcinoma and neuroendocrine neoplasm of the upper lobe of lung (T1b N0 M0); VATS UL wedge resection w/ mediastinal LN dissection in 11/2024</a:t>
            </a:r>
            <a:endParaRPr lang="en-US" sz="1800" dirty="0"/>
          </a:p>
          <a:p>
            <a:r>
              <a:rPr lang="en-US" sz="2000" b="1" dirty="0"/>
              <a:t>Other Clinical Information:</a:t>
            </a:r>
          </a:p>
          <a:p>
            <a:pPr lvl="1"/>
            <a:r>
              <a:rPr lang="en-US" sz="1800" dirty="0"/>
              <a:t>Performance Status: Not available in EPIC</a:t>
            </a:r>
          </a:p>
          <a:p>
            <a:pPr lvl="1"/>
            <a:r>
              <a:rPr lang="en-US" sz="1800" dirty="0"/>
              <a:t>Hepatic Function: No recent labs in EPIC</a:t>
            </a:r>
          </a:p>
          <a:p>
            <a:pPr lvl="1"/>
            <a:r>
              <a:rPr lang="en-US" sz="1800" dirty="0"/>
              <a:t>Renal Function: BUN 21; Cr. 0.96 (11/2024)  </a:t>
            </a:r>
          </a:p>
          <a:p>
            <a:pPr lvl="1"/>
            <a:r>
              <a:rPr lang="en-US" sz="1800" dirty="0"/>
              <a:t>Family History: No relevant family history</a:t>
            </a:r>
          </a:p>
          <a:p>
            <a:pPr lvl="1"/>
            <a:r>
              <a:rPr lang="en-US" sz="1800" dirty="0"/>
              <a:t>Comorbidities: 25 pk yr smoking </a:t>
            </a:r>
            <a:r>
              <a:rPr lang="en-US" sz="1800" dirty="0" err="1"/>
              <a:t>hx</a:t>
            </a:r>
            <a:r>
              <a:rPr lang="en-US" sz="1800" dirty="0"/>
              <a:t> (quit 16 yrs ago)</a:t>
            </a:r>
          </a:p>
          <a:p>
            <a:r>
              <a:rPr lang="en-US" sz="2000" b="1" dirty="0"/>
              <a:t>Planned Therapy:</a:t>
            </a:r>
          </a:p>
          <a:p>
            <a:pPr lvl="1"/>
            <a:r>
              <a:rPr lang="en-US" sz="1800" dirty="0"/>
              <a:t>Planned </a:t>
            </a:r>
            <a:r>
              <a:rPr lang="en-US" sz="1800" b="0" i="0" u="none" strike="noStrike" baseline="0" dirty="0"/>
              <a:t>CT of the thorax for continued oncologic surveillance in 3/2025</a:t>
            </a:r>
            <a:endParaRPr lang="en-US" sz="1800" dirty="0"/>
          </a:p>
          <a:p>
            <a:r>
              <a:rPr lang="en-US" sz="2000" b="1" dirty="0"/>
              <a:t>Molecular Testing:</a:t>
            </a:r>
          </a:p>
          <a:p>
            <a:pPr lvl="1"/>
            <a:r>
              <a:rPr lang="en-US" sz="1800" dirty="0"/>
              <a:t>Specimen Site: Upper lobe, lung; Collected: 11/2024; Panel: Caris; Dated: 12/2024 </a:t>
            </a:r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700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A064-4829-B3A5-5DBB-23CDC7EF9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2</a:t>
            </a:r>
          </a:p>
        </p:txBody>
      </p:sp>
      <p:pic>
        <p:nvPicPr>
          <p:cNvPr id="4" name="Picture 3" descr="A close up of a ct scan&#10;&#10;Description automatically generated">
            <a:extLst>
              <a:ext uri="{FF2B5EF4-FFF2-40B4-BE49-F238E27FC236}">
                <a16:creationId xmlns:a16="http://schemas.microsoft.com/office/drawing/2014/main" id="{D442436A-7280-0049-D842-F7FCD965B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18" y="1461426"/>
            <a:ext cx="11857466" cy="423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4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FF93-BF36-382F-0B1B-2983C5518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" y="0"/>
            <a:ext cx="2457450" cy="711200"/>
          </a:xfrm>
        </p:spPr>
        <p:txBody>
          <a:bodyPr/>
          <a:lstStyle/>
          <a:p>
            <a:r>
              <a:rPr lang="en-US" dirty="0"/>
              <a:t>Case 2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76955A9-A37D-38CF-30E9-FC9639389B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8637" y="711200"/>
            <a:ext cx="10696575" cy="5118185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B80BB7-5633-2B89-4B92-C4340E35E801}"/>
              </a:ext>
            </a:extLst>
          </p:cNvPr>
          <p:cNvSpPr txBox="1"/>
          <p:nvPr/>
        </p:nvSpPr>
        <p:spPr>
          <a:xfrm>
            <a:off x="85724" y="5903893"/>
            <a:ext cx="11582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MIXED ADENOCARCINOMA AND NEUROENDOCRINE NEOPLASM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Molecular signature is that of an adenocarcinoma: KRAS, STK11, MET fusion; CDKN2A often seen in high-grade adenocarcinomas but enriched for NE transformation under selective pressure from targeting EGFR or ALK (not this patient); there are also reports that ARID1A and MET fusion could also contribute to tumor plasticity and NE lineage switching</a:t>
            </a:r>
          </a:p>
        </p:txBody>
      </p:sp>
    </p:spTree>
    <p:extLst>
      <p:ext uri="{BB962C8B-B14F-4D97-AF65-F5344CB8AC3E}">
        <p14:creationId xmlns:p14="http://schemas.microsoft.com/office/powerpoint/2010/main" val="3719929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CA3AC-1C2E-404D-71EB-80F6E2CF9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587063-518D-8120-7B30-C40028485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Case 2</a:t>
            </a:r>
            <a:br>
              <a:rPr lang="en-US" dirty="0"/>
            </a:br>
            <a:r>
              <a:rPr lang="en-US" sz="2200" dirty="0"/>
              <a:t>Prior: None                                                                                                                                                       Caris</a:t>
            </a:r>
            <a:br>
              <a:rPr lang="en-US" sz="2200" dirty="0"/>
            </a:br>
            <a:r>
              <a:rPr lang="en-US" sz="2200" dirty="0"/>
              <a:t>Current: None                                   Dx: Mixed Adenocarcinoma/Neuroendocrine Neoplasm of the Lung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74E644A-7090-1BFD-BA06-E90F58837804}"/>
              </a:ext>
            </a:extLst>
          </p:cNvPr>
          <p:cNvGraphicFramePr>
            <a:graphicFrameLocks/>
          </p:cNvGraphicFramePr>
          <p:nvPr/>
        </p:nvGraphicFramePr>
        <p:xfrm>
          <a:off x="838200" y="1690688"/>
          <a:ext cx="10515601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6657">
                  <a:extLst>
                    <a:ext uri="{9D8B030D-6E8A-4147-A177-3AD203B41FA5}">
                      <a16:colId xmlns:a16="http://schemas.microsoft.com/office/drawing/2014/main" val="18278842"/>
                    </a:ext>
                  </a:extLst>
                </a:gridCol>
                <a:gridCol w="1592141">
                  <a:extLst>
                    <a:ext uri="{9D8B030D-6E8A-4147-A177-3AD203B41FA5}">
                      <a16:colId xmlns:a16="http://schemas.microsoft.com/office/drawing/2014/main" val="800993633"/>
                    </a:ext>
                  </a:extLst>
                </a:gridCol>
                <a:gridCol w="1065007">
                  <a:extLst>
                    <a:ext uri="{9D8B030D-6E8A-4147-A177-3AD203B41FA5}">
                      <a16:colId xmlns:a16="http://schemas.microsoft.com/office/drawing/2014/main" val="907277223"/>
                    </a:ext>
                  </a:extLst>
                </a:gridCol>
                <a:gridCol w="1213383">
                  <a:extLst>
                    <a:ext uri="{9D8B030D-6E8A-4147-A177-3AD203B41FA5}">
                      <a16:colId xmlns:a16="http://schemas.microsoft.com/office/drawing/2014/main" val="341268983"/>
                    </a:ext>
                  </a:extLst>
                </a:gridCol>
                <a:gridCol w="1884817">
                  <a:extLst>
                    <a:ext uri="{9D8B030D-6E8A-4147-A177-3AD203B41FA5}">
                      <a16:colId xmlns:a16="http://schemas.microsoft.com/office/drawing/2014/main" val="89431549"/>
                    </a:ext>
                  </a:extLst>
                </a:gridCol>
                <a:gridCol w="1638781">
                  <a:extLst>
                    <a:ext uri="{9D8B030D-6E8A-4147-A177-3AD203B41FA5}">
                      <a16:colId xmlns:a16="http://schemas.microsoft.com/office/drawing/2014/main" val="1435740330"/>
                    </a:ext>
                  </a:extLst>
                </a:gridCol>
                <a:gridCol w="1334815">
                  <a:extLst>
                    <a:ext uri="{9D8B030D-6E8A-4147-A177-3AD203B41FA5}">
                      <a16:colId xmlns:a16="http://schemas.microsoft.com/office/drawing/2014/main" val="2483510407"/>
                    </a:ext>
                  </a:extLst>
                </a:gridCol>
              </a:tblGrid>
              <a:tr h="291933">
                <a:tc>
                  <a:txBody>
                    <a:bodyPr/>
                    <a:lstStyle/>
                    <a:p>
                      <a:r>
                        <a:rPr lang="en-US" sz="1400" dirty="0"/>
                        <a:t>Alteration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Oncogenic?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On-label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Clinical 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Off-label (Evidence category)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Allele Frequency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849634"/>
                  </a:ext>
                </a:extLst>
              </a:tr>
              <a:tr h="3920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KRAS G12C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Upstream regulator of the MAPK pathway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Yes,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NCT06208124 (Ph1/2a)</a:t>
                      </a:r>
                    </a:p>
                    <a:p>
                      <a:pPr lvl="0">
                        <a:buNone/>
                      </a:pPr>
                      <a:r>
                        <a:rPr lang="en-US" sz="1400" dirty="0"/>
                        <a:t>NCT05585320 (Ph1/2a)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Adagrasib</a:t>
                      </a:r>
                      <a:r>
                        <a:rPr lang="en-US" sz="1400" dirty="0"/>
                        <a:t> (3), </a:t>
                      </a:r>
                      <a:r>
                        <a:rPr lang="en-US" sz="1400" dirty="0" err="1"/>
                        <a:t>Sotorasib</a:t>
                      </a:r>
                      <a:r>
                        <a:rPr lang="en-US" sz="1400" dirty="0"/>
                        <a:t>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376734"/>
                  </a:ext>
                </a:extLst>
              </a:tr>
              <a:tr h="3920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SND1-MET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Receptor tyrosine kinase; PI3K/MEK pathways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Likely,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ARID1A Y1260fs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Tumor suppressor; transcriptional regulation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Yes,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NCT04983745 (Ph 2)</a:t>
                      </a:r>
                    </a:p>
                    <a:p>
                      <a:pPr lvl="0">
                        <a:buNone/>
                      </a:pPr>
                      <a:r>
                        <a:rPr lang="en-US" sz="1400" dirty="0"/>
                        <a:t>NCT05038839 (Ph 1)</a:t>
                      </a:r>
                    </a:p>
                    <a:p>
                      <a:pPr lvl="0">
                        <a:buNone/>
                      </a:pPr>
                      <a:r>
                        <a:rPr lang="en-US" sz="1400" dirty="0"/>
                        <a:t>NCT05687136 (Ph 1b)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854795"/>
                  </a:ext>
                </a:extLst>
              </a:tr>
              <a:tr h="3920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CDKN2A V28_E33del</a:t>
                      </a:r>
                    </a:p>
                    <a:p>
                      <a:pPr lvl="0">
                        <a:buNone/>
                      </a:pPr>
                      <a:r>
                        <a:rPr lang="en-US" sz="1400" dirty="0"/>
                        <a:t>CDKN2A V126D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CDK4/6 binding; Cell cycle progression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Likely, loss</a:t>
                      </a:r>
                    </a:p>
                    <a:p>
                      <a:pPr lvl="0">
                        <a:buNone/>
                      </a:pPr>
                      <a:r>
                        <a:rPr lang="en-US" sz="1400" dirty="0"/>
                        <a:t>Yes,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23</a:t>
                      </a:r>
                    </a:p>
                    <a:p>
                      <a:pPr lvl="0">
                        <a:buNone/>
                      </a:pPr>
                      <a:r>
                        <a:rPr lang="en-US" sz="14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738329"/>
                  </a:ext>
                </a:extLst>
              </a:tr>
              <a:tr h="3920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STK11 P179L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Tumor suppressor; intracellular kinase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Likely,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NCT05887492 (Ph1/2)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726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36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CA3AC-1C2E-404D-71EB-80F6E2CF9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587063-518D-8120-7B30-C40028485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Case 2</a:t>
            </a:r>
            <a:br>
              <a:rPr lang="en-US" dirty="0"/>
            </a:br>
            <a:r>
              <a:rPr lang="en-US" sz="2200" dirty="0"/>
              <a:t>Prior: None                                                                                                                                                       Caris</a:t>
            </a:r>
            <a:br>
              <a:rPr lang="en-US" sz="2200" dirty="0"/>
            </a:br>
            <a:r>
              <a:rPr lang="en-US" sz="2200" dirty="0"/>
              <a:t>Current: None                                   Dx: Mixed Adenocarcinoma/Neuroendocrine Neoplasm of the Lung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74E644A-7090-1BFD-BA06-E90F58837804}"/>
              </a:ext>
            </a:extLst>
          </p:cNvPr>
          <p:cNvGraphicFramePr>
            <a:graphicFrameLocks/>
          </p:cNvGraphicFramePr>
          <p:nvPr/>
        </p:nvGraphicFramePr>
        <p:xfrm>
          <a:off x="838200" y="1690688"/>
          <a:ext cx="10515601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6657">
                  <a:extLst>
                    <a:ext uri="{9D8B030D-6E8A-4147-A177-3AD203B41FA5}">
                      <a16:colId xmlns:a16="http://schemas.microsoft.com/office/drawing/2014/main" val="18278842"/>
                    </a:ext>
                  </a:extLst>
                </a:gridCol>
                <a:gridCol w="1472357">
                  <a:extLst>
                    <a:ext uri="{9D8B030D-6E8A-4147-A177-3AD203B41FA5}">
                      <a16:colId xmlns:a16="http://schemas.microsoft.com/office/drawing/2014/main" val="800993633"/>
                    </a:ext>
                  </a:extLst>
                </a:gridCol>
                <a:gridCol w="992156">
                  <a:extLst>
                    <a:ext uri="{9D8B030D-6E8A-4147-A177-3AD203B41FA5}">
                      <a16:colId xmlns:a16="http://schemas.microsoft.com/office/drawing/2014/main" val="907277223"/>
                    </a:ext>
                  </a:extLst>
                </a:gridCol>
                <a:gridCol w="1406018">
                  <a:extLst>
                    <a:ext uri="{9D8B030D-6E8A-4147-A177-3AD203B41FA5}">
                      <a16:colId xmlns:a16="http://schemas.microsoft.com/office/drawing/2014/main" val="341268983"/>
                    </a:ext>
                  </a:extLst>
                </a:gridCol>
                <a:gridCol w="1884817">
                  <a:extLst>
                    <a:ext uri="{9D8B030D-6E8A-4147-A177-3AD203B41FA5}">
                      <a16:colId xmlns:a16="http://schemas.microsoft.com/office/drawing/2014/main" val="89431549"/>
                    </a:ext>
                  </a:extLst>
                </a:gridCol>
                <a:gridCol w="1638781">
                  <a:extLst>
                    <a:ext uri="{9D8B030D-6E8A-4147-A177-3AD203B41FA5}">
                      <a16:colId xmlns:a16="http://schemas.microsoft.com/office/drawing/2014/main" val="1435740330"/>
                    </a:ext>
                  </a:extLst>
                </a:gridCol>
                <a:gridCol w="1334815">
                  <a:extLst>
                    <a:ext uri="{9D8B030D-6E8A-4147-A177-3AD203B41FA5}">
                      <a16:colId xmlns:a16="http://schemas.microsoft.com/office/drawing/2014/main" val="2483510407"/>
                    </a:ext>
                  </a:extLst>
                </a:gridCol>
              </a:tblGrid>
              <a:tr h="291933">
                <a:tc>
                  <a:txBody>
                    <a:bodyPr/>
                    <a:lstStyle/>
                    <a:p>
                      <a:r>
                        <a:rPr lang="en-US" sz="1400" dirty="0"/>
                        <a:t>Alteration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Oncogenic?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On-label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Clinical 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Off-label (Evidence category)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Allele Frequency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849634"/>
                  </a:ext>
                </a:extLst>
              </a:tr>
              <a:tr h="3920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TMB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Measures mutation/Mb DNA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8,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N/A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376734"/>
                  </a:ext>
                </a:extLst>
              </a:tr>
              <a:tr h="3920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MSI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Measures hypermutability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PD-L1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Measures response to immunotherapy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1% (TPS)</a:t>
                      </a:r>
                    </a:p>
                    <a:p>
                      <a:pPr lvl="0">
                        <a:buNone/>
                      </a:pPr>
                      <a:r>
                        <a:rPr lang="en-US" sz="1400" dirty="0"/>
                        <a:t>1+, 5% (28-8)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Immunotherapy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854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201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1879</TotalTime>
  <Words>621</Words>
  <Application>Microsoft Office PowerPoint</Application>
  <PresentationFormat>Widescreen</PresentationFormat>
  <Paragraphs>118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Montserrat</vt:lpstr>
      <vt:lpstr>Roboto</vt:lpstr>
      <vt:lpstr>Office Theme</vt:lpstr>
      <vt:lpstr>1_Office Theme</vt:lpstr>
      <vt:lpstr>Case 2: KM Dr. J. Miller</vt:lpstr>
      <vt:lpstr>Case 2</vt:lpstr>
      <vt:lpstr>Case 2</vt:lpstr>
      <vt:lpstr>Case 2 Prior: None                                                                                                                                                       Caris Current: None                                   Dx: Mixed Adenocarcinoma/Neuroendocrine Neoplasm of the Lung</vt:lpstr>
      <vt:lpstr>Case 2 Prior: None                                                                                                                                                       Caris Current: None                                   Dx: Mixed Adenocarcinoma/Neuroendocrine Neoplasm of the Lung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Anderson, Abigail M.</dc:creator>
  <cp:lastModifiedBy>Pickarski, Justine C.</cp:lastModifiedBy>
  <cp:revision>257</cp:revision>
  <dcterms:created xsi:type="dcterms:W3CDTF">2024-08-22T13:59:51Z</dcterms:created>
  <dcterms:modified xsi:type="dcterms:W3CDTF">2025-08-04T15:46:35Z</dcterms:modified>
</cp:coreProperties>
</file>