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96" r:id="rId2"/>
    <p:sldId id="314"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36D657-8006-49CD-8231-7958EE4BE547}" v="2" dt="2025-02-25T20:08:15.9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notesMaster" Target="notesMasters/notes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ickarski, Justine C." userId="f5ecb3d6-012c-4e7d-9b3e-883b31b87388" providerId="ADAL" clId="{BB36D657-8006-49CD-8231-7958EE4BE547}"/>
    <pc:docChg chg="addSld modSld">
      <pc:chgData name="Pickarski, Justine C." userId="f5ecb3d6-012c-4e7d-9b3e-883b31b87388" providerId="ADAL" clId="{BB36D657-8006-49CD-8231-7958EE4BE547}" dt="2025-02-25T20:08:48.801" v="5" actId="20577"/>
      <pc:docMkLst>
        <pc:docMk/>
      </pc:docMkLst>
      <pc:sldChg chg="modSp add mod">
        <pc:chgData name="Pickarski, Justine C." userId="f5ecb3d6-012c-4e7d-9b3e-883b31b87388" providerId="ADAL" clId="{BB36D657-8006-49CD-8231-7958EE4BE547}" dt="2025-02-25T20:08:48.801" v="5" actId="20577"/>
        <pc:sldMkLst>
          <pc:docMk/>
          <pc:sldMk cId="366328404" sldId="296"/>
        </pc:sldMkLst>
        <pc:spChg chg="mod">
          <ac:chgData name="Pickarski, Justine C." userId="f5ecb3d6-012c-4e7d-9b3e-883b31b87388" providerId="ADAL" clId="{BB36D657-8006-49CD-8231-7958EE4BE547}" dt="2025-02-25T20:08:48.801" v="5" actId="20577"/>
          <ac:spMkLst>
            <pc:docMk/>
            <pc:sldMk cId="366328404" sldId="296"/>
            <ac:spMk id="2" creationId="{00000000-0000-0000-0000-000000000000}"/>
          </ac:spMkLst>
        </pc:spChg>
      </pc:sldChg>
      <pc:sldChg chg="modSp add mod">
        <pc:chgData name="Pickarski, Justine C." userId="f5ecb3d6-012c-4e7d-9b3e-883b31b87388" providerId="ADAL" clId="{BB36D657-8006-49CD-8231-7958EE4BE547}" dt="2025-02-25T20:08:45.496" v="3" actId="20577"/>
        <pc:sldMkLst>
          <pc:docMk/>
          <pc:sldMk cId="1398029894" sldId="314"/>
        </pc:sldMkLst>
        <pc:spChg chg="mod">
          <ac:chgData name="Pickarski, Justine C." userId="f5ecb3d6-012c-4e7d-9b3e-883b31b87388" providerId="ADAL" clId="{BB36D657-8006-49CD-8231-7958EE4BE547}" dt="2025-02-25T20:08:45.496" v="3" actId="20577"/>
          <ac:spMkLst>
            <pc:docMk/>
            <pc:sldMk cId="1398029894" sldId="314"/>
            <ac:spMk id="4" creationId="{0815422A-619E-D543-83DE-CE4928C1427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76C3F5-C289-42AF-9B2A-ADFDB5F40034}" type="datetimeFigureOut">
              <a:rPr lang="en-US" smtClean="0"/>
              <a:t>2/25/2025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BF6157-24D2-4E8C-91D7-1AAEAAA4FB76}" type="slidenum">
              <a:rPr lang="en-US" smtClean="0"/>
              <a:t>‹#›</a:t>
            </a:fld>
            <a:endParaRPr lang="en-US"/>
          </a:p>
        </p:txBody>
      </p:sp>
    </p:spTree>
    <p:extLst>
      <p:ext uri="{BB962C8B-B14F-4D97-AF65-F5344CB8AC3E}">
        <p14:creationId xmlns:p14="http://schemas.microsoft.com/office/powerpoint/2010/main" val="3736781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BBE1C4-B052-4DB7-9257-F533DCC4081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902327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33333"/>
                </a:solidFill>
                <a:effectLst/>
                <a:highlight>
                  <a:srgbClr val="FFFFFF"/>
                </a:highlight>
                <a:latin typeface="Roboto" panose="02000000000000000000" pitchFamily="2" charset="0"/>
              </a:rPr>
              <a:t>Black bold – in both; red in liquid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333333"/>
              </a:solidFill>
              <a:effectLst/>
              <a:highlight>
                <a:srgbClr val="FFFFFF"/>
              </a:highlight>
              <a:latin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333333"/>
                </a:solidFill>
                <a:effectLst/>
                <a:highlight>
                  <a:srgbClr val="FFFFFF"/>
                </a:highlight>
                <a:latin typeface="Roboto" panose="02000000000000000000" pitchFamily="2" charset="0"/>
              </a:rPr>
              <a:t>30yo female; metastatic colon ca with ovarian </a:t>
            </a:r>
            <a:r>
              <a:rPr lang="en-US" b="0" i="0" dirty="0" err="1">
                <a:solidFill>
                  <a:srgbClr val="333333"/>
                </a:solidFill>
                <a:effectLst/>
                <a:highlight>
                  <a:srgbClr val="FFFFFF"/>
                </a:highlight>
                <a:latin typeface="Roboto" panose="02000000000000000000" pitchFamily="2" charset="0"/>
              </a:rPr>
              <a:t>mets</a:t>
            </a:r>
            <a:r>
              <a:rPr lang="en-US" b="0" i="0" dirty="0">
                <a:solidFill>
                  <a:srgbClr val="333333"/>
                </a:solidFill>
                <a:effectLst/>
                <a:highlight>
                  <a:srgbClr val="FFFFFF"/>
                </a:highlight>
                <a:latin typeface="Roboto" panose="02000000000000000000" pitchFamily="2" charset="0"/>
              </a:rPr>
              <a:t> in Jan 2024; due to peritoneal disease could not do loop colostomy so did ileostomy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000000"/>
              </a:solidFill>
              <a:effectLst/>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00000"/>
                </a:solidFill>
                <a:effectLst/>
                <a:latin typeface="Source Sans Pro" panose="020B0503030403020204" pitchFamily="34" charset="0"/>
              </a:rPr>
              <a:t>Did not tolerate FOLFOX – received one dose. Possibly related to oxaliplatin hyperexcitability syndrome so changed to FOLFIRI; scans show </a:t>
            </a:r>
            <a:r>
              <a:rPr lang="en-US" b="0" i="0" dirty="0" err="1">
                <a:solidFill>
                  <a:srgbClr val="000000"/>
                </a:solidFill>
                <a:effectLst/>
                <a:latin typeface="Source Sans Pro" panose="020B0503030403020204" pitchFamily="34" charset="0"/>
              </a:rPr>
              <a:t>tx</a:t>
            </a:r>
            <a:r>
              <a:rPr lang="en-US" b="0" i="0" dirty="0">
                <a:solidFill>
                  <a:srgbClr val="000000"/>
                </a:solidFill>
                <a:effectLst/>
                <a:latin typeface="Source Sans Pro" panose="020B0503030403020204" pitchFamily="34" charset="0"/>
              </a:rPr>
              <a:t> response; increasing CEA and CA 19-9</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000000"/>
              </a:solidFill>
              <a:effectLst/>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00000"/>
                </a:solidFill>
                <a:effectLst/>
                <a:latin typeface="Source Sans Pro" panose="020B0503030403020204" pitchFamily="34" charset="0"/>
              </a:rPr>
              <a:t>Germline testing in progress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000000"/>
              </a:solidFill>
              <a:effectLst/>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00000"/>
                </a:solidFill>
                <a:effectLst/>
                <a:latin typeface="Source Sans Pro" panose="020B0503030403020204" pitchFamily="34" charset="0"/>
              </a:rPr>
              <a:t>SOC options limited given oxaliplatin intolerance; discuss at MTB due to ATM mut.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000000"/>
              </a:solidFill>
              <a:effectLst/>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00000"/>
                </a:solidFill>
                <a:effectLst/>
                <a:latin typeface="Source Sans Pro" panose="020B0503030403020204" pitchFamily="34" charset="0"/>
              </a:rPr>
              <a:t>ATM: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ffectLst/>
              </a:rPr>
              <a:t>In the TAPUR trial, </a:t>
            </a:r>
            <a:r>
              <a:rPr lang="en-US" dirty="0" err="1">
                <a:effectLst/>
              </a:rPr>
              <a:t>olaparib</a:t>
            </a:r>
            <a:r>
              <a:rPr lang="en-US" dirty="0">
                <a:effectLst/>
              </a:rPr>
              <a:t> monotherapy resulted in an ORR of 4%, with a disease control rate (defined as OR </a:t>
            </a:r>
            <a:r>
              <a:rPr lang="en-US" dirty="0" err="1">
                <a:effectLst/>
              </a:rPr>
              <a:t>or</a:t>
            </a:r>
            <a:r>
              <a:rPr lang="en-US" dirty="0">
                <a:effectLst/>
              </a:rPr>
              <a:t> SD at 16+ weeks) of 23% for patients with advanced colon cancer and an ATM mutation. Median PFS was 8.0 weeks and median OS was 34.3%.; https://ascopubs.org/doi/10.1200/JCO.2023.41.4_suppl.122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00000"/>
                </a:solidFill>
                <a:effectLst/>
                <a:latin typeface="Source Sans Pro" panose="020B0503030403020204" pitchFamily="34" charset="0"/>
              </a:rPr>
              <a:t>Only present in tumor specimen (so likely not CHIP)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1B1B1B"/>
              </a:solidFill>
              <a:effectLst/>
              <a:latin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B1B1B"/>
                </a:solidFill>
                <a:effectLst/>
                <a:latin typeface="Roboto" panose="02000000000000000000" pitchFamily="2" charset="0"/>
              </a:rPr>
              <a:t>NCT04657068</a:t>
            </a:r>
            <a:r>
              <a:rPr lang="en-US" b="0" i="0" dirty="0">
                <a:solidFill>
                  <a:srgbClr val="000000"/>
                </a:solidFill>
                <a:effectLst/>
                <a:latin typeface="Source Sans Pro" panose="020B0503030403020204" pitchFamily="34" charset="0"/>
              </a:rPr>
              <a:t> Tennessee Oncology in Nashville– study of ART0380 – potent and selective inhibitor of ATR – oral cancer agent - </a:t>
            </a:r>
            <a:r>
              <a:rPr lang="en-US" b="0" i="0" dirty="0">
                <a:solidFill>
                  <a:srgbClr val="171716"/>
                </a:solidFill>
                <a:effectLst/>
                <a:latin typeface="Roboto" panose="02000000000000000000" pitchFamily="2" charset="0"/>
              </a:rPr>
              <a:t>A Phase I/</a:t>
            </a:r>
            <a:r>
              <a:rPr lang="en-US" b="0" i="0" dirty="0" err="1">
                <a:solidFill>
                  <a:srgbClr val="171716"/>
                </a:solidFill>
                <a:effectLst/>
                <a:latin typeface="Roboto" panose="02000000000000000000" pitchFamily="2" charset="0"/>
              </a:rPr>
              <a:t>IIa</a:t>
            </a:r>
            <a:r>
              <a:rPr lang="en-US" b="0" i="0" dirty="0">
                <a:solidFill>
                  <a:srgbClr val="171716"/>
                </a:solidFill>
                <a:effectLst/>
                <a:latin typeface="Roboto" panose="02000000000000000000" pitchFamily="2" charset="0"/>
              </a:rPr>
              <a:t>, Open-label, Multi-center Study to Assess the Safety, Tolerability, Pharmacokinetics and Preliminary Efficacy of the ATR Kinase Inhibitor ART0380 Administered Orally as Monotherapy and in Combination to Patients With Advanced or Metastatic Solid Tumors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B1B1B"/>
                </a:solidFill>
                <a:effectLst/>
                <a:latin typeface="Roboto" panose="02000000000000000000" pitchFamily="2" charset="0"/>
              </a:rPr>
              <a:t>NCT05787587</a:t>
            </a:r>
            <a:r>
              <a:rPr lang="en-US" b="0" i="0" dirty="0">
                <a:solidFill>
                  <a:srgbClr val="171716"/>
                </a:solidFill>
                <a:effectLst/>
                <a:latin typeface="Roboto" panose="02000000000000000000" pitchFamily="2" charset="0"/>
              </a:rPr>
              <a:t> Sarah Cannon – </a:t>
            </a:r>
            <a:r>
              <a:rPr lang="en-US" b="0" i="0" dirty="0" err="1">
                <a:solidFill>
                  <a:srgbClr val="171716"/>
                </a:solidFill>
                <a:effectLst/>
                <a:latin typeface="Roboto" panose="02000000000000000000" pitchFamily="2" charset="0"/>
              </a:rPr>
              <a:t>PARGi</a:t>
            </a:r>
            <a:r>
              <a:rPr lang="en-US" b="0" i="0" dirty="0">
                <a:solidFill>
                  <a:srgbClr val="171716"/>
                </a:solidFill>
                <a:effectLst/>
                <a:latin typeface="Roboto" panose="02000000000000000000" pitchFamily="2" charset="0"/>
              </a:rPr>
              <a:t> IDE161 in solid tumors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NCT04983745 (Ph 2) – Germantown TN – niraparib and </a:t>
            </a:r>
            <a:r>
              <a:rPr lang="en-US" sz="1200" dirty="0" err="1"/>
              <a:t>dostarlimab</a:t>
            </a:r>
            <a:r>
              <a:rPr lang="en-US" sz="1200" dirty="0"/>
              <a:t> in HRD solid tumors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NCT05687136 (Ph 1b) – Boston or NCI - </a:t>
            </a:r>
            <a:r>
              <a:rPr lang="en-US" b="0" i="0" dirty="0">
                <a:solidFill>
                  <a:srgbClr val="171716"/>
                </a:solidFill>
                <a:effectLst/>
                <a:latin typeface="Roboto" panose="02000000000000000000" pitchFamily="2" charset="0"/>
              </a:rPr>
              <a:t>A Molecularly Driven Phase 1b Dose Escalation and Dose Expansion Study of the DNA-PK Inhibitor </a:t>
            </a:r>
            <a:r>
              <a:rPr lang="en-US" b="0" i="0" dirty="0" err="1">
                <a:solidFill>
                  <a:srgbClr val="171716"/>
                </a:solidFill>
                <a:effectLst/>
                <a:latin typeface="Roboto" panose="02000000000000000000" pitchFamily="2" charset="0"/>
              </a:rPr>
              <a:t>Peposertib</a:t>
            </a:r>
            <a:r>
              <a:rPr lang="en-US" b="0" i="0" dirty="0">
                <a:solidFill>
                  <a:srgbClr val="171716"/>
                </a:solidFill>
                <a:effectLst/>
                <a:latin typeface="Roboto" panose="02000000000000000000" pitchFamily="2" charset="0"/>
              </a:rPr>
              <a:t> (M3814) in Combination With the ATR Inhibitor M1774</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000000"/>
              </a:solidFill>
              <a:effectLst/>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000000"/>
              </a:solidFill>
              <a:effectLst/>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00000"/>
                </a:solidFill>
                <a:effectLst/>
                <a:latin typeface="Source Sans Pro" panose="020B0503030403020204" pitchFamily="34" charset="0"/>
              </a:rPr>
              <a:t>FGFR3 – this specific rearrangement has not been previously reported or functionally characterized: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000000"/>
                </a:solidFill>
                <a:effectLst/>
                <a:latin typeface="Roboto" panose="02000000000000000000" pitchFamily="2" charset="0"/>
              </a:rPr>
              <a:t>In the single arm, phase 2 RAGNAR study, 217 patients with solid tumors (with FGFR alterations) were treated with erdafitinib, which produced an ORR of 30% and a disease control rate of 74%. (PMID: 37541273).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B1B1B"/>
                </a:solidFill>
                <a:effectLst/>
                <a:latin typeface="Roboto" panose="02000000000000000000" pitchFamily="2" charset="0"/>
              </a:rPr>
              <a:t>NCT05614739</a:t>
            </a:r>
            <a:r>
              <a:rPr lang="en-US" b="0" i="0" dirty="0">
                <a:solidFill>
                  <a:srgbClr val="000000"/>
                </a:solidFill>
                <a:effectLst/>
                <a:latin typeface="Roboto" panose="02000000000000000000" pitchFamily="2" charset="0"/>
              </a:rPr>
              <a:t> – </a:t>
            </a:r>
            <a:r>
              <a:rPr lang="en-US" b="0" i="0" dirty="0" err="1">
                <a:solidFill>
                  <a:srgbClr val="000000"/>
                </a:solidFill>
                <a:effectLst/>
                <a:latin typeface="Roboto" panose="02000000000000000000" pitchFamily="2" charset="0"/>
              </a:rPr>
              <a:t>Tennesse</a:t>
            </a:r>
            <a:r>
              <a:rPr lang="en-US" b="0" i="0" dirty="0">
                <a:solidFill>
                  <a:srgbClr val="000000"/>
                </a:solidFill>
                <a:effectLst/>
                <a:latin typeface="Roboto" panose="02000000000000000000" pitchFamily="2" charset="0"/>
              </a:rPr>
              <a:t> Oncology in Nashville - </a:t>
            </a:r>
            <a:r>
              <a:rPr lang="en-US" b="0" i="0" dirty="0">
                <a:solidFill>
                  <a:srgbClr val="171716"/>
                </a:solidFill>
                <a:effectLst/>
                <a:latin typeface="Roboto" panose="02000000000000000000" pitchFamily="2" charset="0"/>
              </a:rPr>
              <a:t>An Open-Label, Multicenter Study of LOXO-435 (LY3866288) In Advanced </a:t>
            </a:r>
            <a:r>
              <a:rPr lang="en-US" dirty="0"/>
              <a:t>Solid</a:t>
            </a:r>
            <a:r>
              <a:rPr lang="en-US" b="0" i="0" dirty="0">
                <a:solidFill>
                  <a:srgbClr val="171716"/>
                </a:solidFill>
                <a:effectLst/>
                <a:latin typeface="Roboto" panose="02000000000000000000" pitchFamily="2" charset="0"/>
              </a:rPr>
              <a:t> </a:t>
            </a:r>
            <a:r>
              <a:rPr lang="en-US" dirty="0"/>
              <a:t>Tumor</a:t>
            </a:r>
            <a:r>
              <a:rPr lang="en-US" b="0" i="0" dirty="0">
                <a:solidFill>
                  <a:srgbClr val="171716"/>
                </a:solidFill>
                <a:effectLst/>
                <a:latin typeface="Roboto" panose="02000000000000000000" pitchFamily="2" charset="0"/>
              </a:rPr>
              <a:t> </a:t>
            </a:r>
            <a:r>
              <a:rPr lang="en-US" dirty="0"/>
              <a:t>Malignancies</a:t>
            </a:r>
            <a:r>
              <a:rPr lang="en-US" b="0" i="0" dirty="0">
                <a:solidFill>
                  <a:srgbClr val="171716"/>
                </a:solidFill>
                <a:effectLst/>
                <a:latin typeface="Roboto" panose="02000000000000000000" pitchFamily="2" charset="0"/>
              </a:rPr>
              <a:t> With </a:t>
            </a:r>
            <a:r>
              <a:rPr lang="en-US" dirty="0"/>
              <a:t>FGFR3</a:t>
            </a:r>
            <a:r>
              <a:rPr lang="en-US" b="0" i="0" dirty="0">
                <a:solidFill>
                  <a:srgbClr val="171716"/>
                </a:solidFill>
                <a:effectLst/>
                <a:latin typeface="Roboto" panose="02000000000000000000" pitchFamily="2" charset="0"/>
              </a:rPr>
              <a:t> Alterations; LOXO 435 oral FGFR3 inhibitor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B1B1B"/>
                </a:solidFill>
                <a:effectLst/>
                <a:latin typeface="Roboto" panose="02000000000000000000" pitchFamily="2" charset="0"/>
              </a:rPr>
              <a:t>NCT05544552</a:t>
            </a:r>
            <a:r>
              <a:rPr lang="en-US" b="0" i="0" dirty="0">
                <a:solidFill>
                  <a:srgbClr val="171716"/>
                </a:solidFill>
                <a:effectLst/>
                <a:latin typeface="Roboto" panose="02000000000000000000" pitchFamily="2" charset="0"/>
              </a:rPr>
              <a:t> – Vanderbilt  A Multicenter, Open-label Phase 1/2 Study of TYRA300 in Advanced Urothelial Carcinoma and Other </a:t>
            </a:r>
            <a:r>
              <a:rPr lang="en-US" dirty="0"/>
              <a:t>Solid Tumors</a:t>
            </a:r>
            <a:r>
              <a:rPr lang="en-US" b="0" i="0" dirty="0">
                <a:solidFill>
                  <a:srgbClr val="171716"/>
                </a:solidFill>
                <a:effectLst/>
                <a:latin typeface="Roboto" panose="02000000000000000000" pitchFamily="2" charset="0"/>
              </a:rPr>
              <a:t> With Activating </a:t>
            </a:r>
            <a:r>
              <a:rPr lang="en-US" dirty="0"/>
              <a:t>FGFR3 Gene</a:t>
            </a:r>
            <a:r>
              <a:rPr lang="en-US" b="0" i="0" dirty="0">
                <a:solidFill>
                  <a:srgbClr val="171716"/>
                </a:solidFill>
                <a:effectLst/>
                <a:latin typeface="Roboto" panose="02000000000000000000" pitchFamily="2" charset="0"/>
              </a:rPr>
              <a:t> Alterations (SURF301) – oral FGFR3 inhibitor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171716"/>
              </a:solidFill>
              <a:effectLst/>
              <a:latin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171716"/>
                </a:solidFill>
                <a:effectLst/>
                <a:latin typeface="Roboto" panose="02000000000000000000" pitchFamily="2" charset="0"/>
              </a:rPr>
              <a:t>Spencer comments:</a:t>
            </a:r>
            <a:r>
              <a:rPr lang="en-US" b="0" i="0" dirty="0">
                <a:solidFill>
                  <a:srgbClr val="000000"/>
                </a:solidFill>
                <a:effectLst/>
                <a:latin typeface="Source Sans Pro" panose="020B0503030403020204" pitchFamily="34" charset="0"/>
              </a:rPr>
              <a:t> </a:t>
            </a:r>
            <a:r>
              <a:rPr lang="en-US" sz="1800" dirty="0">
                <a:effectLst/>
                <a:latin typeface="Segoe UI" panose="020B0502040204020203" pitchFamily="34" charset="0"/>
              </a:rPr>
              <a:t>Consider targeting FGFR3 fusion after progression on SOC. Patient may be switched to bevacizumab on PD or rechallenged with FOLFOX?</a:t>
            </a:r>
            <a:br>
              <a:rPr lang="en-US" sz="1800" dirty="0">
                <a:effectLst/>
                <a:latin typeface="Segoe UI" panose="020B0502040204020203" pitchFamily="34" charset="0"/>
              </a:rPr>
            </a:br>
            <a:br>
              <a:rPr lang="en-US" sz="1800" dirty="0">
                <a:effectLst/>
                <a:latin typeface="Segoe UI" panose="020B0502040204020203" pitchFamily="34" charset="0"/>
              </a:rPr>
            </a:br>
            <a:r>
              <a:rPr lang="en-US" sz="1800" dirty="0">
                <a:effectLst/>
                <a:latin typeface="Segoe UI" panose="020B0502040204020203" pitchFamily="34" charset="0"/>
              </a:rPr>
              <a:t>FYI: KRAS mutation (but no amplification) is contradicted with </a:t>
            </a:r>
            <a:r>
              <a:rPr lang="en-US" sz="1800" dirty="0" err="1">
                <a:effectLst/>
                <a:latin typeface="Segoe UI" panose="020B0502040204020203" pitchFamily="34" charset="0"/>
              </a:rPr>
              <a:t>EGFRi</a:t>
            </a:r>
            <a:r>
              <a:rPr lang="en-US" sz="1800" dirty="0">
                <a:effectLst/>
                <a:latin typeface="Segoe UI" panose="020B0502040204020203" pitchFamily="34" charset="0"/>
              </a:rPr>
              <a:t> in CRC. Question may come up on whether KRAS amplification will confer </a:t>
            </a:r>
            <a:r>
              <a:rPr lang="en-US" sz="1800" dirty="0" err="1">
                <a:effectLst/>
                <a:latin typeface="Segoe UI" panose="020B0502040204020203" pitchFamily="34" charset="0"/>
              </a:rPr>
              <a:t>EGFRi</a:t>
            </a:r>
            <a:r>
              <a:rPr lang="en-US" sz="1800" dirty="0">
                <a:effectLst/>
                <a:latin typeface="Segoe UI" panose="020B0502040204020203" pitchFamily="34" charset="0"/>
              </a:rPr>
              <a:t> resistance (think there are some studies suggesting so) (for JP – panitumumab is an </a:t>
            </a:r>
            <a:r>
              <a:rPr lang="en-US" sz="1800" dirty="0" err="1">
                <a:effectLst/>
                <a:latin typeface="Segoe UI" panose="020B0502040204020203" pitchFamily="34" charset="0"/>
              </a:rPr>
              <a:t>EGFRi</a:t>
            </a:r>
            <a:r>
              <a:rPr lang="en-US" sz="1800" dirty="0">
                <a:effectLst/>
                <a:latin typeface="Segoe UI" panose="020B0502040204020203" pitchFamily="34" charset="0"/>
              </a:rPr>
              <a:t>)</a:t>
            </a:r>
            <a:endParaRPr lang="en-US" sz="1800" dirty="0">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171716"/>
              </a:solidFill>
              <a:effectLst/>
              <a:latin typeface="Roboto" panose="02000000000000000000" pitchFamily="2"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8B67E8-07AA-2A48-8744-CEDFF400616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013971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0CB71-75EC-39BE-A566-BFFEA817FD3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2021575-E862-9F8F-03C2-0BA95AF8BB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A68CAF-5A37-2C68-2780-BF0FD405B089}"/>
              </a:ext>
            </a:extLst>
          </p:cNvPr>
          <p:cNvSpPr>
            <a:spLocks noGrp="1"/>
          </p:cNvSpPr>
          <p:nvPr>
            <p:ph type="dt" sz="half" idx="10"/>
          </p:nvPr>
        </p:nvSpPr>
        <p:spPr/>
        <p:txBody>
          <a:bodyPr/>
          <a:lstStyle/>
          <a:p>
            <a:fld id="{A1FD5154-B7C5-4BD3-867E-088286761FE2}" type="datetimeFigureOut">
              <a:rPr lang="en-US" smtClean="0"/>
              <a:t>2/25/2025</a:t>
            </a:fld>
            <a:endParaRPr lang="en-US"/>
          </a:p>
        </p:txBody>
      </p:sp>
      <p:sp>
        <p:nvSpPr>
          <p:cNvPr id="5" name="Footer Placeholder 4">
            <a:extLst>
              <a:ext uri="{FF2B5EF4-FFF2-40B4-BE49-F238E27FC236}">
                <a16:creationId xmlns:a16="http://schemas.microsoft.com/office/drawing/2014/main" id="{E1CA72B2-818B-ACC0-232D-2AF6375855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D0B2F7-84E2-9718-0960-243EFA279CEF}"/>
              </a:ext>
            </a:extLst>
          </p:cNvPr>
          <p:cNvSpPr>
            <a:spLocks noGrp="1"/>
          </p:cNvSpPr>
          <p:nvPr>
            <p:ph type="sldNum" sz="quarter" idx="12"/>
          </p:nvPr>
        </p:nvSpPr>
        <p:spPr/>
        <p:txBody>
          <a:bodyPr/>
          <a:lstStyle/>
          <a:p>
            <a:fld id="{9E23054A-B0D0-463A-8904-664A6E49E196}" type="slidenum">
              <a:rPr lang="en-US" smtClean="0"/>
              <a:t>‹#›</a:t>
            </a:fld>
            <a:endParaRPr lang="en-US"/>
          </a:p>
        </p:txBody>
      </p:sp>
    </p:spTree>
    <p:extLst>
      <p:ext uri="{BB962C8B-B14F-4D97-AF65-F5344CB8AC3E}">
        <p14:creationId xmlns:p14="http://schemas.microsoft.com/office/powerpoint/2010/main" val="2653051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B709C-6C84-78BD-1B60-B2FFD14404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FC8600-AEF1-81D3-3F0F-31B4A878E8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2BF6A76-04E6-6CD4-3D80-FF5503C6949B}"/>
              </a:ext>
            </a:extLst>
          </p:cNvPr>
          <p:cNvSpPr>
            <a:spLocks noGrp="1"/>
          </p:cNvSpPr>
          <p:nvPr>
            <p:ph type="dt" sz="half" idx="10"/>
          </p:nvPr>
        </p:nvSpPr>
        <p:spPr/>
        <p:txBody>
          <a:bodyPr/>
          <a:lstStyle/>
          <a:p>
            <a:fld id="{A1FD5154-B7C5-4BD3-867E-088286761FE2}" type="datetimeFigureOut">
              <a:rPr lang="en-US" smtClean="0"/>
              <a:t>2/25/2025</a:t>
            </a:fld>
            <a:endParaRPr lang="en-US"/>
          </a:p>
        </p:txBody>
      </p:sp>
      <p:sp>
        <p:nvSpPr>
          <p:cNvPr id="5" name="Footer Placeholder 4">
            <a:extLst>
              <a:ext uri="{FF2B5EF4-FFF2-40B4-BE49-F238E27FC236}">
                <a16:creationId xmlns:a16="http://schemas.microsoft.com/office/drawing/2014/main" id="{18195CE5-440B-08CA-D88A-2B2D10640A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6E0786-53C9-EB47-ADB8-AD256D8FADF5}"/>
              </a:ext>
            </a:extLst>
          </p:cNvPr>
          <p:cNvSpPr>
            <a:spLocks noGrp="1"/>
          </p:cNvSpPr>
          <p:nvPr>
            <p:ph type="sldNum" sz="quarter" idx="12"/>
          </p:nvPr>
        </p:nvSpPr>
        <p:spPr/>
        <p:txBody>
          <a:bodyPr/>
          <a:lstStyle/>
          <a:p>
            <a:fld id="{9E23054A-B0D0-463A-8904-664A6E49E196}" type="slidenum">
              <a:rPr lang="en-US" smtClean="0"/>
              <a:t>‹#›</a:t>
            </a:fld>
            <a:endParaRPr lang="en-US"/>
          </a:p>
        </p:txBody>
      </p:sp>
    </p:spTree>
    <p:extLst>
      <p:ext uri="{BB962C8B-B14F-4D97-AF65-F5344CB8AC3E}">
        <p14:creationId xmlns:p14="http://schemas.microsoft.com/office/powerpoint/2010/main" val="198423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C656E-DFFA-5D1A-7C7A-FE2AB6C5AC1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42DACB5-F4BA-28C9-E6C2-165D66127DA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547DFD-A01C-FE7C-5DE4-CDD46CD4B1F8}"/>
              </a:ext>
            </a:extLst>
          </p:cNvPr>
          <p:cNvSpPr>
            <a:spLocks noGrp="1"/>
          </p:cNvSpPr>
          <p:nvPr>
            <p:ph type="dt" sz="half" idx="10"/>
          </p:nvPr>
        </p:nvSpPr>
        <p:spPr/>
        <p:txBody>
          <a:bodyPr/>
          <a:lstStyle/>
          <a:p>
            <a:fld id="{A1FD5154-B7C5-4BD3-867E-088286761FE2}" type="datetimeFigureOut">
              <a:rPr lang="en-US" smtClean="0"/>
              <a:t>2/25/2025</a:t>
            </a:fld>
            <a:endParaRPr lang="en-US"/>
          </a:p>
        </p:txBody>
      </p:sp>
      <p:sp>
        <p:nvSpPr>
          <p:cNvPr id="5" name="Footer Placeholder 4">
            <a:extLst>
              <a:ext uri="{FF2B5EF4-FFF2-40B4-BE49-F238E27FC236}">
                <a16:creationId xmlns:a16="http://schemas.microsoft.com/office/drawing/2014/main" id="{68B014C8-ABF0-1DA2-289E-C5C5D247DA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0808EE-0A04-FAFB-C849-A2ECB3695F76}"/>
              </a:ext>
            </a:extLst>
          </p:cNvPr>
          <p:cNvSpPr>
            <a:spLocks noGrp="1"/>
          </p:cNvSpPr>
          <p:nvPr>
            <p:ph type="sldNum" sz="quarter" idx="12"/>
          </p:nvPr>
        </p:nvSpPr>
        <p:spPr/>
        <p:txBody>
          <a:bodyPr/>
          <a:lstStyle/>
          <a:p>
            <a:fld id="{9E23054A-B0D0-463A-8904-664A6E49E196}" type="slidenum">
              <a:rPr lang="en-US" smtClean="0"/>
              <a:t>‹#›</a:t>
            </a:fld>
            <a:endParaRPr lang="en-US"/>
          </a:p>
        </p:txBody>
      </p:sp>
    </p:spTree>
    <p:extLst>
      <p:ext uri="{BB962C8B-B14F-4D97-AF65-F5344CB8AC3E}">
        <p14:creationId xmlns:p14="http://schemas.microsoft.com/office/powerpoint/2010/main" val="1405131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25757-2947-F73E-DA97-58C50105DC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D0475D-F895-126B-1393-E22BCE95B7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890A5D-25E8-5A69-5151-F0B2489120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D25BBC4-D3AB-CE1A-ADA9-1712FB23CACF}"/>
              </a:ext>
            </a:extLst>
          </p:cNvPr>
          <p:cNvSpPr>
            <a:spLocks noGrp="1"/>
          </p:cNvSpPr>
          <p:nvPr>
            <p:ph type="dt" sz="half" idx="10"/>
          </p:nvPr>
        </p:nvSpPr>
        <p:spPr/>
        <p:txBody>
          <a:bodyPr/>
          <a:lstStyle/>
          <a:p>
            <a:fld id="{A1FD5154-B7C5-4BD3-867E-088286761FE2}" type="datetimeFigureOut">
              <a:rPr lang="en-US" smtClean="0"/>
              <a:t>2/25/2025</a:t>
            </a:fld>
            <a:endParaRPr lang="en-US"/>
          </a:p>
        </p:txBody>
      </p:sp>
      <p:sp>
        <p:nvSpPr>
          <p:cNvPr id="6" name="Footer Placeholder 5">
            <a:extLst>
              <a:ext uri="{FF2B5EF4-FFF2-40B4-BE49-F238E27FC236}">
                <a16:creationId xmlns:a16="http://schemas.microsoft.com/office/drawing/2014/main" id="{45D829C8-BBB7-C877-9A31-592020C658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E2C7B0-5552-C97D-F72F-44E76E0E7404}"/>
              </a:ext>
            </a:extLst>
          </p:cNvPr>
          <p:cNvSpPr>
            <a:spLocks noGrp="1"/>
          </p:cNvSpPr>
          <p:nvPr>
            <p:ph type="sldNum" sz="quarter" idx="12"/>
          </p:nvPr>
        </p:nvSpPr>
        <p:spPr/>
        <p:txBody>
          <a:bodyPr/>
          <a:lstStyle/>
          <a:p>
            <a:fld id="{9E23054A-B0D0-463A-8904-664A6E49E196}" type="slidenum">
              <a:rPr lang="en-US" smtClean="0"/>
              <a:t>‹#›</a:t>
            </a:fld>
            <a:endParaRPr lang="en-US"/>
          </a:p>
        </p:txBody>
      </p:sp>
    </p:spTree>
    <p:extLst>
      <p:ext uri="{BB962C8B-B14F-4D97-AF65-F5344CB8AC3E}">
        <p14:creationId xmlns:p14="http://schemas.microsoft.com/office/powerpoint/2010/main" val="3489012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19CC5-72B8-3434-7E69-A78E635FAB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2803CFF-E241-5361-B298-64DCAA909D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36D763-AE2E-4A0A-300E-63F30C820C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0BA5E4-F545-4349-4050-ACF9410565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33BB40-F513-E84C-4A22-FDAC7184E1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F53E55-51FE-5B94-B26A-B02C710C5820}"/>
              </a:ext>
            </a:extLst>
          </p:cNvPr>
          <p:cNvSpPr>
            <a:spLocks noGrp="1"/>
          </p:cNvSpPr>
          <p:nvPr>
            <p:ph type="dt" sz="half" idx="10"/>
          </p:nvPr>
        </p:nvSpPr>
        <p:spPr/>
        <p:txBody>
          <a:bodyPr/>
          <a:lstStyle/>
          <a:p>
            <a:fld id="{A1FD5154-B7C5-4BD3-867E-088286761FE2}" type="datetimeFigureOut">
              <a:rPr lang="en-US" smtClean="0"/>
              <a:t>2/25/2025</a:t>
            </a:fld>
            <a:endParaRPr lang="en-US"/>
          </a:p>
        </p:txBody>
      </p:sp>
      <p:sp>
        <p:nvSpPr>
          <p:cNvPr id="8" name="Footer Placeholder 7">
            <a:extLst>
              <a:ext uri="{FF2B5EF4-FFF2-40B4-BE49-F238E27FC236}">
                <a16:creationId xmlns:a16="http://schemas.microsoft.com/office/drawing/2014/main" id="{381D18F0-2EA2-3368-FBDC-0254381492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5144979-A53E-BBBF-B3AE-73E20B858DBB}"/>
              </a:ext>
            </a:extLst>
          </p:cNvPr>
          <p:cNvSpPr>
            <a:spLocks noGrp="1"/>
          </p:cNvSpPr>
          <p:nvPr>
            <p:ph type="sldNum" sz="quarter" idx="12"/>
          </p:nvPr>
        </p:nvSpPr>
        <p:spPr/>
        <p:txBody>
          <a:bodyPr/>
          <a:lstStyle/>
          <a:p>
            <a:fld id="{9E23054A-B0D0-463A-8904-664A6E49E196}" type="slidenum">
              <a:rPr lang="en-US" smtClean="0"/>
              <a:t>‹#›</a:t>
            </a:fld>
            <a:endParaRPr lang="en-US"/>
          </a:p>
        </p:txBody>
      </p:sp>
    </p:spTree>
    <p:extLst>
      <p:ext uri="{BB962C8B-B14F-4D97-AF65-F5344CB8AC3E}">
        <p14:creationId xmlns:p14="http://schemas.microsoft.com/office/powerpoint/2010/main" val="1255744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46365-AE26-442B-3674-C5C6DACEF5A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2D7A944-84D7-9F77-A38B-F9372CF14686}"/>
              </a:ext>
            </a:extLst>
          </p:cNvPr>
          <p:cNvSpPr>
            <a:spLocks noGrp="1"/>
          </p:cNvSpPr>
          <p:nvPr>
            <p:ph type="dt" sz="half" idx="10"/>
          </p:nvPr>
        </p:nvSpPr>
        <p:spPr/>
        <p:txBody>
          <a:bodyPr/>
          <a:lstStyle/>
          <a:p>
            <a:fld id="{A1FD5154-B7C5-4BD3-867E-088286761FE2}" type="datetimeFigureOut">
              <a:rPr lang="en-US" smtClean="0"/>
              <a:t>2/25/2025</a:t>
            </a:fld>
            <a:endParaRPr lang="en-US"/>
          </a:p>
        </p:txBody>
      </p:sp>
      <p:sp>
        <p:nvSpPr>
          <p:cNvPr id="4" name="Footer Placeholder 3">
            <a:extLst>
              <a:ext uri="{FF2B5EF4-FFF2-40B4-BE49-F238E27FC236}">
                <a16:creationId xmlns:a16="http://schemas.microsoft.com/office/drawing/2014/main" id="{CF43FC91-DFC7-4876-AE10-7C4839C21AF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C988A2F-6045-AAA7-E1C6-7311B0CFD277}"/>
              </a:ext>
            </a:extLst>
          </p:cNvPr>
          <p:cNvSpPr>
            <a:spLocks noGrp="1"/>
          </p:cNvSpPr>
          <p:nvPr>
            <p:ph type="sldNum" sz="quarter" idx="12"/>
          </p:nvPr>
        </p:nvSpPr>
        <p:spPr/>
        <p:txBody>
          <a:bodyPr/>
          <a:lstStyle/>
          <a:p>
            <a:fld id="{9E23054A-B0D0-463A-8904-664A6E49E196}" type="slidenum">
              <a:rPr lang="en-US" smtClean="0"/>
              <a:t>‹#›</a:t>
            </a:fld>
            <a:endParaRPr lang="en-US"/>
          </a:p>
        </p:txBody>
      </p:sp>
    </p:spTree>
    <p:extLst>
      <p:ext uri="{BB962C8B-B14F-4D97-AF65-F5344CB8AC3E}">
        <p14:creationId xmlns:p14="http://schemas.microsoft.com/office/powerpoint/2010/main" val="3845830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5EB84E-997E-9346-5CFF-1D157EBE45A9}"/>
              </a:ext>
            </a:extLst>
          </p:cNvPr>
          <p:cNvSpPr>
            <a:spLocks noGrp="1"/>
          </p:cNvSpPr>
          <p:nvPr>
            <p:ph type="dt" sz="half" idx="10"/>
          </p:nvPr>
        </p:nvSpPr>
        <p:spPr/>
        <p:txBody>
          <a:bodyPr/>
          <a:lstStyle/>
          <a:p>
            <a:fld id="{A1FD5154-B7C5-4BD3-867E-088286761FE2}" type="datetimeFigureOut">
              <a:rPr lang="en-US" smtClean="0"/>
              <a:t>2/25/2025</a:t>
            </a:fld>
            <a:endParaRPr lang="en-US"/>
          </a:p>
        </p:txBody>
      </p:sp>
      <p:sp>
        <p:nvSpPr>
          <p:cNvPr id="3" name="Footer Placeholder 2">
            <a:extLst>
              <a:ext uri="{FF2B5EF4-FFF2-40B4-BE49-F238E27FC236}">
                <a16:creationId xmlns:a16="http://schemas.microsoft.com/office/drawing/2014/main" id="{7921615C-86CE-1FA5-F6E4-99160BE372F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6F1FEF8-C0C2-45B2-7635-E51F71B245F2}"/>
              </a:ext>
            </a:extLst>
          </p:cNvPr>
          <p:cNvSpPr>
            <a:spLocks noGrp="1"/>
          </p:cNvSpPr>
          <p:nvPr>
            <p:ph type="sldNum" sz="quarter" idx="12"/>
          </p:nvPr>
        </p:nvSpPr>
        <p:spPr/>
        <p:txBody>
          <a:bodyPr/>
          <a:lstStyle/>
          <a:p>
            <a:fld id="{9E23054A-B0D0-463A-8904-664A6E49E196}" type="slidenum">
              <a:rPr lang="en-US" smtClean="0"/>
              <a:t>‹#›</a:t>
            </a:fld>
            <a:endParaRPr lang="en-US"/>
          </a:p>
        </p:txBody>
      </p:sp>
    </p:spTree>
    <p:extLst>
      <p:ext uri="{BB962C8B-B14F-4D97-AF65-F5344CB8AC3E}">
        <p14:creationId xmlns:p14="http://schemas.microsoft.com/office/powerpoint/2010/main" val="2010790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A34D1-C72B-A794-0EA9-9D561F16F5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98FF8DE-F88A-3F94-1D11-BA33657676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16CC1F0-7B8E-38BE-072C-E67751F5AA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7EB174-DA60-D22D-38FC-FA8F69118062}"/>
              </a:ext>
            </a:extLst>
          </p:cNvPr>
          <p:cNvSpPr>
            <a:spLocks noGrp="1"/>
          </p:cNvSpPr>
          <p:nvPr>
            <p:ph type="dt" sz="half" idx="10"/>
          </p:nvPr>
        </p:nvSpPr>
        <p:spPr/>
        <p:txBody>
          <a:bodyPr/>
          <a:lstStyle/>
          <a:p>
            <a:fld id="{A1FD5154-B7C5-4BD3-867E-088286761FE2}" type="datetimeFigureOut">
              <a:rPr lang="en-US" smtClean="0"/>
              <a:t>2/25/2025</a:t>
            </a:fld>
            <a:endParaRPr lang="en-US"/>
          </a:p>
        </p:txBody>
      </p:sp>
      <p:sp>
        <p:nvSpPr>
          <p:cNvPr id="6" name="Footer Placeholder 5">
            <a:extLst>
              <a:ext uri="{FF2B5EF4-FFF2-40B4-BE49-F238E27FC236}">
                <a16:creationId xmlns:a16="http://schemas.microsoft.com/office/drawing/2014/main" id="{BA3B2F7B-7117-A8A0-1A3D-B53BCEAF97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BAD554-9B25-5D23-93F6-5F4FBD3FC3D2}"/>
              </a:ext>
            </a:extLst>
          </p:cNvPr>
          <p:cNvSpPr>
            <a:spLocks noGrp="1"/>
          </p:cNvSpPr>
          <p:nvPr>
            <p:ph type="sldNum" sz="quarter" idx="12"/>
          </p:nvPr>
        </p:nvSpPr>
        <p:spPr/>
        <p:txBody>
          <a:bodyPr/>
          <a:lstStyle/>
          <a:p>
            <a:fld id="{9E23054A-B0D0-463A-8904-664A6E49E196}" type="slidenum">
              <a:rPr lang="en-US" smtClean="0"/>
              <a:t>‹#›</a:t>
            </a:fld>
            <a:endParaRPr lang="en-US"/>
          </a:p>
        </p:txBody>
      </p:sp>
    </p:spTree>
    <p:extLst>
      <p:ext uri="{BB962C8B-B14F-4D97-AF65-F5344CB8AC3E}">
        <p14:creationId xmlns:p14="http://schemas.microsoft.com/office/powerpoint/2010/main" val="505894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83CFA-7E6D-ED7E-28E6-9329603845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917959-66E8-5B1A-88D9-990DC97217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52A2984-DDAA-D858-D6A3-BE02CD75AF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8030BA-D205-525E-FD06-281851FED4A0}"/>
              </a:ext>
            </a:extLst>
          </p:cNvPr>
          <p:cNvSpPr>
            <a:spLocks noGrp="1"/>
          </p:cNvSpPr>
          <p:nvPr>
            <p:ph type="dt" sz="half" idx="10"/>
          </p:nvPr>
        </p:nvSpPr>
        <p:spPr/>
        <p:txBody>
          <a:bodyPr/>
          <a:lstStyle/>
          <a:p>
            <a:fld id="{A1FD5154-B7C5-4BD3-867E-088286761FE2}" type="datetimeFigureOut">
              <a:rPr lang="en-US" smtClean="0"/>
              <a:t>2/25/2025</a:t>
            </a:fld>
            <a:endParaRPr lang="en-US"/>
          </a:p>
        </p:txBody>
      </p:sp>
      <p:sp>
        <p:nvSpPr>
          <p:cNvPr id="6" name="Footer Placeholder 5">
            <a:extLst>
              <a:ext uri="{FF2B5EF4-FFF2-40B4-BE49-F238E27FC236}">
                <a16:creationId xmlns:a16="http://schemas.microsoft.com/office/drawing/2014/main" id="{F19EF8A5-F82D-AF73-8D9D-5C0F0F1DDA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63A7879-A3F7-7C92-6B36-6BC2248BFDB2}"/>
              </a:ext>
            </a:extLst>
          </p:cNvPr>
          <p:cNvSpPr>
            <a:spLocks noGrp="1"/>
          </p:cNvSpPr>
          <p:nvPr>
            <p:ph type="sldNum" sz="quarter" idx="12"/>
          </p:nvPr>
        </p:nvSpPr>
        <p:spPr/>
        <p:txBody>
          <a:bodyPr/>
          <a:lstStyle/>
          <a:p>
            <a:fld id="{9E23054A-B0D0-463A-8904-664A6E49E196}" type="slidenum">
              <a:rPr lang="en-US" smtClean="0"/>
              <a:t>‹#›</a:t>
            </a:fld>
            <a:endParaRPr lang="en-US"/>
          </a:p>
        </p:txBody>
      </p:sp>
    </p:spTree>
    <p:extLst>
      <p:ext uri="{BB962C8B-B14F-4D97-AF65-F5344CB8AC3E}">
        <p14:creationId xmlns:p14="http://schemas.microsoft.com/office/powerpoint/2010/main" val="1047185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5BA14-8F1F-F87F-3176-FDBC0E6363C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6767D44-4C71-5493-0563-2DD8DFA701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C1E2FC-8C66-0B83-760A-7C369CFFC3FA}"/>
              </a:ext>
            </a:extLst>
          </p:cNvPr>
          <p:cNvSpPr>
            <a:spLocks noGrp="1"/>
          </p:cNvSpPr>
          <p:nvPr>
            <p:ph type="dt" sz="half" idx="10"/>
          </p:nvPr>
        </p:nvSpPr>
        <p:spPr/>
        <p:txBody>
          <a:bodyPr/>
          <a:lstStyle/>
          <a:p>
            <a:fld id="{A1FD5154-B7C5-4BD3-867E-088286761FE2}" type="datetimeFigureOut">
              <a:rPr lang="en-US" smtClean="0"/>
              <a:t>2/25/2025</a:t>
            </a:fld>
            <a:endParaRPr lang="en-US"/>
          </a:p>
        </p:txBody>
      </p:sp>
      <p:sp>
        <p:nvSpPr>
          <p:cNvPr id="5" name="Footer Placeholder 4">
            <a:extLst>
              <a:ext uri="{FF2B5EF4-FFF2-40B4-BE49-F238E27FC236}">
                <a16:creationId xmlns:a16="http://schemas.microsoft.com/office/drawing/2014/main" id="{A5051FA4-1041-7A29-222C-D0800AE8CA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C00097-8CC8-1453-8AF4-02AF76E2F1A4}"/>
              </a:ext>
            </a:extLst>
          </p:cNvPr>
          <p:cNvSpPr>
            <a:spLocks noGrp="1"/>
          </p:cNvSpPr>
          <p:nvPr>
            <p:ph type="sldNum" sz="quarter" idx="12"/>
          </p:nvPr>
        </p:nvSpPr>
        <p:spPr/>
        <p:txBody>
          <a:bodyPr/>
          <a:lstStyle/>
          <a:p>
            <a:fld id="{9E23054A-B0D0-463A-8904-664A6E49E196}" type="slidenum">
              <a:rPr lang="en-US" smtClean="0"/>
              <a:t>‹#›</a:t>
            </a:fld>
            <a:endParaRPr lang="en-US"/>
          </a:p>
        </p:txBody>
      </p:sp>
    </p:spTree>
    <p:extLst>
      <p:ext uri="{BB962C8B-B14F-4D97-AF65-F5344CB8AC3E}">
        <p14:creationId xmlns:p14="http://schemas.microsoft.com/office/powerpoint/2010/main" val="4014846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722997-0AAC-4807-FC53-A177C36BFED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F1D43A5-1512-5F0B-86AB-B53C54A7D4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97E0EC-45EB-4790-A542-E495CDDF4168}"/>
              </a:ext>
            </a:extLst>
          </p:cNvPr>
          <p:cNvSpPr>
            <a:spLocks noGrp="1"/>
          </p:cNvSpPr>
          <p:nvPr>
            <p:ph type="dt" sz="half" idx="10"/>
          </p:nvPr>
        </p:nvSpPr>
        <p:spPr/>
        <p:txBody>
          <a:bodyPr/>
          <a:lstStyle/>
          <a:p>
            <a:fld id="{A1FD5154-B7C5-4BD3-867E-088286761FE2}" type="datetimeFigureOut">
              <a:rPr lang="en-US" smtClean="0"/>
              <a:t>2/25/2025</a:t>
            </a:fld>
            <a:endParaRPr lang="en-US"/>
          </a:p>
        </p:txBody>
      </p:sp>
      <p:sp>
        <p:nvSpPr>
          <p:cNvPr id="5" name="Footer Placeholder 4">
            <a:extLst>
              <a:ext uri="{FF2B5EF4-FFF2-40B4-BE49-F238E27FC236}">
                <a16:creationId xmlns:a16="http://schemas.microsoft.com/office/drawing/2014/main" id="{766950BD-86A2-D520-E621-D61BD1D457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3EE31-E474-3B4F-0235-811530C373C1}"/>
              </a:ext>
            </a:extLst>
          </p:cNvPr>
          <p:cNvSpPr>
            <a:spLocks noGrp="1"/>
          </p:cNvSpPr>
          <p:nvPr>
            <p:ph type="sldNum" sz="quarter" idx="12"/>
          </p:nvPr>
        </p:nvSpPr>
        <p:spPr/>
        <p:txBody>
          <a:bodyPr/>
          <a:lstStyle/>
          <a:p>
            <a:fld id="{9E23054A-B0D0-463A-8904-664A6E49E196}" type="slidenum">
              <a:rPr lang="en-US" smtClean="0"/>
              <a:t>‹#›</a:t>
            </a:fld>
            <a:endParaRPr lang="en-US"/>
          </a:p>
        </p:txBody>
      </p:sp>
    </p:spTree>
    <p:extLst>
      <p:ext uri="{BB962C8B-B14F-4D97-AF65-F5344CB8AC3E}">
        <p14:creationId xmlns:p14="http://schemas.microsoft.com/office/powerpoint/2010/main" val="866321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9245D8-4B6F-2078-F8E9-803D6510CC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1FD333-F50D-663E-414E-C09D2A25E6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C8AFD5-FD13-B85D-4D49-E6C546B326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1FD5154-B7C5-4BD3-867E-088286761FE2}" type="datetimeFigureOut">
              <a:rPr lang="en-US" smtClean="0"/>
              <a:t>2/25/2025</a:t>
            </a:fld>
            <a:endParaRPr lang="en-US"/>
          </a:p>
        </p:txBody>
      </p:sp>
      <p:sp>
        <p:nvSpPr>
          <p:cNvPr id="5" name="Footer Placeholder 4">
            <a:extLst>
              <a:ext uri="{FF2B5EF4-FFF2-40B4-BE49-F238E27FC236}">
                <a16:creationId xmlns:a16="http://schemas.microsoft.com/office/drawing/2014/main" id="{815AD05D-7B32-B658-2F59-CA3DC6DCD7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F44A83F-EA62-6FBE-2576-D080A85A5E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23054A-B0D0-463A-8904-664A6E49E196}" type="slidenum">
              <a:rPr lang="en-US" smtClean="0"/>
              <a:t>‹#›</a:t>
            </a:fld>
            <a:endParaRPr lang="en-US"/>
          </a:p>
        </p:txBody>
      </p:sp>
    </p:spTree>
    <p:extLst>
      <p:ext uri="{BB962C8B-B14F-4D97-AF65-F5344CB8AC3E}">
        <p14:creationId xmlns:p14="http://schemas.microsoft.com/office/powerpoint/2010/main" val="35121655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0480"/>
            <a:ext cx="8229600" cy="883920"/>
          </a:xfrm>
        </p:spPr>
        <p:txBody>
          <a:bodyPr>
            <a:normAutofit/>
          </a:bodyPr>
          <a:lstStyle/>
          <a:p>
            <a:r>
              <a:rPr lang="en-US"/>
              <a:t>Case 3: </a:t>
            </a:r>
            <a:r>
              <a:rPr lang="en-US" dirty="0"/>
              <a:t>RMA Dr. Patel</a:t>
            </a:r>
          </a:p>
        </p:txBody>
      </p:sp>
      <p:sp>
        <p:nvSpPr>
          <p:cNvPr id="3" name="Content Placeholder 2"/>
          <p:cNvSpPr>
            <a:spLocks noGrp="1"/>
          </p:cNvSpPr>
          <p:nvPr>
            <p:ph idx="1"/>
          </p:nvPr>
        </p:nvSpPr>
        <p:spPr>
          <a:xfrm>
            <a:off x="352425" y="760682"/>
            <a:ext cx="11439525" cy="6035675"/>
          </a:xfrm>
        </p:spPr>
        <p:txBody>
          <a:bodyPr>
            <a:normAutofit lnSpcReduction="10000"/>
          </a:bodyPr>
          <a:lstStyle/>
          <a:p>
            <a:r>
              <a:rPr lang="en-US" sz="1900" dirty="0"/>
              <a:t>30 year old female </a:t>
            </a:r>
          </a:p>
          <a:p>
            <a:r>
              <a:rPr lang="en-US" sz="2000" b="1" dirty="0"/>
              <a:t>Diagnosis: </a:t>
            </a:r>
            <a:r>
              <a:rPr lang="en-US" sz="2000" dirty="0"/>
              <a:t>Poorly differentiated carcinoma of the sigmoid colon w/ mesenteric/peritoneal </a:t>
            </a:r>
            <a:r>
              <a:rPr lang="en-US" sz="2000" dirty="0" err="1"/>
              <a:t>mets</a:t>
            </a:r>
            <a:r>
              <a:rPr lang="en-US" sz="2000" dirty="0"/>
              <a:t>, bilateral ovarian </a:t>
            </a:r>
            <a:r>
              <a:rPr lang="en-US" sz="2000" dirty="0" err="1"/>
              <a:t>mets</a:t>
            </a:r>
            <a:r>
              <a:rPr lang="en-US" sz="2000" dirty="0"/>
              <a:t>, aorta and IMA encasement; Stage IVC, diagnosed 1/2024</a:t>
            </a:r>
            <a:endParaRPr lang="en-US" sz="1900" dirty="0"/>
          </a:p>
          <a:p>
            <a:r>
              <a:rPr lang="en-US" sz="2000" b="1" dirty="0"/>
              <a:t>Other Clinical Information:</a:t>
            </a:r>
          </a:p>
          <a:p>
            <a:pPr lvl="1"/>
            <a:r>
              <a:rPr lang="en-US" sz="1900" dirty="0"/>
              <a:t>ECOG: 0</a:t>
            </a:r>
          </a:p>
          <a:p>
            <a:pPr lvl="1"/>
            <a:r>
              <a:rPr lang="en-US" sz="1900" dirty="0"/>
              <a:t>Hepatic Function: AST 21; ALT 18; ALP 96; T. Bili &lt;0.2 </a:t>
            </a:r>
          </a:p>
          <a:p>
            <a:pPr lvl="1"/>
            <a:r>
              <a:rPr lang="en-US" sz="1900" dirty="0"/>
              <a:t>Renal Function: BUN 10; Cr. 0.40 </a:t>
            </a:r>
          </a:p>
          <a:p>
            <a:pPr lvl="1"/>
            <a:r>
              <a:rPr lang="en-US" sz="1900" dirty="0"/>
              <a:t>Family History: No relevant family history</a:t>
            </a:r>
          </a:p>
          <a:p>
            <a:pPr lvl="1"/>
            <a:r>
              <a:rPr lang="en-US" sz="1900" dirty="0"/>
              <a:t>Comorbidities: None</a:t>
            </a:r>
          </a:p>
          <a:p>
            <a:r>
              <a:rPr lang="en-US" sz="2000" b="1" dirty="0"/>
              <a:t>Oncology History:</a:t>
            </a:r>
          </a:p>
          <a:p>
            <a:pPr lvl="1"/>
            <a:r>
              <a:rPr lang="en-US" sz="1800" dirty="0"/>
              <a:t>Attempted FOLFOX but did not tolerate, only rec’d one dose w/ symptoms of tremors, limb stiffness, difficulty sleeping, fever/night sweats and port infection. </a:t>
            </a:r>
          </a:p>
          <a:p>
            <a:r>
              <a:rPr lang="en-US" sz="2000" b="1" dirty="0"/>
              <a:t>Current Therapy: </a:t>
            </a:r>
          </a:p>
          <a:p>
            <a:pPr lvl="1"/>
            <a:r>
              <a:rPr lang="en-US" sz="1800" dirty="0"/>
              <a:t>3/2024- present: FOLFIRI + panitumumab</a:t>
            </a:r>
          </a:p>
          <a:p>
            <a:r>
              <a:rPr lang="en-US" sz="2000" b="1" dirty="0"/>
              <a:t>Molecular Testing:</a:t>
            </a:r>
          </a:p>
          <a:p>
            <a:pPr lvl="1"/>
            <a:r>
              <a:rPr lang="en-US" sz="1900" dirty="0"/>
              <a:t>Specimen Site: Colon, sigmoid; Collected: 2/2024; Panel: Tempus </a:t>
            </a:r>
            <a:r>
              <a:rPr lang="en-US" sz="1900" dirty="0" err="1"/>
              <a:t>xR</a:t>
            </a:r>
            <a:r>
              <a:rPr lang="en-US" sz="1900" dirty="0"/>
              <a:t>; Dated: 4/2024</a:t>
            </a:r>
          </a:p>
          <a:p>
            <a:pPr lvl="1"/>
            <a:r>
              <a:rPr lang="en-US" sz="1900" dirty="0"/>
              <a:t>Specimen Site: Colon, sigmoid; Collected: 2/2024; Panel: Tempus </a:t>
            </a:r>
            <a:r>
              <a:rPr lang="en-US" sz="1900" dirty="0" err="1"/>
              <a:t>xT</a:t>
            </a:r>
            <a:r>
              <a:rPr lang="en-US" sz="1900" dirty="0"/>
              <a:t>; Dated: 4/2024</a:t>
            </a:r>
          </a:p>
          <a:p>
            <a:pPr lvl="1"/>
            <a:r>
              <a:rPr lang="en-US" sz="1900" dirty="0"/>
              <a:t>Specimen Site: Peripheral blood; Collected: 3/2024; Panel: Tempus </a:t>
            </a:r>
            <a:r>
              <a:rPr lang="en-US" sz="1900" dirty="0" err="1"/>
              <a:t>xF</a:t>
            </a:r>
            <a:r>
              <a:rPr lang="en-US" sz="1900" dirty="0"/>
              <a:t>; Dated: 4/2024</a:t>
            </a:r>
          </a:p>
          <a:p>
            <a:pPr lvl="1"/>
            <a:endParaRPr lang="en-US" sz="1900" dirty="0"/>
          </a:p>
          <a:p>
            <a:pPr lvl="1"/>
            <a:endParaRPr lang="en-US" sz="1900" dirty="0"/>
          </a:p>
          <a:p>
            <a:pPr lvl="1"/>
            <a:endParaRPr lang="en-US" sz="1900" dirty="0"/>
          </a:p>
          <a:p>
            <a:pPr lvl="1"/>
            <a:endParaRPr lang="en-US" sz="1900" dirty="0"/>
          </a:p>
          <a:p>
            <a:pPr lvl="1"/>
            <a:endParaRPr lang="en-US" sz="1900" dirty="0"/>
          </a:p>
          <a:p>
            <a:pPr lvl="1"/>
            <a:endParaRPr lang="en-US" sz="1900" dirty="0"/>
          </a:p>
          <a:p>
            <a:pPr lvl="1"/>
            <a:endParaRPr lang="en-US" sz="1900" dirty="0"/>
          </a:p>
          <a:p>
            <a:pPr lvl="1"/>
            <a:endParaRPr lang="en-US" sz="19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66328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15422A-619E-D543-83DE-CE4928C14273}"/>
              </a:ext>
            </a:extLst>
          </p:cNvPr>
          <p:cNvSpPr>
            <a:spLocks noGrp="1"/>
          </p:cNvSpPr>
          <p:nvPr>
            <p:ph type="title"/>
          </p:nvPr>
        </p:nvSpPr>
        <p:spPr>
          <a:xfrm>
            <a:off x="0" y="32763"/>
            <a:ext cx="10515600" cy="1066800"/>
          </a:xfrm>
        </p:spPr>
        <p:txBody>
          <a:bodyPr/>
          <a:lstStyle/>
          <a:p>
            <a:r>
              <a:rPr lang="en-US" dirty="0"/>
              <a:t>Case #3: RMA</a:t>
            </a:r>
          </a:p>
        </p:txBody>
      </p:sp>
      <p:graphicFrame>
        <p:nvGraphicFramePr>
          <p:cNvPr id="6" name="Content Placeholder 3">
            <a:extLst>
              <a:ext uri="{FF2B5EF4-FFF2-40B4-BE49-F238E27FC236}">
                <a16:creationId xmlns:a16="http://schemas.microsoft.com/office/drawing/2014/main" id="{92F7737C-B177-CC44-A17B-C41AE7A06BAB}"/>
              </a:ext>
            </a:extLst>
          </p:cNvPr>
          <p:cNvGraphicFramePr>
            <a:graphicFrameLocks noGrp="1"/>
          </p:cNvGraphicFramePr>
          <p:nvPr>
            <p:ph idx="1"/>
          </p:nvPr>
        </p:nvGraphicFramePr>
        <p:xfrm>
          <a:off x="217675" y="1649889"/>
          <a:ext cx="11692716" cy="4149415"/>
        </p:xfrm>
        <a:graphic>
          <a:graphicData uri="http://schemas.openxmlformats.org/drawingml/2006/table">
            <a:tbl>
              <a:tblPr firstRow="1" firstCol="1" bandRow="1">
                <a:tableStyleId>{5C22544A-7EE6-4342-B048-85BDC9FD1C3A}</a:tableStyleId>
              </a:tblPr>
              <a:tblGrid>
                <a:gridCol w="1391065">
                  <a:extLst>
                    <a:ext uri="{9D8B030D-6E8A-4147-A177-3AD203B41FA5}">
                      <a16:colId xmlns:a16="http://schemas.microsoft.com/office/drawing/2014/main" val="2737443546"/>
                    </a:ext>
                  </a:extLst>
                </a:gridCol>
                <a:gridCol w="2501316">
                  <a:extLst>
                    <a:ext uri="{9D8B030D-6E8A-4147-A177-3AD203B41FA5}">
                      <a16:colId xmlns:a16="http://schemas.microsoft.com/office/drawing/2014/main" val="1072597485"/>
                    </a:ext>
                  </a:extLst>
                </a:gridCol>
                <a:gridCol w="1340162">
                  <a:extLst>
                    <a:ext uri="{9D8B030D-6E8A-4147-A177-3AD203B41FA5}">
                      <a16:colId xmlns:a16="http://schemas.microsoft.com/office/drawing/2014/main" val="533038368"/>
                    </a:ext>
                  </a:extLst>
                </a:gridCol>
                <a:gridCol w="1377090">
                  <a:extLst>
                    <a:ext uri="{9D8B030D-6E8A-4147-A177-3AD203B41FA5}">
                      <a16:colId xmlns:a16="http://schemas.microsoft.com/office/drawing/2014/main" val="687757647"/>
                    </a:ext>
                  </a:extLst>
                </a:gridCol>
                <a:gridCol w="2094945">
                  <a:extLst>
                    <a:ext uri="{9D8B030D-6E8A-4147-A177-3AD203B41FA5}">
                      <a16:colId xmlns:a16="http://schemas.microsoft.com/office/drawing/2014/main" val="4235599529"/>
                    </a:ext>
                  </a:extLst>
                </a:gridCol>
                <a:gridCol w="2134964">
                  <a:extLst>
                    <a:ext uri="{9D8B030D-6E8A-4147-A177-3AD203B41FA5}">
                      <a16:colId xmlns:a16="http://schemas.microsoft.com/office/drawing/2014/main" val="194372045"/>
                    </a:ext>
                  </a:extLst>
                </a:gridCol>
                <a:gridCol w="853174">
                  <a:extLst>
                    <a:ext uri="{9D8B030D-6E8A-4147-A177-3AD203B41FA5}">
                      <a16:colId xmlns:a16="http://schemas.microsoft.com/office/drawing/2014/main" val="1468733850"/>
                    </a:ext>
                  </a:extLst>
                </a:gridCol>
              </a:tblGrid>
              <a:tr h="512880">
                <a:tc>
                  <a:txBody>
                    <a:bodyPr/>
                    <a:lstStyle/>
                    <a:p>
                      <a:pPr marL="0" marR="0">
                        <a:lnSpc>
                          <a:spcPct val="107000"/>
                        </a:lnSpc>
                        <a:spcBef>
                          <a:spcPts val="0"/>
                        </a:spcBef>
                        <a:spcAft>
                          <a:spcPts val="0"/>
                        </a:spcAft>
                      </a:pPr>
                      <a:r>
                        <a:rPr lang="en-US" sz="1300" dirty="0">
                          <a:effectLst/>
                          <a:latin typeface="Calibri" panose="020F0502020204030204" pitchFamily="34" charset="0"/>
                          <a:cs typeface="Calibri" panose="020F0502020204030204" pitchFamily="34" charset="0"/>
                        </a:rPr>
                        <a:t>Alteration</a:t>
                      </a:r>
                      <a:endParaRPr lang="en-US" sz="13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r>
                        <a:rPr lang="en-US" sz="1300" dirty="0">
                          <a:effectLst/>
                          <a:latin typeface="Calibri" panose="020F0502020204030204" pitchFamily="34" charset="0"/>
                          <a:ea typeface="+mn-ea"/>
                          <a:cs typeface="Calibri" panose="020F0502020204030204" pitchFamily="34" charset="0"/>
                        </a:rPr>
                        <a:t>Function</a:t>
                      </a:r>
                      <a:endParaRPr lang="en-US" sz="13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r>
                        <a:rPr lang="en-US" sz="1300" dirty="0">
                          <a:effectLst/>
                          <a:latin typeface="Calibri" panose="020F0502020204030204" pitchFamily="34" charset="0"/>
                          <a:ea typeface="Calibri" panose="020F0502020204030204" pitchFamily="34" charset="0"/>
                          <a:cs typeface="Calibri" panose="020F0502020204030204" pitchFamily="34" charset="0"/>
                        </a:rPr>
                        <a:t>Oncogenic?</a:t>
                      </a:r>
                      <a:r>
                        <a:rPr lang="en-US" sz="1300" baseline="0" dirty="0">
                          <a:effectLst/>
                          <a:latin typeface="Calibri" panose="020F0502020204030204" pitchFamily="34" charset="0"/>
                          <a:ea typeface="Calibri" panose="020F0502020204030204" pitchFamily="34" charset="0"/>
                          <a:cs typeface="Calibri" panose="020F0502020204030204" pitchFamily="34" charset="0"/>
                        </a:rPr>
                        <a:t> </a:t>
                      </a:r>
                      <a:endParaRPr lang="en-US" sz="13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r>
                        <a:rPr lang="en-US" sz="1300" dirty="0">
                          <a:effectLst/>
                          <a:latin typeface="Calibri" panose="020F0502020204030204" pitchFamily="34" charset="0"/>
                          <a:ea typeface="Calibri" panose="020F0502020204030204" pitchFamily="34" charset="0"/>
                          <a:cs typeface="Calibri" panose="020F0502020204030204" pitchFamily="34" charset="0"/>
                        </a:rPr>
                        <a:t>On Label</a:t>
                      </a:r>
                    </a:p>
                  </a:txBody>
                  <a:tcPr marL="68580" marR="68580" marT="0" marB="0"/>
                </a:tc>
                <a:tc>
                  <a:txBody>
                    <a:bodyPr/>
                    <a:lstStyle/>
                    <a:p>
                      <a:pPr marL="0" marR="0">
                        <a:lnSpc>
                          <a:spcPct val="107000"/>
                        </a:lnSpc>
                        <a:spcBef>
                          <a:spcPts val="0"/>
                        </a:spcBef>
                        <a:spcAft>
                          <a:spcPts val="0"/>
                        </a:spcAft>
                      </a:pPr>
                      <a:r>
                        <a:rPr lang="en-US" sz="1300" dirty="0">
                          <a:effectLst/>
                          <a:latin typeface="Calibri" panose="020F0502020204030204" pitchFamily="34" charset="0"/>
                          <a:ea typeface="Calibri" panose="020F0502020204030204" pitchFamily="34" charset="0"/>
                          <a:cs typeface="Calibri" panose="020F0502020204030204" pitchFamily="34" charset="0"/>
                        </a:rPr>
                        <a:t>Clinical</a:t>
                      </a:r>
                      <a:r>
                        <a:rPr lang="en-US" sz="1300" baseline="0" dirty="0">
                          <a:effectLst/>
                          <a:latin typeface="Calibri" panose="020F0502020204030204" pitchFamily="34" charset="0"/>
                          <a:ea typeface="Calibri" panose="020F0502020204030204" pitchFamily="34" charset="0"/>
                          <a:cs typeface="Calibri" panose="020F0502020204030204" pitchFamily="34" charset="0"/>
                        </a:rPr>
                        <a:t> Trial</a:t>
                      </a:r>
                      <a:endParaRPr lang="en-US" sz="13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r>
                        <a:rPr lang="en-US" sz="1300" dirty="0">
                          <a:effectLst/>
                          <a:latin typeface="Calibri" panose="020F0502020204030204" pitchFamily="34" charset="0"/>
                          <a:ea typeface="Calibri" panose="020F0502020204030204" pitchFamily="34" charset="0"/>
                          <a:cs typeface="Calibri" panose="020F0502020204030204" pitchFamily="34" charset="0"/>
                        </a:rPr>
                        <a:t>Off Label </a:t>
                      </a:r>
                    </a:p>
                    <a:p>
                      <a:pPr marL="0" marR="0">
                        <a:lnSpc>
                          <a:spcPct val="107000"/>
                        </a:lnSpc>
                        <a:spcBef>
                          <a:spcPts val="0"/>
                        </a:spcBef>
                        <a:spcAft>
                          <a:spcPts val="0"/>
                        </a:spcAft>
                      </a:pPr>
                      <a:r>
                        <a:rPr lang="en-US" sz="1300" dirty="0">
                          <a:effectLst/>
                          <a:latin typeface="Calibri" panose="020F0502020204030204" pitchFamily="34" charset="0"/>
                          <a:ea typeface="Calibri" panose="020F0502020204030204" pitchFamily="34" charset="0"/>
                          <a:cs typeface="Calibri" panose="020F0502020204030204" pitchFamily="34" charset="0"/>
                        </a:rPr>
                        <a:t>(Evidence Category)</a:t>
                      </a:r>
                    </a:p>
                  </a:txBody>
                  <a:tcPr marL="68580" marR="68580" marT="0" marB="0"/>
                </a:tc>
                <a:tc>
                  <a:txBody>
                    <a:bodyPr/>
                    <a:lstStyle/>
                    <a:p>
                      <a:pPr marL="0" marR="0">
                        <a:lnSpc>
                          <a:spcPct val="107000"/>
                        </a:lnSpc>
                        <a:spcBef>
                          <a:spcPts val="0"/>
                        </a:spcBef>
                        <a:spcAft>
                          <a:spcPts val="0"/>
                        </a:spcAft>
                      </a:pPr>
                      <a:r>
                        <a:rPr lang="en-US" sz="1300" dirty="0">
                          <a:effectLst/>
                          <a:latin typeface="Calibri" panose="020F0502020204030204" pitchFamily="34" charset="0"/>
                          <a:ea typeface="Calibri" panose="020F0502020204030204" pitchFamily="34" charset="0"/>
                          <a:cs typeface="Calibri" panose="020F0502020204030204" pitchFamily="34" charset="0"/>
                        </a:rPr>
                        <a:t>Variant Frequency</a:t>
                      </a:r>
                    </a:p>
                  </a:txBody>
                  <a:tcPr marL="68580" marR="68580" marT="0" marB="0"/>
                </a:tc>
                <a:extLst>
                  <a:ext uri="{0D108BD9-81ED-4DB2-BD59-A6C34878D82A}">
                    <a16:rowId xmlns:a16="http://schemas.microsoft.com/office/drawing/2014/main" val="2713903021"/>
                  </a:ext>
                </a:extLst>
              </a:tr>
              <a:tr h="510458">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300" baseline="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ATM E28*</a:t>
                      </a:r>
                    </a:p>
                  </a:txBody>
                  <a:tcPr marL="68580" marR="68580" marT="0" marB="0"/>
                </a:tc>
                <a:tc>
                  <a:txBody>
                    <a:bodyPr/>
                    <a:lstStyle/>
                    <a:p>
                      <a:pPr marL="0" marR="0" indent="0" algn="l" defTabSz="914400" rtl="0" eaLnBrk="1" fontAlgn="auto" latinLnBrk="0" hangingPunct="1">
                        <a:lnSpc>
                          <a:spcPct val="107000"/>
                        </a:lnSpc>
                        <a:spcBef>
                          <a:spcPts val="0"/>
                        </a:spcBef>
                        <a:spcAft>
                          <a:spcPts val="0"/>
                        </a:spcAft>
                        <a:buClrTx/>
                        <a:buSzTx/>
                        <a:buFontTx/>
                        <a:buNone/>
                        <a:tabLst/>
                        <a:defRPr/>
                      </a:pPr>
                      <a:r>
                        <a:rPr lang="en-US" sz="1300" b="0" i="0" kern="1200" dirty="0">
                          <a:solidFill>
                            <a:schemeClr val="tx1"/>
                          </a:solidFill>
                          <a:effectLst/>
                          <a:latin typeface="Calibri" panose="020F0502020204030204" pitchFamily="34" charset="0"/>
                          <a:ea typeface="+mn-ea"/>
                          <a:cs typeface="Calibri" panose="020F0502020204030204" pitchFamily="34" charset="0"/>
                        </a:rPr>
                        <a:t>Kinase involved in DNA damage response</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panose="020F0502020204030204" pitchFamily="34" charset="0"/>
                          <a:cs typeface="Calibri" panose="020F0502020204030204" pitchFamily="34" charset="0"/>
                        </a:rPr>
                        <a:t>Likely, LOF</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panose="020F0502020204030204" pitchFamily="34" charset="0"/>
                          <a:cs typeface="Calibri" panose="020F0502020204030204" pitchFamily="34" charset="0"/>
                        </a:rPr>
                        <a:t>None</a:t>
                      </a:r>
                    </a:p>
                  </a:txBody>
                  <a:tcPr marL="68580" marR="68580" marT="0" marB="0"/>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300" b="0" i="0" kern="1200" dirty="0">
                          <a:solidFill>
                            <a:schemeClr val="dk1"/>
                          </a:solidFill>
                          <a:effectLst/>
                          <a:latin typeface="+mn-lt"/>
                          <a:ea typeface="+mn-ea"/>
                          <a:cs typeface="+mn-cs"/>
                        </a:rPr>
                        <a:t>NCT04657068 (Ph 1/2a)</a:t>
                      </a:r>
                    </a:p>
                    <a:p>
                      <a:pPr marL="0" marR="0" lvl="0" indent="0" algn="l" defTabSz="914400" rtl="0" eaLnBrk="1" fontAlgn="auto" latinLnBrk="0" hangingPunct="1">
                        <a:lnSpc>
                          <a:spcPct val="107000"/>
                        </a:lnSpc>
                        <a:spcBef>
                          <a:spcPts val="0"/>
                        </a:spcBef>
                        <a:spcAft>
                          <a:spcPts val="0"/>
                        </a:spcAft>
                        <a:buClrTx/>
                        <a:buSzTx/>
                        <a:buFontTx/>
                        <a:buNone/>
                        <a:tabLst/>
                        <a:defRPr/>
                      </a:pPr>
                      <a:r>
                        <a:rPr lang="en-US" sz="1300" b="0" i="0" kern="1200" dirty="0">
                          <a:solidFill>
                            <a:schemeClr val="dk1"/>
                          </a:solidFill>
                          <a:effectLst/>
                          <a:latin typeface="+mn-lt"/>
                          <a:ea typeface="+mn-ea"/>
                          <a:cs typeface="+mn-cs"/>
                        </a:rPr>
                        <a:t>NCT05787587 (Ph 1)</a:t>
                      </a:r>
                    </a:p>
                    <a:p>
                      <a:pPr marL="0" marR="0" lvl="0" indent="0" algn="l" defTabSz="914400" rtl="0" eaLnBrk="1" fontAlgn="auto" latinLnBrk="0" hangingPunct="1">
                        <a:lnSpc>
                          <a:spcPct val="107000"/>
                        </a:lnSpc>
                        <a:spcBef>
                          <a:spcPts val="0"/>
                        </a:spcBef>
                        <a:spcAft>
                          <a:spcPts val="0"/>
                        </a:spcAft>
                        <a:buClrTx/>
                        <a:buSzTx/>
                        <a:buFontTx/>
                        <a:buNone/>
                        <a:tabLst/>
                        <a:defRPr/>
                      </a:pPr>
                      <a:r>
                        <a:rPr lang="en-US" sz="1300" dirty="0"/>
                        <a:t>NCT04983745 (Ph 2)</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panose="020F0502020204030204" pitchFamily="34" charset="0"/>
                          <a:cs typeface="Calibri" panose="020F0502020204030204" pitchFamily="34" charset="0"/>
                        </a:rPr>
                        <a:t>Olaparib (3)</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panose="020F0502020204030204" pitchFamily="34" charset="0"/>
                          <a:cs typeface="Calibri" panose="020F0502020204030204" pitchFamily="34" charset="0"/>
                        </a:rPr>
                        <a:t>5.4%</a:t>
                      </a:r>
                    </a:p>
                  </a:txBody>
                  <a:tcPr marL="68580" marR="68580" marT="0" marB="0"/>
                </a:tc>
                <a:extLst>
                  <a:ext uri="{0D108BD9-81ED-4DB2-BD59-A6C34878D82A}">
                    <a16:rowId xmlns:a16="http://schemas.microsoft.com/office/drawing/2014/main" val="3288670708"/>
                  </a:ext>
                </a:extLst>
              </a:tr>
              <a:tr h="544446">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300" b="1" baseline="0" dirty="0">
                          <a:solidFill>
                            <a:schemeClr val="bg2">
                              <a:lumMod val="10000"/>
                            </a:schemeClr>
                          </a:solidFill>
                          <a:effectLst/>
                          <a:latin typeface="Calibri" panose="020F0502020204030204" pitchFamily="34" charset="0"/>
                          <a:ea typeface="Calibri" panose="020F0502020204030204" pitchFamily="34" charset="0"/>
                          <a:cs typeface="Calibri" panose="020F0502020204030204" pitchFamily="34" charset="0"/>
                        </a:rPr>
                        <a:t>SMAD4 G352R</a:t>
                      </a:r>
                    </a:p>
                  </a:txBody>
                  <a:tcPr marL="68580" marR="68580" marT="0" marB="0"/>
                </a:tc>
                <a:tc>
                  <a:txBody>
                    <a:bodyPr/>
                    <a:lstStyle/>
                    <a:p>
                      <a:pPr marL="0" marR="0" indent="0" algn="l" defTabSz="914400" rtl="0" eaLnBrk="1" fontAlgn="auto" latinLnBrk="0" hangingPunct="1">
                        <a:lnSpc>
                          <a:spcPct val="107000"/>
                        </a:lnSpc>
                        <a:spcBef>
                          <a:spcPts val="0"/>
                        </a:spcBef>
                        <a:spcAft>
                          <a:spcPts val="0"/>
                        </a:spcAft>
                        <a:buClrTx/>
                        <a:buSzTx/>
                        <a:buFontTx/>
                        <a:buNone/>
                        <a:tabLst/>
                        <a:defRPr/>
                      </a:pPr>
                      <a:r>
                        <a:rPr lang="en-US" sz="1300" b="0" i="0" kern="1200" dirty="0">
                          <a:solidFill>
                            <a:schemeClr val="tx1"/>
                          </a:solidFill>
                          <a:effectLst/>
                          <a:latin typeface="Calibri" panose="020F0502020204030204" pitchFamily="34" charset="0"/>
                          <a:ea typeface="+mn-ea"/>
                          <a:cs typeface="Calibri" panose="020F0502020204030204" pitchFamily="34" charset="0"/>
                        </a:rPr>
                        <a:t>Transcription factor; TGF-B signal pathway</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panose="020F0502020204030204" pitchFamily="34" charset="0"/>
                          <a:cs typeface="Calibri" panose="020F0502020204030204" pitchFamily="34" charset="0"/>
                        </a:rPr>
                        <a:t>Likely, LOF</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panose="020F0502020204030204" pitchFamily="34" charset="0"/>
                          <a:cs typeface="Calibri" panose="020F0502020204030204" pitchFamily="34" charset="0"/>
                        </a:rPr>
                        <a:t>None</a:t>
                      </a:r>
                    </a:p>
                  </a:txBody>
                  <a:tcPr marL="68580" marR="68580" marT="0" marB="0"/>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300" b="0" i="0" kern="1200" dirty="0">
                          <a:solidFill>
                            <a:schemeClr val="dk1"/>
                          </a:solidFill>
                          <a:effectLst/>
                          <a:latin typeface="Calibri" panose="020F0502020204030204" pitchFamily="34" charset="0"/>
                          <a:ea typeface="+mn-ea"/>
                          <a:cs typeface="Calibri" panose="020F0502020204030204" pitchFamily="34" charset="0"/>
                        </a:rPr>
                        <a:t>None</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panose="020F0502020204030204" pitchFamily="34" charset="0"/>
                          <a:cs typeface="Calibri" panose="020F0502020204030204" pitchFamily="34" charset="0"/>
                        </a:rPr>
                        <a:t>None</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panose="020F0502020204030204" pitchFamily="34" charset="0"/>
                          <a:cs typeface="Calibri" panose="020F0502020204030204" pitchFamily="34" charset="0"/>
                        </a:rPr>
                        <a:t>15.9%; </a:t>
                      </a:r>
                      <a:r>
                        <a:rPr lang="en-US" sz="1300" dirty="0">
                          <a:solidFill>
                            <a:srgbClr val="FF0000"/>
                          </a:solidFill>
                          <a:effectLst/>
                          <a:latin typeface="Calibri" panose="020F0502020204030204" pitchFamily="34" charset="0"/>
                          <a:cs typeface="Calibri" panose="020F0502020204030204" pitchFamily="34" charset="0"/>
                        </a:rPr>
                        <a:t>71.9%</a:t>
                      </a: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3529864991"/>
                  </a:ext>
                </a:extLst>
              </a:tr>
              <a:tr h="484218">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300" baseline="0" dirty="0">
                          <a:solidFill>
                            <a:schemeClr val="bg2">
                              <a:lumMod val="10000"/>
                            </a:schemeClr>
                          </a:solidFill>
                          <a:effectLst/>
                          <a:latin typeface="Calibri" panose="020F0502020204030204" pitchFamily="34" charset="0"/>
                          <a:ea typeface="Calibri" panose="020F0502020204030204" pitchFamily="34" charset="0"/>
                          <a:cs typeface="Calibri" panose="020F0502020204030204" pitchFamily="34" charset="0"/>
                        </a:rPr>
                        <a:t>TP53 V143A</a:t>
                      </a:r>
                    </a:p>
                  </a:txBody>
                  <a:tcPr marL="68580" marR="68580" marT="0" marB="0"/>
                </a:tc>
                <a:tc>
                  <a:txBody>
                    <a:bodyPr/>
                    <a:lstStyle/>
                    <a:p>
                      <a:pPr marL="0" marR="0" indent="0" algn="l" defTabSz="914400" rtl="0" eaLnBrk="1" fontAlgn="auto" latinLnBrk="0" hangingPunct="1">
                        <a:lnSpc>
                          <a:spcPct val="107000"/>
                        </a:lnSpc>
                        <a:spcBef>
                          <a:spcPts val="0"/>
                        </a:spcBef>
                        <a:spcAft>
                          <a:spcPts val="0"/>
                        </a:spcAft>
                        <a:buClrTx/>
                        <a:buSzTx/>
                        <a:buFontTx/>
                        <a:buNone/>
                        <a:tabLst/>
                        <a:defRPr/>
                      </a:pPr>
                      <a:r>
                        <a:rPr lang="en-US" sz="1300" b="0" i="0" kern="1200" dirty="0">
                          <a:solidFill>
                            <a:schemeClr val="tx1"/>
                          </a:solidFill>
                          <a:effectLst/>
                          <a:latin typeface="Calibri" panose="020F0502020204030204" pitchFamily="34" charset="0"/>
                          <a:ea typeface="+mn-ea"/>
                          <a:cs typeface="Calibri" panose="020F0502020204030204" pitchFamily="34" charset="0"/>
                        </a:rPr>
                        <a:t>Tumor suppressor; DNA repair and apoptosis</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panose="020F0502020204030204" pitchFamily="34" charset="0"/>
                          <a:cs typeface="Calibri" panose="020F0502020204030204" pitchFamily="34" charset="0"/>
                        </a:rPr>
                        <a:t>Likely, LOF</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panose="020F0502020204030204" pitchFamily="34" charset="0"/>
                          <a:cs typeface="Calibri" panose="020F0502020204030204" pitchFamily="34" charset="0"/>
                        </a:rPr>
                        <a:t>None</a:t>
                      </a:r>
                    </a:p>
                  </a:txBody>
                  <a:tcPr marL="68580" marR="68580" marT="0" marB="0"/>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300" b="0" i="0" kern="1200" dirty="0">
                          <a:solidFill>
                            <a:schemeClr val="dk1"/>
                          </a:solidFill>
                          <a:effectLst/>
                          <a:latin typeface="Calibri" panose="020F0502020204030204" pitchFamily="34" charset="0"/>
                          <a:ea typeface="+mn-ea"/>
                          <a:cs typeface="Calibri" panose="020F0502020204030204" pitchFamily="34" charset="0"/>
                        </a:rPr>
                        <a:t>None</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panose="020F0502020204030204" pitchFamily="34" charset="0"/>
                          <a:cs typeface="Calibri" panose="020F0502020204030204" pitchFamily="34" charset="0"/>
                        </a:rPr>
                        <a:t>None</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panose="020F0502020204030204" pitchFamily="34" charset="0"/>
                          <a:cs typeface="Calibri" panose="020F0502020204030204" pitchFamily="34" charset="0"/>
                        </a:rPr>
                        <a:t>12.6%; </a:t>
                      </a:r>
                      <a:r>
                        <a:rPr lang="en-US" sz="1300" dirty="0">
                          <a:solidFill>
                            <a:srgbClr val="FF0000"/>
                          </a:solidFill>
                          <a:effectLst/>
                          <a:latin typeface="Calibri" panose="020F0502020204030204" pitchFamily="34" charset="0"/>
                          <a:cs typeface="Calibri" panose="020F0502020204030204" pitchFamily="34" charset="0"/>
                        </a:rPr>
                        <a:t>68.8%</a:t>
                      </a:r>
                    </a:p>
                  </a:txBody>
                  <a:tcPr marL="68580" marR="68580" marT="0" marB="0"/>
                </a:tc>
                <a:extLst>
                  <a:ext uri="{0D108BD9-81ED-4DB2-BD59-A6C34878D82A}">
                    <a16:rowId xmlns:a16="http://schemas.microsoft.com/office/drawing/2014/main" val="2722825127"/>
                  </a:ext>
                </a:extLst>
              </a:tr>
              <a:tr h="527371">
                <a:tc>
                  <a:txBody>
                    <a:bodyPr/>
                    <a:lstStyle/>
                    <a:p>
                      <a:pPr marL="0" marR="0">
                        <a:lnSpc>
                          <a:spcPct val="107000"/>
                        </a:lnSpc>
                        <a:spcBef>
                          <a:spcPts val="0"/>
                        </a:spcBef>
                        <a:spcAft>
                          <a:spcPts val="0"/>
                        </a:spcAft>
                      </a:pPr>
                      <a:r>
                        <a:rPr lang="en-US" sz="1300" baseline="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KRAS Copy Number Gain</a:t>
                      </a:r>
                    </a:p>
                  </a:txBody>
                  <a:tcPr marL="68580" marR="68580" marT="0" marB="0"/>
                </a:tc>
                <a:tc>
                  <a:txBody>
                    <a:bodyPr/>
                    <a:lstStyle/>
                    <a:p>
                      <a:pPr marL="0" marR="0" indent="0" algn="l" defTabSz="914400" rtl="0" eaLnBrk="1" fontAlgn="auto" latinLnBrk="0" hangingPunct="1">
                        <a:lnSpc>
                          <a:spcPct val="107000"/>
                        </a:lnSpc>
                        <a:spcBef>
                          <a:spcPts val="0"/>
                        </a:spcBef>
                        <a:spcAft>
                          <a:spcPts val="0"/>
                        </a:spcAft>
                        <a:buClrTx/>
                        <a:buSzTx/>
                        <a:buFontTx/>
                        <a:buNone/>
                        <a:tabLst/>
                        <a:defRPr/>
                      </a:pPr>
                      <a:r>
                        <a:rPr lang="en-US" sz="1300" b="0" i="0" kern="1200" dirty="0">
                          <a:solidFill>
                            <a:schemeClr val="tx1"/>
                          </a:solidFill>
                          <a:effectLst/>
                          <a:latin typeface="Calibri" panose="020F0502020204030204" pitchFamily="34" charset="0"/>
                          <a:ea typeface="+mn-ea"/>
                          <a:cs typeface="Calibri" panose="020F0502020204030204" pitchFamily="34" charset="0"/>
                        </a:rPr>
                        <a:t>GTPase; regulator of MAPK pathway</a:t>
                      </a:r>
                    </a:p>
                  </a:txBody>
                  <a:tcPr marL="68580" marR="68580" marT="0" marB="0"/>
                </a:tc>
                <a:tc>
                  <a:txBody>
                    <a:bodyPr/>
                    <a:lstStyle/>
                    <a:p>
                      <a:pPr marL="0" marR="0">
                        <a:lnSpc>
                          <a:spcPct val="107000"/>
                        </a:lnSpc>
                        <a:spcBef>
                          <a:spcPts val="0"/>
                        </a:spcBef>
                        <a:spcAft>
                          <a:spcPts val="0"/>
                        </a:spcAft>
                      </a:pPr>
                      <a:r>
                        <a:rPr lang="en-US" sz="1300" b="0" dirty="0">
                          <a:solidFill>
                            <a:schemeClr val="tx1"/>
                          </a:solidFill>
                          <a:effectLst/>
                          <a:latin typeface="Calibri" panose="020F0502020204030204" pitchFamily="34" charset="0"/>
                          <a:cs typeface="Calibri" panose="020F0502020204030204" pitchFamily="34" charset="0"/>
                        </a:rPr>
                        <a:t>Likely, GOF</a:t>
                      </a:r>
                    </a:p>
                  </a:txBody>
                  <a:tcPr marL="68580" marR="68580" marT="0" marB="0"/>
                </a:tc>
                <a:tc>
                  <a:txBody>
                    <a:bodyPr/>
                    <a:lstStyle/>
                    <a:p>
                      <a:pPr marL="0" marR="0">
                        <a:lnSpc>
                          <a:spcPct val="107000"/>
                        </a:lnSpc>
                        <a:spcBef>
                          <a:spcPts val="0"/>
                        </a:spcBef>
                        <a:spcAft>
                          <a:spcPts val="0"/>
                        </a:spcAft>
                      </a:pPr>
                      <a:r>
                        <a:rPr lang="en-US" sz="1300" b="0" dirty="0">
                          <a:solidFill>
                            <a:schemeClr val="tx1"/>
                          </a:solidFill>
                          <a:effectLst/>
                          <a:latin typeface="Calibri" panose="020F0502020204030204" pitchFamily="34" charset="0"/>
                          <a:cs typeface="Calibri" panose="020F0502020204030204" pitchFamily="34" charset="0"/>
                        </a:rPr>
                        <a:t>None</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0" i="0" kern="1200" dirty="0">
                          <a:solidFill>
                            <a:schemeClr val="dk1"/>
                          </a:solidFill>
                          <a:effectLst/>
                          <a:latin typeface="Calibri" panose="020F0502020204030204" pitchFamily="34" charset="0"/>
                          <a:ea typeface="+mn-ea"/>
                          <a:cs typeface="Calibri" panose="020F0502020204030204" pitchFamily="34" charset="0"/>
                        </a:rPr>
                        <a:t>None</a:t>
                      </a:r>
                    </a:p>
                  </a:txBody>
                  <a:tcPr marL="68580" marR="68580" marT="0" marB="0"/>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300" dirty="0">
                          <a:solidFill>
                            <a:schemeClr val="tx1"/>
                          </a:solidFill>
                          <a:effectLst/>
                          <a:latin typeface="Calibri" panose="020F0502020204030204" pitchFamily="34" charset="0"/>
                          <a:cs typeface="Calibri" panose="020F0502020204030204" pitchFamily="34" charset="0"/>
                        </a:rPr>
                        <a:t>None</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panose="020F0502020204030204" pitchFamily="34" charset="0"/>
                          <a:cs typeface="Calibri" panose="020F0502020204030204" pitchFamily="34" charset="0"/>
                        </a:rPr>
                        <a:t>N/A</a:t>
                      </a:r>
                    </a:p>
                  </a:txBody>
                  <a:tcPr marL="68580" marR="68580" marT="0" marB="0"/>
                </a:tc>
                <a:extLst>
                  <a:ext uri="{0D108BD9-81ED-4DB2-BD59-A6C34878D82A}">
                    <a16:rowId xmlns:a16="http://schemas.microsoft.com/office/drawing/2014/main" val="829355693"/>
                  </a:ext>
                </a:extLst>
              </a:tr>
              <a:tr h="527371">
                <a:tc>
                  <a:txBody>
                    <a:bodyPr/>
                    <a:lstStyle/>
                    <a:p>
                      <a:pPr marL="0" marR="0">
                        <a:lnSpc>
                          <a:spcPct val="107000"/>
                        </a:lnSpc>
                        <a:spcBef>
                          <a:spcPts val="0"/>
                        </a:spcBef>
                        <a:spcAft>
                          <a:spcPts val="0"/>
                        </a:spcAft>
                      </a:pPr>
                      <a:r>
                        <a:rPr lang="en-US" sz="1300" baseline="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FGFR3-DSP rearrangement</a:t>
                      </a:r>
                    </a:p>
                  </a:txBody>
                  <a:tcPr marL="68580" marR="68580" marT="0" marB="0"/>
                </a:tc>
                <a:tc>
                  <a:txBody>
                    <a:bodyPr/>
                    <a:lstStyle/>
                    <a:p>
                      <a:pPr marL="0" marR="0" indent="0" algn="l" defTabSz="914400" rtl="0" eaLnBrk="1" fontAlgn="auto" latinLnBrk="0" hangingPunct="1">
                        <a:lnSpc>
                          <a:spcPct val="107000"/>
                        </a:lnSpc>
                        <a:spcBef>
                          <a:spcPts val="0"/>
                        </a:spcBef>
                        <a:spcAft>
                          <a:spcPts val="0"/>
                        </a:spcAft>
                        <a:buClrTx/>
                        <a:buSzTx/>
                        <a:buFontTx/>
                        <a:buNone/>
                        <a:tabLst/>
                        <a:defRPr/>
                      </a:pPr>
                      <a:r>
                        <a:rPr lang="en-US" sz="1300" b="0" i="0" kern="1200" dirty="0">
                          <a:solidFill>
                            <a:schemeClr val="tx1"/>
                          </a:solidFill>
                          <a:effectLst/>
                          <a:latin typeface="Calibri" panose="020F0502020204030204" pitchFamily="34" charset="0"/>
                          <a:ea typeface="+mn-ea"/>
                          <a:cs typeface="Calibri" panose="020F0502020204030204" pitchFamily="34" charset="0"/>
                        </a:rPr>
                        <a:t>Receptor tyrosine kinase</a:t>
                      </a:r>
                    </a:p>
                  </a:txBody>
                  <a:tcPr marL="68580" marR="68580" marT="0" marB="0"/>
                </a:tc>
                <a:tc>
                  <a:txBody>
                    <a:bodyPr/>
                    <a:lstStyle/>
                    <a:p>
                      <a:pPr marL="0" marR="0">
                        <a:lnSpc>
                          <a:spcPct val="107000"/>
                        </a:lnSpc>
                        <a:spcBef>
                          <a:spcPts val="0"/>
                        </a:spcBef>
                        <a:spcAft>
                          <a:spcPts val="0"/>
                        </a:spcAft>
                      </a:pPr>
                      <a:r>
                        <a:rPr lang="en-US" sz="1300" b="0" dirty="0">
                          <a:solidFill>
                            <a:schemeClr val="tx1"/>
                          </a:solidFill>
                          <a:effectLst/>
                          <a:latin typeface="Calibri" panose="020F0502020204030204" pitchFamily="34" charset="0"/>
                          <a:cs typeface="Calibri" panose="020F0502020204030204" pitchFamily="34" charset="0"/>
                        </a:rPr>
                        <a:t>Likely</a:t>
                      </a:r>
                    </a:p>
                  </a:txBody>
                  <a:tcPr marL="68580" marR="68580" marT="0" marB="0"/>
                </a:tc>
                <a:tc>
                  <a:txBody>
                    <a:bodyPr/>
                    <a:lstStyle/>
                    <a:p>
                      <a:pPr marL="0" marR="0">
                        <a:lnSpc>
                          <a:spcPct val="107000"/>
                        </a:lnSpc>
                        <a:spcBef>
                          <a:spcPts val="0"/>
                        </a:spcBef>
                        <a:spcAft>
                          <a:spcPts val="0"/>
                        </a:spcAft>
                      </a:pPr>
                      <a:r>
                        <a:rPr lang="en-US" sz="1300" b="0" dirty="0">
                          <a:solidFill>
                            <a:schemeClr val="tx1"/>
                          </a:solidFill>
                          <a:effectLst/>
                          <a:latin typeface="Calibri" panose="020F0502020204030204" pitchFamily="34" charset="0"/>
                          <a:cs typeface="Calibri" panose="020F0502020204030204" pitchFamily="34" charset="0"/>
                        </a:rPr>
                        <a:t>None</a:t>
                      </a:r>
                    </a:p>
                  </a:txBody>
                  <a:tcPr marL="68580" marR="68580" marT="0" marB="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00" b="0" i="0" kern="1200" dirty="0">
                          <a:solidFill>
                            <a:schemeClr val="dk1"/>
                          </a:solidFill>
                          <a:effectLst/>
                          <a:latin typeface="+mn-lt"/>
                          <a:ea typeface="+mn-ea"/>
                          <a:cs typeface="+mn-cs"/>
                        </a:rPr>
                        <a:t>NCT05614739 (Ph1a/b)</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300" b="0" i="0" kern="1200" dirty="0">
                          <a:solidFill>
                            <a:schemeClr val="dk1"/>
                          </a:solidFill>
                          <a:effectLst/>
                          <a:latin typeface="+mn-lt"/>
                          <a:ea typeface="+mn-ea"/>
                          <a:cs typeface="+mn-cs"/>
                        </a:rPr>
                        <a:t>NCT05544552 (Ph1/2)</a:t>
                      </a:r>
                      <a:endParaRPr lang="en-US" sz="1300" b="0" i="0" kern="1200" dirty="0">
                        <a:solidFill>
                          <a:schemeClr val="dk1"/>
                        </a:solidFill>
                        <a:effectLst/>
                        <a:latin typeface="Calibri" panose="020F0502020204030204" pitchFamily="34" charset="0"/>
                        <a:ea typeface="+mn-ea"/>
                        <a:cs typeface="Calibri" panose="020F0502020204030204" pitchFamily="34" charset="0"/>
                      </a:endParaRPr>
                    </a:p>
                  </a:txBody>
                  <a:tcPr marL="68580" marR="68580" marT="0" marB="0"/>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300" dirty="0">
                          <a:solidFill>
                            <a:schemeClr val="tx1"/>
                          </a:solidFill>
                          <a:effectLst/>
                          <a:latin typeface="Calibri" panose="020F0502020204030204" pitchFamily="34" charset="0"/>
                          <a:cs typeface="Calibri" panose="020F0502020204030204" pitchFamily="34" charset="0"/>
                        </a:rPr>
                        <a:t>Erdafitinib (2)</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panose="020F0502020204030204" pitchFamily="34" charset="0"/>
                          <a:cs typeface="Calibri" panose="020F0502020204030204" pitchFamily="34" charset="0"/>
                        </a:rPr>
                        <a:t>N/A</a:t>
                      </a:r>
                    </a:p>
                  </a:txBody>
                  <a:tcPr marL="68580" marR="68580" marT="0" marB="0"/>
                </a:tc>
                <a:extLst>
                  <a:ext uri="{0D108BD9-81ED-4DB2-BD59-A6C34878D82A}">
                    <a16:rowId xmlns:a16="http://schemas.microsoft.com/office/drawing/2014/main" val="4022777489"/>
                  </a:ext>
                </a:extLst>
              </a:tr>
              <a:tr h="277360">
                <a:tc>
                  <a:txBody>
                    <a:bodyPr/>
                    <a:lstStyle/>
                    <a:p>
                      <a:pPr marL="0" marR="0">
                        <a:lnSpc>
                          <a:spcPct val="107000"/>
                        </a:lnSpc>
                        <a:spcBef>
                          <a:spcPts val="0"/>
                        </a:spcBef>
                        <a:spcAft>
                          <a:spcPts val="0"/>
                        </a:spcAft>
                      </a:pPr>
                      <a:r>
                        <a:rPr lang="en-US" sz="1300" baseline="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TMB</a:t>
                      </a:r>
                    </a:p>
                  </a:txBody>
                  <a:tcPr marL="68580" marR="68580" marT="0" marB="0"/>
                </a:tc>
                <a:tc>
                  <a:txBody>
                    <a:bodyPr/>
                    <a:lstStyle/>
                    <a:p>
                      <a:pPr marL="0" marR="0">
                        <a:lnSpc>
                          <a:spcPct val="107000"/>
                        </a:lnSpc>
                        <a:spcBef>
                          <a:spcPts val="0"/>
                        </a:spcBef>
                        <a:spcAft>
                          <a:spcPts val="0"/>
                        </a:spcAft>
                      </a:pPr>
                      <a:r>
                        <a:rPr lang="en-US" sz="1300" b="0" i="0" kern="1200" dirty="0">
                          <a:solidFill>
                            <a:schemeClr val="tx1"/>
                          </a:solidFill>
                          <a:effectLst/>
                          <a:latin typeface="Calibri" panose="020F0502020204030204" pitchFamily="34" charset="0"/>
                          <a:ea typeface="+mn-ea"/>
                          <a:cs typeface="Calibri" panose="020F0502020204030204" pitchFamily="34" charset="0"/>
                        </a:rPr>
                        <a:t>Measures mut/Mb</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panose="020F0502020204030204" pitchFamily="34" charset="0"/>
                          <a:cs typeface="Calibri" panose="020F0502020204030204" pitchFamily="34" charset="0"/>
                        </a:rPr>
                        <a:t>Low (1.1; </a:t>
                      </a:r>
                      <a:r>
                        <a:rPr lang="en-US" sz="1300" dirty="0">
                          <a:solidFill>
                            <a:srgbClr val="FF0000"/>
                          </a:solidFill>
                          <a:effectLst/>
                          <a:latin typeface="Calibri" panose="020F0502020204030204" pitchFamily="34" charset="0"/>
                          <a:cs typeface="Calibri" panose="020F0502020204030204" pitchFamily="34" charset="0"/>
                        </a:rPr>
                        <a:t>8.6)</a:t>
                      </a:r>
                      <a:endParaRPr lang="en-US" sz="1300" dirty="0">
                        <a:solidFill>
                          <a:schemeClr val="tx1"/>
                        </a:solidFill>
                        <a:effectLst/>
                        <a:latin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panose="020F0502020204030204" pitchFamily="34" charset="0"/>
                          <a:cs typeface="Calibri" panose="020F0502020204030204" pitchFamily="34" charset="0"/>
                        </a:rPr>
                        <a:t>None</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panose="020F0502020204030204" pitchFamily="34" charset="0"/>
                          <a:cs typeface="Calibri" panose="020F0502020204030204" pitchFamily="34" charset="0"/>
                        </a:rPr>
                        <a:t>None</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panose="020F0502020204030204" pitchFamily="34" charset="0"/>
                          <a:cs typeface="Calibri" panose="020F0502020204030204" pitchFamily="34" charset="0"/>
                        </a:rPr>
                        <a:t>None</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panose="020F0502020204030204" pitchFamily="34" charset="0"/>
                          <a:cs typeface="Calibri" panose="020F0502020204030204" pitchFamily="34" charset="0"/>
                        </a:rPr>
                        <a:t>N/A</a:t>
                      </a:r>
                    </a:p>
                  </a:txBody>
                  <a:tcPr marL="68580" marR="68580" marT="0" marB="0"/>
                </a:tc>
                <a:extLst>
                  <a:ext uri="{0D108BD9-81ED-4DB2-BD59-A6C34878D82A}">
                    <a16:rowId xmlns:a16="http://schemas.microsoft.com/office/drawing/2014/main" val="3928020501"/>
                  </a:ext>
                </a:extLst>
              </a:tr>
              <a:tr h="398651">
                <a:tc>
                  <a:txBody>
                    <a:bodyPr/>
                    <a:lstStyle/>
                    <a:p>
                      <a:pPr marL="0" marR="0">
                        <a:lnSpc>
                          <a:spcPct val="107000"/>
                        </a:lnSpc>
                        <a:spcBef>
                          <a:spcPts val="0"/>
                        </a:spcBef>
                        <a:spcAft>
                          <a:spcPts val="0"/>
                        </a:spcAft>
                      </a:pPr>
                      <a:r>
                        <a:rPr lang="en-US" sz="1300" baseline="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MSI</a:t>
                      </a:r>
                    </a:p>
                  </a:txBody>
                  <a:tcPr marL="68580" marR="68580" marT="0" marB="0"/>
                </a:tc>
                <a:tc>
                  <a:txBody>
                    <a:bodyPr/>
                    <a:lstStyle/>
                    <a:p>
                      <a:pPr marL="0" marR="0">
                        <a:lnSpc>
                          <a:spcPct val="107000"/>
                        </a:lnSpc>
                        <a:spcBef>
                          <a:spcPts val="0"/>
                        </a:spcBef>
                        <a:spcAft>
                          <a:spcPts val="0"/>
                        </a:spcAft>
                      </a:pPr>
                      <a:r>
                        <a:rPr lang="en-US" sz="1300" b="0" i="0" kern="1200" dirty="0">
                          <a:solidFill>
                            <a:schemeClr val="tx1"/>
                          </a:solidFill>
                          <a:effectLst/>
                          <a:latin typeface="Calibri" panose="020F0502020204030204" pitchFamily="34" charset="0"/>
                          <a:ea typeface="+mn-ea"/>
                          <a:cs typeface="Calibri" panose="020F0502020204030204" pitchFamily="34" charset="0"/>
                        </a:rPr>
                        <a:t>Measures hypermutability </a:t>
                      </a:r>
                    </a:p>
                  </a:txBody>
                  <a:tcPr marL="68580" marR="68580" marT="0" marB="0"/>
                </a:tc>
                <a:tc>
                  <a:txBody>
                    <a:bodyPr/>
                    <a:lstStyle/>
                    <a:p>
                      <a:pPr marL="0" marR="0">
                        <a:lnSpc>
                          <a:spcPct val="107000"/>
                        </a:lnSpc>
                        <a:spcBef>
                          <a:spcPts val="0"/>
                        </a:spcBef>
                        <a:spcAft>
                          <a:spcPts val="0"/>
                        </a:spcAft>
                      </a:pPr>
                      <a:r>
                        <a:rPr lang="en-US" sz="1400" b="1" dirty="0">
                          <a:solidFill>
                            <a:schemeClr val="tx1"/>
                          </a:solidFill>
                          <a:effectLst/>
                          <a:latin typeface="Calibri" panose="020F0502020204030204" pitchFamily="34" charset="0"/>
                          <a:cs typeface="Calibri" panose="020F0502020204030204" pitchFamily="34" charset="0"/>
                        </a:rPr>
                        <a:t>Stable</a:t>
                      </a:r>
                    </a:p>
                  </a:txBody>
                  <a:tcPr marL="68580" marR="68580" marT="0" marB="0"/>
                </a:tc>
                <a:tc>
                  <a:txBody>
                    <a:bodyPr/>
                    <a:lstStyle/>
                    <a:p>
                      <a:pPr marL="0" marR="0" lvl="0" indent="0" algn="l" defTabSz="914400" rtl="0" eaLnBrk="1" fontAlgn="auto" latinLnBrk="0" hangingPunct="1">
                        <a:lnSpc>
                          <a:spcPct val="107000"/>
                        </a:lnSpc>
                        <a:spcBef>
                          <a:spcPts val="0"/>
                        </a:spcBef>
                        <a:spcAft>
                          <a:spcPts val="0"/>
                        </a:spcAft>
                        <a:buClrTx/>
                        <a:buSzTx/>
                        <a:buFontTx/>
                        <a:buNone/>
                        <a:tabLst/>
                        <a:defRPr/>
                      </a:pPr>
                      <a:r>
                        <a:rPr lang="en-US" sz="1300" dirty="0">
                          <a:solidFill>
                            <a:schemeClr val="tx1"/>
                          </a:solidFill>
                          <a:effectLst/>
                          <a:latin typeface="Calibri" panose="020F0502020204030204" pitchFamily="34" charset="0"/>
                          <a:cs typeface="Calibri" panose="020F0502020204030204" pitchFamily="34" charset="0"/>
                        </a:rPr>
                        <a:t>None</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panose="020F0502020204030204" pitchFamily="34" charset="0"/>
                          <a:cs typeface="Calibri" panose="020F0502020204030204" pitchFamily="34" charset="0"/>
                        </a:rPr>
                        <a:t>None</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panose="020F0502020204030204" pitchFamily="34" charset="0"/>
                          <a:cs typeface="Calibri" panose="020F0502020204030204" pitchFamily="34" charset="0"/>
                        </a:rPr>
                        <a:t>None</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panose="020F0502020204030204" pitchFamily="34" charset="0"/>
                          <a:cs typeface="Calibri" panose="020F0502020204030204" pitchFamily="34" charset="0"/>
                        </a:rPr>
                        <a:t>N/A</a:t>
                      </a:r>
                    </a:p>
                  </a:txBody>
                  <a:tcPr marL="68580" marR="68580" marT="0" marB="0"/>
                </a:tc>
                <a:extLst>
                  <a:ext uri="{0D108BD9-81ED-4DB2-BD59-A6C34878D82A}">
                    <a16:rowId xmlns:a16="http://schemas.microsoft.com/office/drawing/2014/main" val="243987886"/>
                  </a:ext>
                </a:extLst>
              </a:tr>
              <a:tr h="250627">
                <a:tc>
                  <a:txBody>
                    <a:bodyPr/>
                    <a:lstStyle/>
                    <a:p>
                      <a:pPr marL="0" marR="0">
                        <a:lnSpc>
                          <a:spcPct val="107000"/>
                        </a:lnSpc>
                        <a:spcBef>
                          <a:spcPts val="0"/>
                        </a:spcBef>
                        <a:spcAft>
                          <a:spcPts val="0"/>
                        </a:spcAft>
                      </a:pPr>
                      <a:r>
                        <a:rPr lang="en-US" sz="1300" baseline="0" dirty="0">
                          <a:solidFill>
                            <a:schemeClr val="bg1"/>
                          </a:solidFill>
                          <a:effectLst/>
                          <a:latin typeface="Calibri" panose="020F0502020204030204" pitchFamily="34" charset="0"/>
                          <a:ea typeface="Calibri" panose="020F0502020204030204" pitchFamily="34" charset="0"/>
                          <a:cs typeface="Calibri" panose="020F0502020204030204" pitchFamily="34" charset="0"/>
                        </a:rPr>
                        <a:t>PD-L1</a:t>
                      </a:r>
                    </a:p>
                  </a:txBody>
                  <a:tcPr marL="68580" marR="68580" marT="0" marB="0"/>
                </a:tc>
                <a:tc>
                  <a:txBody>
                    <a:bodyPr/>
                    <a:lstStyle/>
                    <a:p>
                      <a:pPr marL="0" marR="0">
                        <a:lnSpc>
                          <a:spcPct val="107000"/>
                        </a:lnSpc>
                        <a:spcBef>
                          <a:spcPts val="0"/>
                        </a:spcBef>
                        <a:spcAft>
                          <a:spcPts val="0"/>
                        </a:spcAft>
                      </a:pPr>
                      <a:r>
                        <a:rPr lang="en-US" sz="1300" b="0" i="0" kern="1200" dirty="0">
                          <a:solidFill>
                            <a:schemeClr val="tx1"/>
                          </a:solidFill>
                          <a:effectLst/>
                          <a:latin typeface="Calibri" panose="020F0502020204030204" pitchFamily="34" charset="0"/>
                          <a:ea typeface="+mn-ea"/>
                          <a:cs typeface="Calibri" panose="020F0502020204030204" pitchFamily="34" charset="0"/>
                        </a:rPr>
                        <a:t>Marker for immunotherapy </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panose="020F0502020204030204" pitchFamily="34" charset="0"/>
                          <a:cs typeface="Calibri" panose="020F0502020204030204" pitchFamily="34" charset="0"/>
                        </a:rPr>
                        <a:t>TPS 1%; CPS 5</a:t>
                      </a:r>
                    </a:p>
                  </a:txBody>
                  <a:tcPr marL="68580" marR="68580" marT="0" marB="0"/>
                </a:tc>
                <a:tc>
                  <a:txBody>
                    <a:bodyPr/>
                    <a:lstStyle/>
                    <a:p>
                      <a:pPr marL="0" marR="0">
                        <a:lnSpc>
                          <a:spcPct val="107000"/>
                        </a:lnSpc>
                        <a:spcBef>
                          <a:spcPts val="0"/>
                        </a:spcBef>
                        <a:spcAft>
                          <a:spcPts val="0"/>
                        </a:spcAft>
                      </a:pPr>
                      <a:r>
                        <a:rPr lang="en-US" sz="1300" b="0" dirty="0">
                          <a:solidFill>
                            <a:schemeClr val="tx1"/>
                          </a:solidFill>
                          <a:effectLst/>
                          <a:latin typeface="Calibri" panose="020F0502020204030204" pitchFamily="34" charset="0"/>
                          <a:cs typeface="Calibri" panose="020F0502020204030204" pitchFamily="34" charset="0"/>
                        </a:rPr>
                        <a:t>None</a:t>
                      </a:r>
                    </a:p>
                  </a:txBody>
                  <a:tcPr marL="68580" marR="68580" marT="0" marB="0"/>
                </a:tc>
                <a:tc>
                  <a:txBody>
                    <a:bodyPr/>
                    <a:lstStyle/>
                    <a:p>
                      <a:pPr marL="0" marR="0" indent="0" algn="l" defTabSz="914400" rtl="0" eaLnBrk="1" fontAlgn="auto" latinLnBrk="0" hangingPunct="1">
                        <a:lnSpc>
                          <a:spcPct val="107000"/>
                        </a:lnSpc>
                        <a:spcBef>
                          <a:spcPts val="0"/>
                        </a:spcBef>
                        <a:spcAft>
                          <a:spcPts val="0"/>
                        </a:spcAft>
                        <a:buClrTx/>
                        <a:buSzTx/>
                        <a:buFontTx/>
                        <a:buNone/>
                        <a:tabLst/>
                        <a:defRPr/>
                      </a:pPr>
                      <a:r>
                        <a:rPr lang="en-US" sz="1300" dirty="0">
                          <a:solidFill>
                            <a:schemeClr val="tx1"/>
                          </a:solidFill>
                          <a:effectLst/>
                          <a:latin typeface="Calibri" panose="020F0502020204030204" pitchFamily="34" charset="0"/>
                          <a:cs typeface="Calibri" panose="020F0502020204030204" pitchFamily="34" charset="0"/>
                        </a:rPr>
                        <a:t>None</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panose="020F0502020204030204" pitchFamily="34" charset="0"/>
                          <a:cs typeface="Calibri" panose="020F0502020204030204" pitchFamily="34" charset="0"/>
                        </a:rPr>
                        <a:t>None</a:t>
                      </a:r>
                    </a:p>
                  </a:txBody>
                  <a:tcPr marL="68580" marR="68580" marT="0" marB="0"/>
                </a:tc>
                <a:tc>
                  <a:txBody>
                    <a:bodyPr/>
                    <a:lstStyle/>
                    <a:p>
                      <a:pPr marL="0" marR="0">
                        <a:lnSpc>
                          <a:spcPct val="107000"/>
                        </a:lnSpc>
                        <a:spcBef>
                          <a:spcPts val="0"/>
                        </a:spcBef>
                        <a:spcAft>
                          <a:spcPts val="0"/>
                        </a:spcAft>
                      </a:pPr>
                      <a:r>
                        <a:rPr lang="en-US" sz="1300" dirty="0">
                          <a:solidFill>
                            <a:schemeClr val="tx1"/>
                          </a:solidFill>
                          <a:effectLst/>
                          <a:latin typeface="Calibri" panose="020F0502020204030204" pitchFamily="34" charset="0"/>
                          <a:cs typeface="Calibri" panose="020F0502020204030204" pitchFamily="34" charset="0"/>
                        </a:rPr>
                        <a:t>N/A</a:t>
                      </a:r>
                    </a:p>
                  </a:txBody>
                  <a:tcPr marL="68580" marR="68580" marT="0" marB="0"/>
                </a:tc>
                <a:extLst>
                  <a:ext uri="{0D108BD9-81ED-4DB2-BD59-A6C34878D82A}">
                    <a16:rowId xmlns:a16="http://schemas.microsoft.com/office/drawing/2014/main" val="530063641"/>
                  </a:ext>
                </a:extLst>
              </a:tr>
            </a:tbl>
          </a:graphicData>
        </a:graphic>
      </p:graphicFrame>
      <p:sp>
        <p:nvSpPr>
          <p:cNvPr id="7" name="TextBox 6">
            <a:extLst>
              <a:ext uri="{FF2B5EF4-FFF2-40B4-BE49-F238E27FC236}">
                <a16:creationId xmlns:a16="http://schemas.microsoft.com/office/drawing/2014/main" id="{C4559FBA-58C7-0042-9D38-F37A6CDDA450}"/>
              </a:ext>
            </a:extLst>
          </p:cNvPr>
          <p:cNvSpPr txBox="1"/>
          <p:nvPr/>
        </p:nvSpPr>
        <p:spPr>
          <a:xfrm>
            <a:off x="181232" y="848133"/>
            <a:ext cx="1201076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Prior treatments: FOLFOX (1 dose)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Current treatments: FOLFIRI + Panitumumab</a:t>
            </a:r>
          </a:p>
        </p:txBody>
      </p:sp>
      <p:sp>
        <p:nvSpPr>
          <p:cNvPr id="8" name="TextBox 7">
            <a:extLst>
              <a:ext uri="{FF2B5EF4-FFF2-40B4-BE49-F238E27FC236}">
                <a16:creationId xmlns:a16="http://schemas.microsoft.com/office/drawing/2014/main" id="{4AC315EE-6C21-6D42-8460-D237A949B798}"/>
              </a:ext>
            </a:extLst>
          </p:cNvPr>
          <p:cNvSpPr txBox="1"/>
          <p:nvPr/>
        </p:nvSpPr>
        <p:spPr>
          <a:xfrm>
            <a:off x="5433392" y="32763"/>
            <a:ext cx="6676770" cy="120032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Poorly differentiated colon carcinoma</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Tempus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xT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xR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IHC: 3/2024</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Tempus </a:t>
            </a:r>
            <a:r>
              <a:rPr kumimoji="0" lang="en-US" sz="1800" b="0" i="0" u="none" strike="noStrike" kern="1200" cap="none" spc="0" normalizeH="0" baseline="0" noProof="0" dirty="0" err="1">
                <a:ln>
                  <a:noFill/>
                </a:ln>
                <a:solidFill>
                  <a:srgbClr val="FF0000"/>
                </a:solidFill>
                <a:effectLst/>
                <a:uLnTx/>
                <a:uFillTx/>
                <a:latin typeface="Calibri" panose="020F0502020204030204"/>
                <a:ea typeface="+mn-ea"/>
                <a:cs typeface="+mn-cs"/>
              </a:rPr>
              <a:t>xF</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 3/2024 </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Specimen:  Sigmoid colon, 2/2024</a:t>
            </a:r>
          </a:p>
        </p:txBody>
      </p:sp>
      <p:sp>
        <p:nvSpPr>
          <p:cNvPr id="2" name="TextBox 1">
            <a:extLst>
              <a:ext uri="{FF2B5EF4-FFF2-40B4-BE49-F238E27FC236}">
                <a16:creationId xmlns:a16="http://schemas.microsoft.com/office/drawing/2014/main" id="{D83927DF-B9BD-8139-9CF0-2F3483C5CF63}"/>
              </a:ext>
            </a:extLst>
          </p:cNvPr>
          <p:cNvSpPr txBox="1"/>
          <p:nvPr/>
        </p:nvSpPr>
        <p:spPr>
          <a:xfrm>
            <a:off x="5364806" y="6178906"/>
            <a:ext cx="6745356" cy="64633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 potential germline variants on tumor/normal matched analysis; Validated germline testing negative</a:t>
            </a:r>
          </a:p>
        </p:txBody>
      </p:sp>
    </p:spTree>
    <p:extLst>
      <p:ext uri="{BB962C8B-B14F-4D97-AF65-F5344CB8AC3E}">
        <p14:creationId xmlns:p14="http://schemas.microsoft.com/office/powerpoint/2010/main" val="13980298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904</Words>
  <Application>Microsoft Office PowerPoint</Application>
  <PresentationFormat>Widescreen</PresentationFormat>
  <Paragraphs>127</Paragraphs>
  <Slides>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Arial</vt:lpstr>
      <vt:lpstr>Calibri</vt:lpstr>
      <vt:lpstr>Calibri Light</vt:lpstr>
      <vt:lpstr>Roboto</vt:lpstr>
      <vt:lpstr>Segoe UI</vt:lpstr>
      <vt:lpstr>Source Sans Pro</vt:lpstr>
      <vt:lpstr>Office Theme</vt:lpstr>
      <vt:lpstr>Case 3: RMA Dr. Patel</vt:lpstr>
      <vt:lpstr>Case #3: RMA</vt:lpstr>
    </vt:vector>
  </TitlesOfParts>
  <Company>University of Kentucky HealthCare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3: RMA Dr. Patel</dc:title>
  <dc:creator>Pickarski, Justine C.</dc:creator>
  <cp:lastModifiedBy>Pickarski, Justine C.</cp:lastModifiedBy>
  <cp:revision>1</cp:revision>
  <dcterms:created xsi:type="dcterms:W3CDTF">2025-02-25T20:08:02Z</dcterms:created>
  <dcterms:modified xsi:type="dcterms:W3CDTF">2025-02-25T20:08:50Z</dcterms:modified>
</cp:coreProperties>
</file>