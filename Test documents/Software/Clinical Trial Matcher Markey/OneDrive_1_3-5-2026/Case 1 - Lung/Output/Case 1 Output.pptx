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18" r:id="rId2"/>
    <p:sldId id="32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ACC4F-13B6-42A0-9A9E-E6F2D621979B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F35108-2A82-4939-B647-74D6D52CC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531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BE1C4-B052-4DB7-9257-F533DCC408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232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97CA-59AD-3C8A-7D43-F29DEBF32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29CAF-FD2F-F485-B2E3-E7338A40A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2BDBC-503C-9AC3-884D-09767B1E7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8AD7C-957D-4D97-BE79-4B972FB1532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BFB5-AADA-131A-EB17-53668F11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A4A6E-2A86-AEBD-343E-11FAA1EA2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6336-C0BB-4BA1-9A0E-C8F3166D3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1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BC015-AB29-C1DD-1969-926051247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37B64-77DC-17B5-0AB5-B6981FBD9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61C44-67D3-6CDD-A303-C38F36C25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8AD7C-957D-4D97-BE79-4B972FB1532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BE3D8-6352-7789-3A1D-96603C25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E96B3-A43B-3E81-291E-7017F1565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6336-C0BB-4BA1-9A0E-C8F3166D3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901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3D0A-C80F-3618-F632-6B07405A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F9368-897D-FE98-5146-463440C74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8AF85-929D-E021-5530-F5641DF8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8AD7C-957D-4D97-BE79-4B972FB1532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F6A0A-7852-207C-09CF-7CDB37B2B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63BDB-57FF-33A4-55FF-74C9B4A29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6336-C0BB-4BA1-9A0E-C8F3166D3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418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D903-569C-2C5B-9208-74544FA7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EC1F2-B095-26E0-E413-B9587B547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DF14C-F51C-4AC0-78BC-B96172FE0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080AC-4C6F-AEB5-E0A4-E3601169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8AD7C-957D-4D97-BE79-4B972FB1532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97ADC-2BF6-3E1C-11A1-D1840F4F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1C143-9719-9B77-B71C-A2D56102E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6336-C0BB-4BA1-9A0E-C8F3166D3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06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18B5-4827-F401-B07A-51F41BCB3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7AB22-C3B6-72B4-B710-321377FF4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A5044-63ED-1DAD-940F-1AC74AD74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898F00-1246-3F31-2DE8-21D714AB0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8D09E0-84C2-4083-E109-E0EAA05D8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AD8C73-6B7D-FC39-7AEC-21648AB32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8AD7C-957D-4D97-BE79-4B972FB1532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63CEFF-5BAB-4AFF-5649-C4A250246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0E1082-D595-2640-5B2B-ECDF3296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6336-C0BB-4BA1-9A0E-C8F3166D3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8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88331-EF8B-B935-2CCD-DFCF151D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1F97F0-49D7-13FA-4B42-41A9F21A1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8AD7C-957D-4D97-BE79-4B972FB1532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95284D-E573-A621-930F-4511ED7A5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D3F57-39B2-A2FD-5456-283357AB9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6336-C0BB-4BA1-9A0E-C8F3166D3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75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8FC160-713C-4EFB-D82C-57F046360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8AD7C-957D-4D97-BE79-4B972FB1532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7DF02-9CA9-68F3-4EE5-51188F16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D3DE9-B520-BFE1-0706-C97A3BC33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6336-C0BB-4BA1-9A0E-C8F3166D3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11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CADD2-7B8E-38CA-5D8A-CC7BBC0F3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505A9-3749-DE07-2A9F-0918B810C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417DB-0898-CD75-2447-C3ADC7D14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A1478-57F1-DC00-204C-2F3E608C8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8AD7C-957D-4D97-BE79-4B972FB1532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031BC-D648-A168-1E36-F5EB6074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3D875-73E7-1604-ADC9-D67A88CF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6336-C0BB-4BA1-9A0E-C8F3166D3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61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5F8BE-630D-96E2-BBBC-B0D7917C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D7FC6A-BFDC-7A1B-754B-8DC0379EB8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4A282-FE01-DDD8-090A-4BAFFB541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FE94B-CB69-9D0A-7FC9-8EE5C8EC9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8AD7C-957D-4D97-BE79-4B972FB1532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7E1E3-CEC1-1D2B-DAF2-E2095D9B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08674-F1FA-7325-D320-1F162593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6336-C0BB-4BA1-9A0E-C8F3166D3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4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6980D-1B23-BF94-4F8E-F15352D4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7DA9A-F0C3-034C-BE17-928671243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29D51-4AA0-024C-C509-F75071C06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8AD7C-957D-4D97-BE79-4B972FB1532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DA6AE-B7CB-16CA-848D-2499DE95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534B9-B803-43BE-7DA0-30E9088F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6336-C0BB-4BA1-9A0E-C8F3166D3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89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839489-3834-62E9-0209-2C5BC59DCE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FFE0E-1AE9-8203-75ED-255452AB1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EDEAF-96D9-DDD8-3681-31A1D4286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8AD7C-957D-4D97-BE79-4B972FB1532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DE07A-42D2-8EBA-74F8-E36B50AD0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79ED7-4C8A-FA14-6682-59541D0DF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6336-C0BB-4BA1-9A0E-C8F3166D3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4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1F38B3-BB29-BD67-3F47-6F9A76944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209CE-33EE-1DD0-7C99-687D972A6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11B6A-F88E-6288-FAFA-6DE76AC55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8AD7C-957D-4D97-BE79-4B972FB1532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73591-0A41-4E47-F151-636B0B3EE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16B15-6ECD-259C-CA64-181A445C8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26336-C0BB-4BA1-9A0E-C8F3166D3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39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"/>
            <a:ext cx="8229600" cy="88392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Case 1: BR Dr. Arnold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425" y="760682"/>
            <a:ext cx="11439525" cy="6035675"/>
          </a:xfrm>
        </p:spPr>
        <p:txBody>
          <a:bodyPr>
            <a:normAutofit fontScale="92500" lnSpcReduction="10000"/>
          </a:bodyPr>
          <a:lstStyle/>
          <a:p>
            <a:r>
              <a:rPr lang="en-US" sz="1900" dirty="0"/>
              <a:t> 44 year old male</a:t>
            </a:r>
          </a:p>
          <a:p>
            <a:r>
              <a:rPr lang="en-US" sz="2000" b="1" dirty="0"/>
              <a:t>Diagnosis: </a:t>
            </a:r>
            <a:r>
              <a:rPr lang="en-US" sz="1900" dirty="0"/>
              <a:t>Stage IVB adenocarcinoma of the bronchus; recent hospitalization for COVID and COVID pneumonia and AHRF 2/2 new malignant pleural effusion</a:t>
            </a:r>
          </a:p>
          <a:p>
            <a:r>
              <a:rPr lang="en-US" sz="2000" b="1" dirty="0"/>
              <a:t>Other Clinical Information:</a:t>
            </a:r>
          </a:p>
          <a:p>
            <a:pPr lvl="1"/>
            <a:r>
              <a:rPr lang="en-US" sz="1800" dirty="0"/>
              <a:t>Performance Status: 1</a:t>
            </a:r>
          </a:p>
          <a:p>
            <a:pPr lvl="1"/>
            <a:r>
              <a:rPr lang="en-US" sz="1800" dirty="0"/>
              <a:t>Hepatic Function: AST 20; ALT 17; ALP 85; T. Bili 0.3; T. Protein 6.5; Albumin 3.5</a:t>
            </a:r>
          </a:p>
          <a:p>
            <a:pPr lvl="1"/>
            <a:r>
              <a:rPr lang="en-US" sz="1800" dirty="0"/>
              <a:t>Renal Function: BUN 17; Cr. 0.97  </a:t>
            </a:r>
          </a:p>
          <a:p>
            <a:pPr lvl="1"/>
            <a:r>
              <a:rPr lang="en-US" sz="1800" dirty="0"/>
              <a:t>Family History: No family history of cancer</a:t>
            </a:r>
          </a:p>
          <a:p>
            <a:pPr lvl="1"/>
            <a:r>
              <a:rPr lang="en-US" sz="1800" dirty="0"/>
              <a:t>Comorbidities:  Hypothyroidism, hyperlipidemia, </a:t>
            </a:r>
            <a:r>
              <a:rPr lang="en-US" sz="1800" dirty="0" err="1"/>
              <a:t>hx</a:t>
            </a:r>
            <a:r>
              <a:rPr lang="en-US" sz="1800" dirty="0"/>
              <a:t> of pulmonary embolism </a:t>
            </a:r>
          </a:p>
          <a:p>
            <a:r>
              <a:rPr lang="en-US" sz="2000" b="1" dirty="0"/>
              <a:t>Prior Therapy:</a:t>
            </a:r>
          </a:p>
          <a:p>
            <a:pPr lvl="1"/>
            <a:r>
              <a:rPr lang="en-US" sz="1800" dirty="0"/>
              <a:t>12/2021: 1 cycle pembrolizumab </a:t>
            </a:r>
          </a:p>
          <a:p>
            <a:pPr lvl="1"/>
            <a:r>
              <a:rPr lang="en-US" sz="1800" dirty="0"/>
              <a:t>1/2022: Switched to </a:t>
            </a:r>
            <a:r>
              <a:rPr lang="en-US" sz="1800" dirty="0" err="1"/>
              <a:t>alectinib</a:t>
            </a:r>
            <a:r>
              <a:rPr lang="en-US" sz="1800" dirty="0"/>
              <a:t> for 15 months, then progressed in lungs, bone, nodes, but with stable brain </a:t>
            </a:r>
            <a:r>
              <a:rPr lang="en-US" sz="1800" dirty="0" err="1"/>
              <a:t>mets</a:t>
            </a:r>
            <a:endParaRPr lang="en-US" sz="1800" dirty="0"/>
          </a:p>
          <a:p>
            <a:pPr lvl="1"/>
            <a:r>
              <a:rPr lang="en-US" sz="1800" dirty="0"/>
              <a:t>5/2023: Began </a:t>
            </a:r>
            <a:r>
              <a:rPr lang="en-US" sz="1800" dirty="0" err="1"/>
              <a:t>lorlatinib</a:t>
            </a:r>
            <a:r>
              <a:rPr lang="en-US" sz="1800" dirty="0"/>
              <a:t>, then progressed in pleura in 12/2024</a:t>
            </a:r>
          </a:p>
          <a:p>
            <a:pPr lvl="1"/>
            <a:r>
              <a:rPr lang="en-US" sz="1800" dirty="0"/>
              <a:t>5/2023: C7 Vertebral Body: 800 </a:t>
            </a:r>
            <a:r>
              <a:rPr lang="en-US" sz="1800" dirty="0" err="1"/>
              <a:t>cGy</a:t>
            </a:r>
            <a:r>
              <a:rPr lang="en-US" sz="1800" dirty="0"/>
              <a:t> in 1 fraction via 3D-CRT using 18X photons</a:t>
            </a:r>
          </a:p>
          <a:p>
            <a:r>
              <a:rPr lang="en-US" sz="2000" b="1" dirty="0"/>
              <a:t>Planned Therapy:</a:t>
            </a:r>
          </a:p>
          <a:p>
            <a:pPr lvl="1"/>
            <a:r>
              <a:rPr lang="en-US" sz="1800" dirty="0"/>
              <a:t>Being seen at Sarah Cannon for possible trial of 4th generation </a:t>
            </a:r>
            <a:r>
              <a:rPr lang="en-US" sz="1800" dirty="0" err="1"/>
              <a:t>ALKi</a:t>
            </a:r>
            <a:endParaRPr lang="en-US" sz="1800" dirty="0"/>
          </a:p>
          <a:p>
            <a:pPr lvl="1"/>
            <a:r>
              <a:rPr lang="en-US" sz="1800" dirty="0"/>
              <a:t>Specific question:  With development of a resistance mutation along with the EML4-ALK fusion (ALK L1196Q) and prior exposure to </a:t>
            </a:r>
            <a:r>
              <a:rPr lang="en-US" sz="1800" dirty="0" err="1"/>
              <a:t>alectinib</a:t>
            </a:r>
            <a:r>
              <a:rPr lang="en-US" sz="1800" dirty="0"/>
              <a:t> and </a:t>
            </a:r>
            <a:r>
              <a:rPr lang="en-US" sz="1800" dirty="0" err="1"/>
              <a:t>lorlatinib</a:t>
            </a:r>
            <a:r>
              <a:rPr lang="en-US" sz="1800" dirty="0"/>
              <a:t>, would anyone recommend </a:t>
            </a:r>
            <a:r>
              <a:rPr lang="en-US" sz="1800" dirty="0" err="1"/>
              <a:t>brigatinib</a:t>
            </a:r>
            <a:r>
              <a:rPr lang="en-US" sz="1800" dirty="0"/>
              <a:t> at this point? Or switch to chemotherapy </a:t>
            </a:r>
          </a:p>
          <a:p>
            <a:r>
              <a:rPr lang="en-US" sz="2000" b="1" dirty="0"/>
              <a:t>Molecular Testing:</a:t>
            </a:r>
          </a:p>
          <a:p>
            <a:pPr lvl="1"/>
            <a:r>
              <a:rPr lang="en-US" sz="1800" dirty="0"/>
              <a:t>Specimen Site: Blood; Collected: 1/2025; Panel: Guardant360 </a:t>
            </a:r>
            <a:r>
              <a:rPr lang="en-US" sz="1800" dirty="0" err="1"/>
              <a:t>CDx</a:t>
            </a:r>
            <a:r>
              <a:rPr lang="en-US" sz="1800" dirty="0"/>
              <a:t>; Dated: 1/2025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0819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98DB9-9FEC-2D91-31D1-203E46CF2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A640F-ABDD-F61B-3788-AF8F1A2F6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812115-F2DF-9445-ACA2-1264720C6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368462" cy="695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16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</Words>
  <Application>Microsoft Office PowerPoint</Application>
  <PresentationFormat>Widescreen</PresentationFormat>
  <Paragraphs>30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Case 1: BR Dr. Arnold</vt:lpstr>
      <vt:lpstr>PowerPoint Presentation</vt:lpstr>
    </vt:vector>
  </TitlesOfParts>
  <Company>University of Kentucky HealthCare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1: BR Dr. Arnold</dc:title>
  <dc:creator>Pickarski, Justine C.</dc:creator>
  <cp:lastModifiedBy>Pickarski, Justine C.</cp:lastModifiedBy>
  <cp:revision>1</cp:revision>
  <dcterms:created xsi:type="dcterms:W3CDTF">2025-02-25T19:46:46Z</dcterms:created>
  <dcterms:modified xsi:type="dcterms:W3CDTF">2025-02-25T19:47:39Z</dcterms:modified>
</cp:coreProperties>
</file>