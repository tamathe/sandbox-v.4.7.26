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"/>
  </p:notesMasterIdLst>
  <p:sldIdLst>
    <p:sldId id="324" r:id="rId3"/>
    <p:sldId id="334" r:id="rId4"/>
    <p:sldId id="27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82695" autoAdjust="0"/>
  </p:normalViewPr>
  <p:slideViewPr>
    <p:cSldViewPr snapToGrid="0">
      <p:cViewPr varScale="1">
        <p:scale>
          <a:sx n="79" d="100"/>
          <a:sy n="79" d="100"/>
        </p:scale>
        <p:origin x="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ckarski, Justine C." userId="f5ecb3d6-012c-4e7d-9b3e-883b31b87388" providerId="ADAL" clId="{776B79B6-B52B-4731-BCB5-470E0F4D5253}"/>
    <pc:docChg chg="delSld">
      <pc:chgData name="Pickarski, Justine C." userId="f5ecb3d6-012c-4e7d-9b3e-883b31b87388" providerId="ADAL" clId="{776B79B6-B52B-4731-BCB5-470E0F4D5253}" dt="2025-08-04T15:35:28.796" v="1" actId="47"/>
      <pc:docMkLst>
        <pc:docMk/>
      </pc:docMkLst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1146570685" sldId="260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1836879126" sldId="261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995071796" sldId="262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801631586" sldId="263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1564872402" sldId="264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070535885" sldId="265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94236340" sldId="266"/>
        </pc:sldMkLst>
      </pc:sldChg>
      <pc:sldChg chg="del">
        <pc:chgData name="Pickarski, Justine C." userId="f5ecb3d6-012c-4e7d-9b3e-883b31b87388" providerId="ADAL" clId="{776B79B6-B52B-4731-BCB5-470E0F4D5253}" dt="2025-08-04T15:35:28.796" v="1" actId="47"/>
        <pc:sldMkLst>
          <pc:docMk/>
          <pc:sldMk cId="3484894560" sldId="267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1931729288" sldId="268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207737651" sldId="269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3954595602" sldId="275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224502507" sldId="277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139741748" sldId="279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939221434" sldId="300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1040819033" sldId="318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1562460790" sldId="319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3350981178" sldId="320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955403937" sldId="321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3625958221" sldId="322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900485213" sldId="323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272928662" sldId="325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1846283176" sldId="326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40800521" sldId="328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701987243" sldId="329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683688459" sldId="330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3478486087" sldId="331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2513164568" sldId="332"/>
        </pc:sldMkLst>
      </pc:sldChg>
      <pc:sldChg chg="del">
        <pc:chgData name="Pickarski, Justine C." userId="f5ecb3d6-012c-4e7d-9b3e-883b31b87388" providerId="ADAL" clId="{776B79B6-B52B-4731-BCB5-470E0F4D5253}" dt="2025-08-04T15:35:26.844" v="0" actId="47"/>
        <pc:sldMkLst>
          <pc:docMk/>
          <pc:sldMk cId="746602051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7669E-087B-4212-92A2-DBE657C0EF2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495FC-F78D-47DF-834A-606FC237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BE1C4-B052-4DB7-9257-F533DCC408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632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9B33-60FF-BA2F-F0F9-9539309E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F00C2-A7CC-0ED2-ABA5-69FC41C67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B3FDD-BABC-50E7-6E2E-6C9DCB746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IIb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CHF, </a:t>
            </a:r>
            <a:r>
              <a:rPr lang="en-US" dirty="0" err="1"/>
              <a:t>afib</a:t>
            </a:r>
            <a:r>
              <a:rPr lang="en-US" dirty="0"/>
              <a:t> on Eliquis,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myasthenia gravis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NFE2L2 Y576H VUS</a:t>
            </a:r>
            <a:endParaRPr lang="en-US" sz="1800" b="0" i="0" u="none" strike="noStrike" baseline="0" dirty="0"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u="none" strike="noStrike" baseline="0" dirty="0">
                <a:latin typeface="Arial" panose="020B0604020202020204" pitchFamily="34" charset="0"/>
              </a:rPr>
              <a:t>HER2 negative 1+ </a:t>
            </a:r>
          </a:p>
          <a:p>
            <a:endParaRPr lang="en-US" dirty="0"/>
          </a:p>
          <a:p>
            <a:r>
              <a:rPr lang="en-US" dirty="0"/>
              <a:t>MET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NCT04270591 (Ph 1b/2): </a:t>
            </a:r>
            <a:r>
              <a:rPr lang="en-US" sz="1200" dirty="0" err="1"/>
              <a:t>glumetinib</a:t>
            </a:r>
            <a:r>
              <a:rPr lang="en-US" sz="1200" dirty="0"/>
              <a:t> (selective </a:t>
            </a:r>
            <a:r>
              <a:rPr lang="en-US" sz="1200" dirty="0" err="1"/>
              <a:t>METi</a:t>
            </a:r>
            <a:r>
              <a:rPr lang="en-US" sz="1200" dirty="0"/>
              <a:t>), NSCLC w/ Met alterations (Met amp GCN &gt;4, MET IHC 2+), closest in Louisville (preliminary, 4 MET overexpressed NSCL (1 PR, 3 SD)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NCT03175224 (Ph 1/2): APL-101 (</a:t>
            </a:r>
            <a:r>
              <a:rPr lang="en-US" sz="1200" dirty="0" err="1"/>
              <a:t>cMETi</a:t>
            </a:r>
            <a:r>
              <a:rPr lang="en-US" sz="1200" dirty="0"/>
              <a:t>), Cohort F (MET overexpression, unknown cutoff), closest in SCRI or Ohio State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NCT04693468 (Ph 1b): </a:t>
            </a:r>
            <a:r>
              <a:rPr lang="en-US" sz="1200" dirty="0" err="1"/>
              <a:t>Talazoparib</a:t>
            </a:r>
            <a:r>
              <a:rPr lang="en-US" sz="1200" dirty="0"/>
              <a:t> + </a:t>
            </a:r>
            <a:r>
              <a:rPr lang="en-US" sz="1200" dirty="0" err="1"/>
              <a:t>Crizotinib</a:t>
            </a:r>
            <a:r>
              <a:rPr lang="en-US" sz="1200" dirty="0"/>
              <a:t>, Arm C (MET defects, unknown cutoff), only MDACC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NCT06083857 (Ph 1/2): </a:t>
            </a:r>
            <a:r>
              <a:rPr lang="en-US" sz="1200" dirty="0" err="1"/>
              <a:t>amivantamab</a:t>
            </a:r>
            <a:r>
              <a:rPr lang="en-US" sz="1200" dirty="0"/>
              <a:t> + </a:t>
            </a:r>
            <a:r>
              <a:rPr lang="en-US" sz="1200" dirty="0" err="1"/>
              <a:t>tepotinib</a:t>
            </a:r>
            <a:r>
              <a:rPr lang="en-US" sz="1200" dirty="0"/>
              <a:t>, MET skipping, amp, overexpression IHC 3+, MDACC only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KRAS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NCT06586515 (1a/b): LY3962673 (GDP-bound KRAS G12Di) +/- chemo or </a:t>
            </a:r>
            <a:r>
              <a:rPr lang="en-US" sz="1200" dirty="0" err="1"/>
              <a:t>cetux</a:t>
            </a:r>
            <a:r>
              <a:rPr lang="en-US" sz="1200" dirty="0"/>
              <a:t>, KRAS G12D solid tumors, SCRI, Cincy, Indianapolis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NCT05382559 (Ph 1): </a:t>
            </a:r>
            <a:r>
              <a:rPr lang="en-US" b="0" i="0" dirty="0">
                <a:solidFill>
                  <a:srgbClr val="171716"/>
                </a:solidFill>
                <a:effectLst/>
                <a:latin typeface="Roboto" panose="02000000000000000000" pitchFamily="2" charset="0"/>
              </a:rPr>
              <a:t>ASP3082</a:t>
            </a:r>
            <a:r>
              <a:rPr lang="en-US" sz="1200" b="0" i="0" dirty="0">
                <a:solidFill>
                  <a:srgbClr val="171716"/>
                </a:solidFill>
                <a:effectLst/>
                <a:latin typeface="Roboto" panose="02000000000000000000" pitchFamily="2" charset="0"/>
              </a:rPr>
              <a:t> (KRAS G12D PROTAC-degrader) +/- cetuximab, KRAS G12D solid tumors, SCRI or Cleveland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NCT06040541 (Ph 1/1b): </a:t>
            </a:r>
            <a:r>
              <a:rPr lang="en-US" sz="1200" b="0" i="0" dirty="0">
                <a:solidFill>
                  <a:srgbClr val="171716"/>
                </a:solidFill>
                <a:effectLst/>
                <a:latin typeface="Roboto" panose="02000000000000000000" pitchFamily="2" charset="0"/>
              </a:rPr>
              <a:t>RMC-9805 (RAS-</a:t>
            </a:r>
            <a:r>
              <a:rPr lang="en-US" sz="1200" b="0" i="0" dirty="0" err="1">
                <a:solidFill>
                  <a:srgbClr val="171716"/>
                </a:solidFill>
                <a:effectLst/>
                <a:latin typeface="Roboto" panose="02000000000000000000" pitchFamily="2" charset="0"/>
              </a:rPr>
              <a:t>ONi</a:t>
            </a:r>
            <a:r>
              <a:rPr lang="en-US" sz="1200" b="0" i="0" dirty="0">
                <a:solidFill>
                  <a:srgbClr val="171716"/>
                </a:solidFill>
                <a:effectLst/>
                <a:latin typeface="Roboto" panose="02000000000000000000" pitchFamily="2" charset="0"/>
              </a:rPr>
              <a:t>), KRAS G12D solid tumors, SCRI or Cincy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NCT05585320 (Ph 1/2a): IMM-1-104 (MEK 1/2i), pan-KRAS, SCRI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NCT06385925 (Ph 1/2): TSN1611 (KRAS G12Di), KRAS G12D solid tumors including </a:t>
            </a:r>
            <a:r>
              <a:rPr lang="en-US" sz="1200" dirty="0" err="1"/>
              <a:t>nsclc</a:t>
            </a:r>
            <a:r>
              <a:rPr lang="en-US" sz="1200" dirty="0"/>
              <a:t>, closest in Fairfax 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3595D-17A3-4029-1551-19BF83D05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CEC7ED-A473-4D8E-9BC7-B22B3BEAF3C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874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ED01-8390-4DF0-9793-F4688872F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7FBC0-C313-44AE-9A18-4953143D1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DF00E-03CF-498A-BB47-C66E2BAC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F37B0-3ED4-4F98-916B-420B8826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730E-4D53-4E55-91B8-D070321E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8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65451-FB46-47FF-8D5A-2B33D697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8EC3-74BF-44FF-ABED-987EDF62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12D66-E32F-48F5-9CC5-749F475D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C5503-FAD8-4F04-8CAC-42827050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F3F69-328D-4D49-9879-344C10DAA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0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D371-4097-4E41-ADF7-163C4EE4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41A97-7FC3-4657-844D-6B6948C66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E8F14-05B6-4A48-AF14-FCAF42F8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ABD68-2787-4D31-AA81-14FA15C9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29D8-3E0E-4F81-AC1E-1627F07D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7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57EE-F7D5-451C-B7AC-A5E7081C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2247-D29B-455D-853C-ECD9D5396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67B2E-4CE5-4E59-BAB1-F8CA79CC2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448F-2F68-4967-BC78-95A97FE5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98AF-BB52-4E69-B12B-74B5C318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8047B-7B96-4350-BBB9-B6DF1CBB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18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FC33-263B-4FE9-945E-50804421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D6499-23FF-429B-A282-07C0F549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CBFC5-BC7E-401E-AF41-277061B6F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E3FC8-7997-4875-97E7-42F75ADA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9ADE6-5497-4F57-88B0-EB6B35457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3920C7-7BAE-4357-B66C-DBA6CC13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41C24-154D-4A3E-87CF-09C7E7AF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48F5F-CC2B-4370-A679-E5317F0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3614-5BED-4433-B12B-8F640B3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D54256-5589-4F24-8F1B-C9B7AE46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639EA-2E71-42D9-BD8A-1ACE2877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71B4A-C87B-4A0A-9857-DEA4DD3E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7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4BBAA-61D3-4F36-9194-A17BFB4A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E1B18-E277-4CC0-8449-B00FE507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31665-6D11-4351-B9F7-E1ABCFAF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2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B048-42E0-4609-A4FD-F07C6926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5ECD-6267-4093-BD68-7590FC98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871CD-1F15-4FB6-BA67-27F4043F7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77D70-6FE2-4B90-80E1-5D2AC389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FD505-0993-4DC7-8E1F-38689305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FDC09-1B2B-47E8-942C-2E3DB5BE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0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3329-6E09-4178-B29C-FC9C6187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056A7-945F-4884-A359-6DE30888E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857F9-A63B-4670-A011-CB28D7009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936D-8001-46BA-BDC9-0E871D4C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F0CC-E6D6-4947-A98D-78755F18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53B80-4103-4856-B003-D1C0FE93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0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B918-98B8-4A07-AFC4-6E6FC614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82788-9794-458C-9B2A-2E9F8DDA2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9DA0A-A483-428E-BDE2-6823D3E0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F543-6D8B-4935-9EEA-191C90B9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B9CA-9B64-4C88-A56A-571170B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8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A60A0E-9ADB-4B61-B929-A4A229E9E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9F2AB-A477-4FE1-B75A-0C379D6D2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AAB-E398-4D1B-B8C8-A443AF64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02EE-C65F-4FBE-B87A-F5DDE866E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0732-844E-46C1-B867-F7EA4C7D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21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F231-040F-1DE7-CA3D-9306FF24F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F7AD6-7DEC-F451-22AC-B07AFE575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29ED-5B6C-8146-7A58-424A545A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5EDB9-2FA8-4639-2A71-8C574CAB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A2602-67C0-B459-DF5E-2B127703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29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8A60-BD78-984C-8F07-31827B73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CC63-7FBF-CB21-22F2-CF02DA50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046B1-9411-A979-82B2-CC8034CC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A3EAB-3186-5F00-519D-E8781ACC4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97357-E18A-E83B-7E0D-6560019B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82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5140-0F5D-C64A-9F80-91AE4D232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8E1D1-444F-5BAE-E2CB-57815FFE8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950D-ECCA-D58D-0FBA-CFEB5D8E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4C012-F8E4-CE24-7363-03769A0A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055E0-3576-3623-5383-CD712612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20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EB64-B12D-8AA0-6A32-C2398DF0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3E65-09E5-EF4B-BAA3-0F34372E2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571FD-6A31-7E4E-F043-DB2467380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6349C-DEBA-1293-C176-8D1FDF3B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25F12-20C1-467E-3C8F-EA87CDA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3493-1D58-864F-E748-B1F6F579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38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6AEE-5505-7F6B-7F7C-437D601B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162CE-9A0E-193D-4DC5-79C2CD4F8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1B557-0F5F-9E92-A03E-A46DAEEE0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1EB63-7171-E1C4-1826-0E92AFA65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63459-FF13-2F7C-68BE-AB7239683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B1E1A-7B38-6AD7-7933-AAD5F4BB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29DBF-514D-054A-A374-1471A130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D1B036-8833-B807-8F24-60357B09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73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7EB9-93D1-8C9B-D8F1-7C52D38C8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149B4-AA63-1524-9809-4BFE98EA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E5D7F-AFB7-6F11-017E-5AA0066F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87311-3796-9D77-5566-94F41987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39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8F565-BB98-EA99-46B3-401E6FA7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94C3B-C61E-E42D-8D19-C319A413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63EB-DC86-1B4D-F63E-AC25BDFB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703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E842-3023-F8DB-4CCF-E29BB394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CFDE-AEAD-3C51-5F19-52D9FAADC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09067-52AD-81E0-CD79-81D5A9000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781AD-CC21-6C96-45F3-8AB36934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67B1F-4336-B71B-4443-661E4950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1F887-7DD7-0598-E50E-4F49C766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6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5FCC-095C-CC61-FC21-027EDE4E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B16EE-10BB-5CFD-0923-78A423804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0FB0-2E9E-5A4B-C902-5E30E139F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B07B8-315B-CA2B-8BBA-054FF842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E56C9-569D-E3BB-2218-55CE70D5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AEF89-73EF-0173-2BE5-B0D0AF7C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49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8F14-282F-615A-75E8-20A00947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2BDB5-F68E-26AF-9CB1-DAFF8825C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E8B2-4493-A22E-D058-6F335B69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4EA5-7164-1EB9-EF24-B0EAA489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46F8B-82B9-B7B5-C1DA-82538F17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653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BAAE6-E2E7-C762-27C8-1AF603DBA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F1576-E982-A868-6CF5-0F4FFBBDF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BBEA-BB88-4FBD-284A-1DA37337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240AC-5C53-78DE-B374-98CF727B6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1E59-D8C0-E19A-4507-72D67F21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F5ECF-7D16-4C24-815F-929C214A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6D8A-F1B3-4CBA-999A-AA17F13E1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9F2B-3C6C-4B92-BAA7-2C048DD99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458D-0350-478A-A2A7-747A147400AB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94DA-0037-4DF6-8D75-1E9E530AB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D50B-9ACA-4499-B1D4-B4944A9C6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3F06-657C-4660-B6F3-45BDDE240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1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7A47B-8457-E9B7-7292-3DED2B3B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6C719-0857-BF6E-9D89-4C51C9077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D991-699B-0749-5456-BD7B9EC81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BFB1B-5B00-2545-8EE0-B38BB2214853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AB49B-B10E-FA78-1ABF-5B05BF591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B0599-9A1D-8556-8C45-D08B85AA8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E83D7-8B1F-F54C-A1E8-F5F74FA15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8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"/>
            <a:ext cx="8229600" cy="8839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Case 7: AW Dr. Sekkath-Veedu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425" y="760682"/>
            <a:ext cx="11439525" cy="6035675"/>
          </a:xfrm>
        </p:spPr>
        <p:txBody>
          <a:bodyPr>
            <a:normAutofit/>
          </a:bodyPr>
          <a:lstStyle/>
          <a:p>
            <a:r>
              <a:rPr lang="en-US" sz="1900" dirty="0"/>
              <a:t> 69 year old female</a:t>
            </a:r>
          </a:p>
          <a:p>
            <a:r>
              <a:rPr lang="en-US" sz="2000" b="1" dirty="0"/>
              <a:t>Diagnosis: </a:t>
            </a:r>
            <a:r>
              <a:rPr lang="en-US" sz="1900" dirty="0"/>
              <a:t>Adenocarcinoma with mucinous features of the lower lobe of the lung (Stage IIB)</a:t>
            </a:r>
          </a:p>
          <a:p>
            <a:r>
              <a:rPr lang="en-US" sz="2000" b="1" dirty="0"/>
              <a:t>Other Clinical Information:</a:t>
            </a:r>
          </a:p>
          <a:p>
            <a:pPr lvl="1"/>
            <a:r>
              <a:rPr lang="en-US" sz="1800" dirty="0"/>
              <a:t>Performance Status: 1</a:t>
            </a:r>
          </a:p>
          <a:p>
            <a:pPr lvl="1"/>
            <a:r>
              <a:rPr lang="en-US" sz="1800" dirty="0"/>
              <a:t>Hepatic Function: No recent labs in EPIC </a:t>
            </a:r>
          </a:p>
          <a:p>
            <a:pPr lvl="1"/>
            <a:r>
              <a:rPr lang="en-US" sz="1800" dirty="0"/>
              <a:t>Renal Function: No recent labs in EPIC</a:t>
            </a:r>
          </a:p>
          <a:p>
            <a:pPr lvl="1"/>
            <a:r>
              <a:rPr lang="en-US" sz="1800" dirty="0"/>
              <a:t>Family History: No relevant family history</a:t>
            </a:r>
          </a:p>
          <a:p>
            <a:pPr lvl="1"/>
            <a:r>
              <a:rPr lang="en-US" sz="1800" dirty="0"/>
              <a:t>Comorbidities: Ocular myasthenia gravis, GERD, HTN, HLD, diastolic CHF, and </a:t>
            </a:r>
            <a:r>
              <a:rPr lang="en-US" sz="1800" dirty="0" err="1"/>
              <a:t>Afib</a:t>
            </a:r>
            <a:r>
              <a:rPr lang="en-US" sz="1800" dirty="0"/>
              <a:t> on apixaban</a:t>
            </a:r>
          </a:p>
          <a:p>
            <a:r>
              <a:rPr lang="en-US" sz="2000" b="1" dirty="0"/>
              <a:t>Oncology History:</a:t>
            </a:r>
          </a:p>
          <a:p>
            <a:pPr lvl="1"/>
            <a:r>
              <a:rPr lang="en-US" sz="1800" dirty="0"/>
              <a:t>Planned surgical resection followed by adjuvant chemotherapy</a:t>
            </a:r>
          </a:p>
          <a:p>
            <a:r>
              <a:rPr lang="en-US" sz="2000" b="1" dirty="0"/>
              <a:t>Molecular Testing:</a:t>
            </a:r>
          </a:p>
          <a:p>
            <a:pPr lvl="1"/>
            <a:r>
              <a:rPr lang="en-US" sz="1800" dirty="0"/>
              <a:t>Specimen Site: lower lobe of the lung; Collected: 4/2025; Panel: Caris; Dated: 5/2025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62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84D7-0337-48E5-F146-9FE19E1E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A73DF2-A6BE-6701-3B09-DEE32F39E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9587" y="365125"/>
            <a:ext cx="7634145" cy="59896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C865A-35C4-2283-B112-A525544E78BD}"/>
              </a:ext>
            </a:extLst>
          </p:cNvPr>
          <p:cNvSpPr txBox="1"/>
          <p:nvPr/>
        </p:nvSpPr>
        <p:spPr>
          <a:xfrm>
            <a:off x="296029" y="2085358"/>
            <a:ext cx="3052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 lower lobe of the lung: mucinous adenocarcinoma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F4D644-C648-703F-5828-44F646D3B57D}"/>
              </a:ext>
            </a:extLst>
          </p:cNvPr>
          <p:cNvCxnSpPr/>
          <p:nvPr/>
        </p:nvCxnSpPr>
        <p:spPr>
          <a:xfrm flipH="1">
            <a:off x="9736058" y="4525951"/>
            <a:ext cx="552587" cy="5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C4719C-55FE-0587-0405-8CB4D099CA64}"/>
              </a:ext>
            </a:extLst>
          </p:cNvPr>
          <p:cNvCxnSpPr/>
          <p:nvPr/>
        </p:nvCxnSpPr>
        <p:spPr>
          <a:xfrm flipH="1">
            <a:off x="10077869" y="3809671"/>
            <a:ext cx="552587" cy="5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864126-4CD6-C322-8314-813314C99CA5}"/>
              </a:ext>
            </a:extLst>
          </p:cNvPr>
          <p:cNvCxnSpPr/>
          <p:nvPr/>
        </p:nvCxnSpPr>
        <p:spPr>
          <a:xfrm flipH="1">
            <a:off x="10234624" y="2671239"/>
            <a:ext cx="552587" cy="5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4089CB-BEBB-E950-7BFB-62E91EBD21CF}"/>
              </a:ext>
            </a:extLst>
          </p:cNvPr>
          <p:cNvCxnSpPr/>
          <p:nvPr/>
        </p:nvCxnSpPr>
        <p:spPr>
          <a:xfrm flipH="1">
            <a:off x="8418887" y="4410562"/>
            <a:ext cx="552587" cy="5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438FFE-8A1A-1DA5-ACE3-3FF57692090D}"/>
              </a:ext>
            </a:extLst>
          </p:cNvPr>
          <p:cNvCxnSpPr/>
          <p:nvPr/>
        </p:nvCxnSpPr>
        <p:spPr>
          <a:xfrm flipH="1">
            <a:off x="9531688" y="2128336"/>
            <a:ext cx="552587" cy="5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0B0585-F6C0-4E54-DA93-69B6DEC7588A}"/>
              </a:ext>
            </a:extLst>
          </p:cNvPr>
          <p:cNvCxnSpPr/>
          <p:nvPr/>
        </p:nvCxnSpPr>
        <p:spPr>
          <a:xfrm flipH="1">
            <a:off x="4206115" y="687648"/>
            <a:ext cx="552587" cy="5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620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A1D66-C32C-DC6B-4B5F-55037EFD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CB33B5-2194-1E73-BB2D-4A87309B0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6" y="119800"/>
            <a:ext cx="11686478" cy="1325563"/>
          </a:xfrm>
        </p:spPr>
        <p:txBody>
          <a:bodyPr>
            <a:normAutofit/>
          </a:bodyPr>
          <a:lstStyle/>
          <a:p>
            <a:r>
              <a:rPr lang="en-US" dirty="0"/>
              <a:t>Case 7</a:t>
            </a:r>
            <a:br>
              <a:rPr lang="en-US" dirty="0"/>
            </a:br>
            <a:r>
              <a:rPr lang="en-US" sz="2200" dirty="0"/>
              <a:t>Prior: none                                                                                                                                                        Caris                                                                                                </a:t>
            </a:r>
            <a:br>
              <a:rPr lang="en-US" sz="2200" dirty="0"/>
            </a:br>
            <a:r>
              <a:rPr lang="en-US" sz="2200" dirty="0"/>
              <a:t>Current: adjuvant chemo (planned post-op)                                                           Dx: lung adenocarcinoma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6587AFD-F3EF-15E8-7CA1-3676BE62B567}"/>
              </a:ext>
            </a:extLst>
          </p:cNvPr>
          <p:cNvGraphicFramePr>
            <a:graphicFrameLocks/>
          </p:cNvGraphicFramePr>
          <p:nvPr/>
        </p:nvGraphicFramePr>
        <p:xfrm>
          <a:off x="234176" y="1440447"/>
          <a:ext cx="1168647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344">
                  <a:extLst>
                    <a:ext uri="{9D8B030D-6E8A-4147-A177-3AD203B41FA5}">
                      <a16:colId xmlns:a16="http://schemas.microsoft.com/office/drawing/2014/main" val="18278842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800993633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907277223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34126898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89431549"/>
                    </a:ext>
                  </a:extLst>
                </a:gridCol>
                <a:gridCol w="1355188">
                  <a:extLst>
                    <a:ext uri="{9D8B030D-6E8A-4147-A177-3AD203B41FA5}">
                      <a16:colId xmlns:a16="http://schemas.microsoft.com/office/drawing/2014/main" val="1435740330"/>
                    </a:ext>
                  </a:extLst>
                </a:gridCol>
                <a:gridCol w="1299546">
                  <a:extLst>
                    <a:ext uri="{9D8B030D-6E8A-4147-A177-3AD203B41FA5}">
                      <a16:colId xmlns:a16="http://schemas.microsoft.com/office/drawing/2014/main" val="3543759243"/>
                    </a:ext>
                  </a:extLst>
                </a:gridCol>
              </a:tblGrid>
              <a:tr h="271899">
                <a:tc>
                  <a:txBody>
                    <a:bodyPr/>
                    <a:lstStyle/>
                    <a:p>
                      <a:r>
                        <a:rPr lang="en-US" sz="1400" dirty="0"/>
                        <a:t>Alteration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Oncogenic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Clinical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Off-label (Evidence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Allele frequency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849634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Receptor tyrosine kinase; PI3K/MEK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35%,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NCT04270591 (Ph 1b/2)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NCT03175224 (Ph 1/2)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NCT04693468 (Ph 1b)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NCT06083857 (Ph 1/2)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Telisotuzumab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vedotin</a:t>
                      </a:r>
                      <a:r>
                        <a:rPr lang="en-US" sz="1400" dirty="0"/>
                        <a:t> (2L+)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376734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KRAS G12D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GTPase ; MAPK signaling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Yes,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NCT06586515 (1a/b)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NCT05382559 (Ph 1)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NCT06040541 (Ph 1/1b)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NCT05585320 (Ph 1/2a)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/>
                        <a:t>NCT06385925 (Ph 1/2)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CDH1 D400N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E-cadherin; cell adhesion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347401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LOH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Loss of heterozygosity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2%, 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029619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mutation/Mb 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2, 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55973"/>
                  </a:ext>
                </a:extLst>
              </a:tr>
              <a:tr h="1599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MSI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hypermutability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Stable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162085"/>
                  </a:ext>
                </a:extLst>
              </a:tr>
              <a:tr h="2718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PD-L1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Measures response to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TPS 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None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27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0071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533</Words>
  <Application>Microsoft Office PowerPoint</Application>
  <PresentationFormat>Widescreen</PresentationFormat>
  <Paragraphs>108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Roboto</vt:lpstr>
      <vt:lpstr>1_Office Theme</vt:lpstr>
      <vt:lpstr>Office Theme</vt:lpstr>
      <vt:lpstr>Case 7: AW Dr. Sekkath-Veedu</vt:lpstr>
      <vt:lpstr>Case 7</vt:lpstr>
      <vt:lpstr>Case 7 Prior: none                                                                                                                                                        Caris                                                                                                 Current: adjuvant chemo (planned post-op)                                                           Dx: lung adenocarcinoma</vt:lpstr>
    </vt:vector>
  </TitlesOfParts>
  <Company>University of Kentucky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Anderson, Abigail M.</dc:creator>
  <cp:lastModifiedBy>Pickarski, Justine C.</cp:lastModifiedBy>
  <cp:revision>186</cp:revision>
  <dcterms:created xsi:type="dcterms:W3CDTF">2025-01-17T22:09:34Z</dcterms:created>
  <dcterms:modified xsi:type="dcterms:W3CDTF">2025-08-04T15:35:35Z</dcterms:modified>
</cp:coreProperties>
</file>