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7" r:id="rId5"/>
    <p:sldId id="74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, Ellen B." userId="d6276d68-8836-4c1b-9437-3927bc164d2f" providerId="ADAL" clId="{4C60A47B-FE42-42D0-B567-B7C71A64EA6D}"/>
    <pc:docChg chg="undo custSel modSld">
      <pc:chgData name="Williams, Ellen B." userId="d6276d68-8836-4c1b-9437-3927bc164d2f" providerId="ADAL" clId="{4C60A47B-FE42-42D0-B567-B7C71A64EA6D}" dt="2024-02-21T16:22:32.953" v="31" actId="14100"/>
      <pc:docMkLst>
        <pc:docMk/>
      </pc:docMkLst>
      <pc:sldChg chg="modSp">
        <pc:chgData name="Williams, Ellen B." userId="d6276d68-8836-4c1b-9437-3927bc164d2f" providerId="ADAL" clId="{4C60A47B-FE42-42D0-B567-B7C71A64EA6D}" dt="2024-02-19T21:17:51.788" v="2" actId="1076"/>
        <pc:sldMkLst>
          <pc:docMk/>
          <pc:sldMk cId="4221017396" sldId="257"/>
        </pc:sldMkLst>
        <pc:spChg chg="mod">
          <ac:chgData name="Williams, Ellen B." userId="d6276d68-8836-4c1b-9437-3927bc164d2f" providerId="ADAL" clId="{4C60A47B-FE42-42D0-B567-B7C71A64EA6D}" dt="2024-02-19T21:17:51.788" v="2" actId="1076"/>
          <ac:spMkLst>
            <pc:docMk/>
            <pc:sldMk cId="4221017396" sldId="257"/>
            <ac:spMk id="26" creationId="{E93DB15D-2309-4708-B3B9-F21523799944}"/>
          </ac:spMkLst>
        </pc:spChg>
      </pc:sldChg>
      <pc:sldChg chg="delSp modSp">
        <pc:chgData name="Williams, Ellen B." userId="d6276d68-8836-4c1b-9437-3927bc164d2f" providerId="ADAL" clId="{4C60A47B-FE42-42D0-B567-B7C71A64EA6D}" dt="2024-02-21T16:22:32.953" v="31" actId="14100"/>
        <pc:sldMkLst>
          <pc:docMk/>
          <pc:sldMk cId="2095684271" sldId="740"/>
        </pc:sldMkLst>
        <pc:spChg chg="del mod">
          <ac:chgData name="Williams, Ellen B." userId="d6276d68-8836-4c1b-9437-3927bc164d2f" providerId="ADAL" clId="{4C60A47B-FE42-42D0-B567-B7C71A64EA6D}" dt="2024-02-21T16:20:38.129" v="4" actId="478"/>
          <ac:spMkLst>
            <pc:docMk/>
            <pc:sldMk cId="2095684271" sldId="740"/>
            <ac:spMk id="7" creationId="{00000000-0000-0000-0000-000000000000}"/>
          </ac:spMkLst>
        </pc:spChg>
        <pc:spChg chg="mod">
          <ac:chgData name="Williams, Ellen B." userId="d6276d68-8836-4c1b-9437-3927bc164d2f" providerId="ADAL" clId="{4C60A47B-FE42-42D0-B567-B7C71A64EA6D}" dt="2024-02-21T16:21:46.385" v="27" actId="14100"/>
          <ac:spMkLst>
            <pc:docMk/>
            <pc:sldMk cId="2095684271" sldId="740"/>
            <ac:spMk id="10" creationId="{3B6E5C5D-2CF6-4978-9F28-D9ACA2626722}"/>
          </ac:spMkLst>
        </pc:spChg>
        <pc:picChg chg="mod modCrop">
          <ac:chgData name="Williams, Ellen B." userId="d6276d68-8836-4c1b-9437-3927bc164d2f" providerId="ADAL" clId="{4C60A47B-FE42-42D0-B567-B7C71A64EA6D}" dt="2024-02-21T16:22:32.953" v="31" actId="14100"/>
          <ac:picMkLst>
            <pc:docMk/>
            <pc:sldMk cId="2095684271" sldId="740"/>
            <ac:picMk id="6" creationId="{CB8979CC-EA3E-439B-8A82-509C49FD39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40AD1-1BAA-4A4A-9FAD-09B68CD79B83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7ED43-39BD-429A-AD62-591FF7F49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91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30DB0-D7A9-4B73-BDE7-20C915D85B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0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CC1A-7F86-48CA-A168-9D3EE0C89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02420-F42A-41FC-BED9-52AE6A995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110ED-FD1E-4957-9EB9-E44909F2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1A020-5CE6-425F-83E8-98E6A1DD7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24129-CCED-4D4E-9D00-00F589F4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0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78F18-37B6-49B0-A0FA-FF37DC5B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3A9E-EE05-42DF-A6F3-E3773036B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42431-0D3A-413C-B533-821A489E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6267-85AB-429D-8ECE-418D6177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4347F-6B48-4FA8-AAA2-D9BD6446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5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D899-040E-46D7-837F-256B98AD7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3953D-444A-45CD-808D-530F1804C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C5735-0538-4A2E-8FB3-BDD30F72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58F0B-CFC6-462C-9639-4298900A0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18926-3458-4426-86B9-0E664D67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5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7084-0832-44FD-972B-6F71865C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06F04-BC5E-42A8-B4F0-0EF163599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1884E-CB0D-499E-A45E-B210CCCCB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19455-4821-4B49-BBFD-9DBD663C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62995-3134-4724-9144-44908B4C7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093CA-FDE1-4E7A-93CF-F6409DBE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3000-CFDD-4440-9E6C-298A95FB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AD4EF-ED19-4F57-AB2F-A16987C32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6330A-564E-4D57-8170-B5F4712A9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220F9-51B3-4F8D-A124-9735CD132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C318E-BDC8-4EB5-91AA-E0F63173B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42345-88B4-4E8D-BFAE-0793964D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EA332-B46F-4FB1-8345-6CD41ED5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7A124-2835-4A5F-BD15-2B884DE6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9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82B4-2D23-4324-BA85-58FEAA7A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21506-D69B-41D1-8157-506BD5B4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88502-2468-4C7A-9203-BBCCF3F2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1D1DF-E16C-4D61-B228-E0C1B517C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1EA3C-0309-46D5-AD59-BA982C81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B2C65-1B38-4ED2-9B0B-CF475B63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55AF6-E61F-490A-89FC-331636E1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0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9C45-B154-44E3-92A6-BDD96C32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F0EA0-3767-494D-8097-B09C1C4C6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1A3C2-78AB-488E-86C2-258CFBDCC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4497-5AD0-4A19-A652-67E5718A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29B1D-0D61-4CBE-911C-B91AE94AD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CF077-A7C4-4BD8-ADBD-FBA42927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7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F3417-5D4B-412E-B395-65E634D1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71579-C50B-4B5E-B11B-7B678AAE5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754E3-D053-4584-9FD6-D86C5EE2F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627A-840D-45F2-93DA-0F2F1A4C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70779-A3DF-48AF-B912-D8C952B0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29E6E-DB0C-4DB5-8B41-A6390A8D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5964-B6B6-44FB-B2C5-901ADB9B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C62BB-C8BF-49CA-8C43-EAD780DDC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10367-73F3-4F1A-9A2F-DAEED25B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0420-3202-4E9A-B6C4-A55BE9B8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E743D-3F08-48CC-9D07-01F37A32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7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77367-CC1E-4541-8D7D-E205EA740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586CA-5B92-4216-A40A-10D130473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E0F51-6854-42E0-B065-9591C304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783F7-64D5-44C6-9A8F-9F4554CE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D4FD-95ED-4D84-B744-FFA9A138C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B64BF-90FA-464C-94FF-59D84AFFE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E5B1D-1E68-4378-B7F8-5F3832E20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F90F-76A2-41EA-B232-5B2FE8386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1D054-B81D-4E71-BA91-92DE9C6B0E7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0072-34A2-412B-A8F7-FB5B2F533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C7B41-9586-4EC1-AB6F-FE713C535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9C18A-381B-4AF2-8582-7C8A615F0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05B84B-A75F-4DC1-BE4E-2149855F4293}"/>
              </a:ext>
            </a:extLst>
          </p:cNvPr>
          <p:cNvSpPr txBox="1"/>
          <p:nvPr/>
        </p:nvSpPr>
        <p:spPr>
          <a:xfrm>
            <a:off x="5874327" y="637309"/>
            <a:ext cx="2789382" cy="8002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Controlled Resuscitation</a:t>
            </a:r>
          </a:p>
          <a:p>
            <a:r>
              <a:rPr lang="en-US" sz="1400" dirty="0"/>
              <a:t>Use blood in ED refrigerator &amp; place order for </a:t>
            </a:r>
            <a:r>
              <a:rPr lang="en-US" sz="1400" dirty="0" err="1"/>
              <a:t>uncrossmatched</a:t>
            </a:r>
            <a:r>
              <a:rPr lang="en-US" sz="1400" dirty="0"/>
              <a:t> blood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168C4-6727-4DEC-906C-A4297A6974B2}"/>
              </a:ext>
            </a:extLst>
          </p:cNvPr>
          <p:cNvSpPr txBox="1"/>
          <p:nvPr/>
        </p:nvSpPr>
        <p:spPr>
          <a:xfrm>
            <a:off x="3842328" y="831273"/>
            <a:ext cx="1376218" cy="46166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Hemogram, </a:t>
            </a:r>
            <a:r>
              <a:rPr lang="en-US" sz="1200" dirty="0" err="1">
                <a:solidFill>
                  <a:schemeClr val="bg1"/>
                </a:solidFill>
              </a:rPr>
              <a:t>Coags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Fgn</a:t>
            </a:r>
            <a:r>
              <a:rPr lang="en-US" sz="1200" dirty="0">
                <a:solidFill>
                  <a:schemeClr val="bg1"/>
                </a:solidFill>
              </a:rPr>
              <a:t> if possible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DFFB8E-A633-472A-AFBF-786D8821ED2D}"/>
              </a:ext>
            </a:extLst>
          </p:cNvPr>
          <p:cNvCxnSpPr>
            <a:stCxn id="3" idx="3"/>
            <a:endCxn id="2" idx="1"/>
          </p:cNvCxnSpPr>
          <p:nvPr/>
        </p:nvCxnSpPr>
        <p:spPr>
          <a:xfrm flipV="1">
            <a:off x="5218546" y="1037419"/>
            <a:ext cx="655781" cy="24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8077DA4-F8C9-4688-931D-C5B14B55D3A1}"/>
              </a:ext>
            </a:extLst>
          </p:cNvPr>
          <p:cNvSpPr txBox="1">
            <a:spLocks/>
          </p:cNvSpPr>
          <p:nvPr/>
        </p:nvSpPr>
        <p:spPr>
          <a:xfrm>
            <a:off x="2698229" y="9104"/>
            <a:ext cx="8025189" cy="616828"/>
          </a:xfrm>
          <a:prstGeom prst="rect">
            <a:avLst/>
          </a:prstGeom>
          <a:solidFill>
            <a:srgbClr val="7030A0"/>
          </a:solidFill>
        </p:spPr>
        <p:txBody>
          <a:bodyPr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Pediatric</a:t>
            </a:r>
            <a:r>
              <a:rPr lang="en-US" sz="6000" dirty="0">
                <a:solidFill>
                  <a:srgbClr val="FF0000"/>
                </a:solidFill>
              </a:rPr>
              <a:t>*</a:t>
            </a:r>
            <a:r>
              <a:rPr lang="en-US" sz="6000" dirty="0">
                <a:solidFill>
                  <a:schemeClr val="bg1"/>
                </a:solidFill>
              </a:rPr>
              <a:t> Trauma MTP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DCD99B-7131-45C2-B0BA-301A99A57DCC}"/>
              </a:ext>
            </a:extLst>
          </p:cNvPr>
          <p:cNvSpPr txBox="1"/>
          <p:nvPr/>
        </p:nvSpPr>
        <p:spPr>
          <a:xfrm>
            <a:off x="808183" y="405437"/>
            <a:ext cx="193963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*Children &gt;50kgs follow ADULT MTP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DDF5F-6303-4CD0-BFEC-75AE165B5CCE}"/>
              </a:ext>
            </a:extLst>
          </p:cNvPr>
          <p:cNvSpPr txBox="1"/>
          <p:nvPr/>
        </p:nvSpPr>
        <p:spPr>
          <a:xfrm>
            <a:off x="8986982" y="1219200"/>
            <a:ext cx="2789382" cy="120032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Volume Guide from refrigerator 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(use ml, </a:t>
            </a:r>
            <a:r>
              <a:rPr lang="en-US" sz="1200" b="1" dirty="0" err="1">
                <a:solidFill>
                  <a:schemeClr val="bg1"/>
                </a:solidFill>
              </a:rPr>
              <a:t>wt</a:t>
            </a:r>
            <a:r>
              <a:rPr lang="en-US" sz="1200" b="1" dirty="0">
                <a:solidFill>
                  <a:schemeClr val="bg1"/>
                </a:solidFill>
              </a:rPr>
              <a:t> based)</a:t>
            </a:r>
            <a:br>
              <a:rPr lang="en-US" sz="1200" b="1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&lt;10 kg – 1 unit PRBCs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10-20 kg – 2 units PRBCs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20-50 kg – 3 units PRBCs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&gt;50 kg use ADULT MTP guide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8F2C07-2612-4850-99C1-F970BBD00687}"/>
              </a:ext>
            </a:extLst>
          </p:cNvPr>
          <p:cNvSpPr txBox="1"/>
          <p:nvPr/>
        </p:nvSpPr>
        <p:spPr>
          <a:xfrm>
            <a:off x="6308436" y="2050197"/>
            <a:ext cx="22259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Bleeding Controlled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655E4-D848-4C0D-BE4A-45D10849A1D5}"/>
              </a:ext>
            </a:extLst>
          </p:cNvPr>
          <p:cNvSpPr txBox="1"/>
          <p:nvPr/>
        </p:nvSpPr>
        <p:spPr>
          <a:xfrm>
            <a:off x="4966855" y="1745733"/>
            <a:ext cx="563418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3EC874-A0E1-4EAC-AA0A-6F0312B7EC25}"/>
              </a:ext>
            </a:extLst>
          </p:cNvPr>
          <p:cNvSpPr txBox="1"/>
          <p:nvPr/>
        </p:nvSpPr>
        <p:spPr>
          <a:xfrm>
            <a:off x="8100291" y="2765372"/>
            <a:ext cx="563418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9619A66B-C96D-4B24-B41C-70F516BBBD2D}"/>
              </a:ext>
            </a:extLst>
          </p:cNvPr>
          <p:cNvSpPr/>
          <p:nvPr/>
        </p:nvSpPr>
        <p:spPr>
          <a:xfrm>
            <a:off x="9379529" y="2491561"/>
            <a:ext cx="1801092" cy="1468583"/>
          </a:xfrm>
          <a:prstGeom prst="hexagon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  <a:p>
            <a:pPr algn="ctr"/>
            <a:r>
              <a:rPr lang="en-US" dirty="0"/>
              <a:t>Transfusion</a:t>
            </a:r>
          </a:p>
          <a:p>
            <a:pPr algn="ctr"/>
            <a:r>
              <a:rPr lang="en-US" dirty="0" err="1"/>
              <a:t>Resusc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34EC2C-09D4-438C-B6CE-55B45D354A31}"/>
              </a:ext>
            </a:extLst>
          </p:cNvPr>
          <p:cNvCxnSpPr/>
          <p:nvPr/>
        </p:nvCxnSpPr>
        <p:spPr>
          <a:xfrm>
            <a:off x="7499927" y="1437528"/>
            <a:ext cx="0" cy="612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C1D299-DD6A-4C2E-9A59-23B51A09F66B}"/>
              </a:ext>
            </a:extLst>
          </p:cNvPr>
          <p:cNvCxnSpPr/>
          <p:nvPr/>
        </p:nvCxnSpPr>
        <p:spPr>
          <a:xfrm>
            <a:off x="7499927" y="1718683"/>
            <a:ext cx="14870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8150A9-B7C2-4AAD-847D-0ABF9AFB29C2}"/>
              </a:ext>
            </a:extLst>
          </p:cNvPr>
          <p:cNvCxnSpPr/>
          <p:nvPr/>
        </p:nvCxnSpPr>
        <p:spPr>
          <a:xfrm>
            <a:off x="8294255" y="2419529"/>
            <a:ext cx="0" cy="345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C22C3E-B20E-4897-9A23-038ACEF72DFD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663709" y="2950038"/>
            <a:ext cx="9051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DA52E9-8498-4EFE-BB54-377F2B1E7C8A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 flipV="1">
            <a:off x="5530273" y="1930399"/>
            <a:ext cx="778163" cy="304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93DB15D-2309-4708-B3B9-F21523799944}"/>
              </a:ext>
            </a:extLst>
          </p:cNvPr>
          <p:cNvSpPr txBox="1"/>
          <p:nvPr/>
        </p:nvSpPr>
        <p:spPr>
          <a:xfrm>
            <a:off x="628105" y="1440009"/>
            <a:ext cx="3796114" cy="147732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Activate PEDS MTP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Contact Blood Bank (35401 or 35403) to “activate pediatric MTP”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Give proper age and biologic sex of patient (Peds MTP ≤ 15 </a:t>
            </a:r>
            <a:r>
              <a:rPr lang="en-US" sz="1200" dirty="0" err="1"/>
              <a:t>yrs</a:t>
            </a:r>
            <a:r>
              <a:rPr lang="en-US" sz="12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Surgeon must designate and place MTP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Send runner for cooler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3EEAF28-91C8-4937-BB77-B68F587A79C4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4690510" y="1861475"/>
            <a:ext cx="304464" cy="811644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1F78AB-018E-40BD-A63B-B8D421F237F3}"/>
              </a:ext>
            </a:extLst>
          </p:cNvPr>
          <p:cNvSpPr txBox="1"/>
          <p:nvPr/>
        </p:nvSpPr>
        <p:spPr>
          <a:xfrm>
            <a:off x="1758374" y="3034013"/>
            <a:ext cx="5477164" cy="30777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Send blood bank specimen directly to Blood Bank (Tube #103 or #630)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6F44FD-0047-4026-B7B4-63D6773507A6}"/>
              </a:ext>
            </a:extLst>
          </p:cNvPr>
          <p:cNvSpPr txBox="1"/>
          <p:nvPr/>
        </p:nvSpPr>
        <p:spPr>
          <a:xfrm>
            <a:off x="5218546" y="3569624"/>
            <a:ext cx="225598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Bleeding Controlled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BAB8E-1321-48D2-8673-1AAA3A49FC64}"/>
              </a:ext>
            </a:extLst>
          </p:cNvPr>
          <p:cNvSpPr txBox="1"/>
          <p:nvPr/>
        </p:nvSpPr>
        <p:spPr>
          <a:xfrm>
            <a:off x="4465799" y="3934900"/>
            <a:ext cx="517237" cy="30777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21E342-04CE-418D-A63E-1089BD66988F}"/>
              </a:ext>
            </a:extLst>
          </p:cNvPr>
          <p:cNvSpPr txBox="1"/>
          <p:nvPr/>
        </p:nvSpPr>
        <p:spPr>
          <a:xfrm>
            <a:off x="526473" y="3486681"/>
            <a:ext cx="37961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Cooler #1: 4 RBC/ 4FFP/ 1 6pk Pheresis </a:t>
            </a:r>
            <a:r>
              <a:rPr lang="en-US" sz="1600" dirty="0" err="1"/>
              <a:t>plt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D070B0-853A-46B6-B775-62ABDBF359EF}"/>
              </a:ext>
            </a:extLst>
          </p:cNvPr>
          <p:cNvSpPr txBox="1"/>
          <p:nvPr/>
        </p:nvSpPr>
        <p:spPr>
          <a:xfrm>
            <a:off x="8145319" y="3812060"/>
            <a:ext cx="563418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5B0D92-3740-4BDD-B1E1-E487C235961D}"/>
              </a:ext>
            </a:extLst>
          </p:cNvPr>
          <p:cNvSpPr txBox="1"/>
          <p:nvPr/>
        </p:nvSpPr>
        <p:spPr>
          <a:xfrm>
            <a:off x="599180" y="4214516"/>
            <a:ext cx="368184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Cooler #2: 4 RBC/ 4FFP/ 1 6pk Pheresis </a:t>
            </a:r>
            <a:r>
              <a:rPr lang="en-US" sz="1600" dirty="0" err="1"/>
              <a:t>plt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48198C-1A65-4C59-B095-2E4C9CC99ECE}"/>
              </a:ext>
            </a:extLst>
          </p:cNvPr>
          <p:cNvSpPr txBox="1"/>
          <p:nvPr/>
        </p:nvSpPr>
        <p:spPr>
          <a:xfrm>
            <a:off x="1037939" y="5139937"/>
            <a:ext cx="24164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Cooler #3: 4 RBC/ 4FFP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6A900F-C667-478B-ADB3-00894A556F05}"/>
              </a:ext>
            </a:extLst>
          </p:cNvPr>
          <p:cNvSpPr txBox="1"/>
          <p:nvPr/>
        </p:nvSpPr>
        <p:spPr>
          <a:xfrm>
            <a:off x="583607" y="6114009"/>
            <a:ext cx="368184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Cooler #4: 4 RBC/ 4FFP/ 1 6pk Pheresis </a:t>
            </a:r>
            <a:r>
              <a:rPr lang="en-US" sz="1600" dirty="0" err="1"/>
              <a:t>plt</a:t>
            </a:r>
            <a:endParaRPr 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156CFA-AFFC-45F7-93B4-C09DE5C84487}"/>
              </a:ext>
            </a:extLst>
          </p:cNvPr>
          <p:cNvSpPr txBox="1"/>
          <p:nvPr/>
        </p:nvSpPr>
        <p:spPr>
          <a:xfrm>
            <a:off x="9060872" y="4233955"/>
            <a:ext cx="2927927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Notify Blood Bank: Stop MTP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B3A63FA-4D35-424C-99FD-7CE2D4E8541B}"/>
              </a:ext>
            </a:extLst>
          </p:cNvPr>
          <p:cNvCxnSpPr>
            <a:stCxn id="38" idx="2"/>
            <a:endCxn id="42" idx="1"/>
          </p:cNvCxnSpPr>
          <p:nvPr/>
        </p:nvCxnSpPr>
        <p:spPr>
          <a:xfrm rot="16200000" flipH="1">
            <a:off x="8625336" y="3983084"/>
            <a:ext cx="237229" cy="633844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646B84-F999-40F6-9F8D-807081104A52}"/>
              </a:ext>
            </a:extLst>
          </p:cNvPr>
          <p:cNvCxnSpPr>
            <a:cxnSpLocks/>
            <a:stCxn id="32" idx="3"/>
            <a:endCxn id="38" idx="1"/>
          </p:cNvCxnSpPr>
          <p:nvPr/>
        </p:nvCxnSpPr>
        <p:spPr>
          <a:xfrm>
            <a:off x="7474528" y="3754290"/>
            <a:ext cx="670791" cy="2424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DEE47C2-41A2-4EF1-A5EC-B426E23185F3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4322586" y="3655958"/>
            <a:ext cx="895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0FC143F-E834-490A-82CD-528035210268}"/>
              </a:ext>
            </a:extLst>
          </p:cNvPr>
          <p:cNvSpPr txBox="1"/>
          <p:nvPr/>
        </p:nvSpPr>
        <p:spPr>
          <a:xfrm>
            <a:off x="2997200" y="4749019"/>
            <a:ext cx="1690255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Bleeding Controlled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E50EDB-E724-41B7-8936-00B6FDCA0F77}"/>
              </a:ext>
            </a:extLst>
          </p:cNvPr>
          <p:cNvSpPr txBox="1"/>
          <p:nvPr/>
        </p:nvSpPr>
        <p:spPr>
          <a:xfrm>
            <a:off x="2888079" y="5667352"/>
            <a:ext cx="1608877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Bleeding Controlled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F34697-48BE-4E5F-B0F3-0E769B2D301E}"/>
              </a:ext>
            </a:extLst>
          </p:cNvPr>
          <p:cNvSpPr txBox="1"/>
          <p:nvPr/>
        </p:nvSpPr>
        <p:spPr>
          <a:xfrm>
            <a:off x="1260764" y="4703077"/>
            <a:ext cx="517237" cy="30777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DADB28-5F28-4A8A-A4D8-B650FCC37845}"/>
              </a:ext>
            </a:extLst>
          </p:cNvPr>
          <p:cNvSpPr txBox="1"/>
          <p:nvPr/>
        </p:nvSpPr>
        <p:spPr>
          <a:xfrm>
            <a:off x="1499755" y="5634489"/>
            <a:ext cx="517237" cy="30777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D6D8A79-0E9E-42A7-A8BA-BDF88685A0FE}"/>
              </a:ext>
            </a:extLst>
          </p:cNvPr>
          <p:cNvCxnSpPr>
            <a:endCxn id="33" idx="3"/>
          </p:cNvCxnSpPr>
          <p:nvPr/>
        </p:nvCxnSpPr>
        <p:spPr>
          <a:xfrm flipH="1">
            <a:off x="4983036" y="3934900"/>
            <a:ext cx="563400" cy="153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2FE5F06-0009-45DB-AA9A-DC9D00476F76}"/>
              </a:ext>
            </a:extLst>
          </p:cNvPr>
          <p:cNvCxnSpPr>
            <a:stCxn id="67" idx="1"/>
            <a:endCxn id="69" idx="3"/>
          </p:cNvCxnSpPr>
          <p:nvPr/>
        </p:nvCxnSpPr>
        <p:spPr>
          <a:xfrm flipH="1" flipV="1">
            <a:off x="1778001" y="4856966"/>
            <a:ext cx="1219199" cy="30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A54F89E-C8AA-4147-9558-F7493C8C0715}"/>
              </a:ext>
            </a:extLst>
          </p:cNvPr>
          <p:cNvCxnSpPr>
            <a:stCxn id="68" idx="1"/>
            <a:endCxn id="70" idx="3"/>
          </p:cNvCxnSpPr>
          <p:nvPr/>
        </p:nvCxnSpPr>
        <p:spPr>
          <a:xfrm flipH="1" flipV="1">
            <a:off x="2016992" y="5788378"/>
            <a:ext cx="871087" cy="17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095EB609-8850-4019-ADB1-04D673CD82BC}"/>
              </a:ext>
            </a:extLst>
          </p:cNvPr>
          <p:cNvCxnSpPr>
            <a:stCxn id="33" idx="2"/>
            <a:endCxn id="39" idx="3"/>
          </p:cNvCxnSpPr>
          <p:nvPr/>
        </p:nvCxnSpPr>
        <p:spPr>
          <a:xfrm rot="5400000">
            <a:off x="4432162" y="4091537"/>
            <a:ext cx="141116" cy="4433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4911AB4-8F8E-45A1-901B-28A6C92D47DF}"/>
              </a:ext>
            </a:extLst>
          </p:cNvPr>
          <p:cNvCxnSpPr/>
          <p:nvPr/>
        </p:nvCxnSpPr>
        <p:spPr>
          <a:xfrm>
            <a:off x="3620655" y="4567341"/>
            <a:ext cx="0" cy="19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3470C82C-B2A0-4596-AB30-6797A85FF075}"/>
              </a:ext>
            </a:extLst>
          </p:cNvPr>
          <p:cNvCxnSpPr>
            <a:stCxn id="69" idx="1"/>
            <a:endCxn id="40" idx="1"/>
          </p:cNvCxnSpPr>
          <p:nvPr/>
        </p:nvCxnSpPr>
        <p:spPr>
          <a:xfrm rot="10800000" flipV="1">
            <a:off x="1037940" y="4856965"/>
            <a:ext cx="222825" cy="467637"/>
          </a:xfrm>
          <a:prstGeom prst="bentConnector3">
            <a:avLst>
              <a:gd name="adj1" fmla="val 2025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FC65D0E-D08F-49F6-948F-16F46631506C}"/>
              </a:ext>
            </a:extLst>
          </p:cNvPr>
          <p:cNvCxnSpPr/>
          <p:nvPr/>
        </p:nvCxnSpPr>
        <p:spPr>
          <a:xfrm>
            <a:off x="3269673" y="5509269"/>
            <a:ext cx="0" cy="169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AEF99059-E62C-4751-A198-F33FB1A05889}"/>
              </a:ext>
            </a:extLst>
          </p:cNvPr>
          <p:cNvCxnSpPr>
            <a:stCxn id="70" idx="1"/>
            <a:endCxn id="41" idx="1"/>
          </p:cNvCxnSpPr>
          <p:nvPr/>
        </p:nvCxnSpPr>
        <p:spPr>
          <a:xfrm rot="10800000" flipV="1">
            <a:off x="583607" y="5788378"/>
            <a:ext cx="916148" cy="494908"/>
          </a:xfrm>
          <a:prstGeom prst="bentConnector3">
            <a:avLst>
              <a:gd name="adj1" fmla="val 1249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D9DDBB4-76B3-4376-A113-3B49274C060E}"/>
              </a:ext>
            </a:extLst>
          </p:cNvPr>
          <p:cNvCxnSpPr>
            <a:endCxn id="31" idx="1"/>
          </p:cNvCxnSpPr>
          <p:nvPr/>
        </p:nvCxnSpPr>
        <p:spPr>
          <a:xfrm rot="16200000" flipH="1">
            <a:off x="1507882" y="2937410"/>
            <a:ext cx="261992" cy="2389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779D985-9464-4BA8-8E6A-9A96CEB20B47}"/>
              </a:ext>
            </a:extLst>
          </p:cNvPr>
          <p:cNvCxnSpPr>
            <a:cxnSpLocks/>
          </p:cNvCxnSpPr>
          <p:nvPr/>
        </p:nvCxnSpPr>
        <p:spPr>
          <a:xfrm>
            <a:off x="3371273" y="3341790"/>
            <a:ext cx="0" cy="13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D852FEB9-0408-4618-971A-493C16DC3E2F}"/>
              </a:ext>
            </a:extLst>
          </p:cNvPr>
          <p:cNvCxnSpPr>
            <a:stCxn id="67" idx="3"/>
            <a:endCxn id="38" idx="1"/>
          </p:cNvCxnSpPr>
          <p:nvPr/>
        </p:nvCxnSpPr>
        <p:spPr>
          <a:xfrm flipV="1">
            <a:off x="4687455" y="3996726"/>
            <a:ext cx="3457864" cy="8907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6010D14-E319-4CCA-A7E9-76FD23AB8FA9}"/>
              </a:ext>
            </a:extLst>
          </p:cNvPr>
          <p:cNvCxnSpPr>
            <a:stCxn id="68" idx="3"/>
          </p:cNvCxnSpPr>
          <p:nvPr/>
        </p:nvCxnSpPr>
        <p:spPr>
          <a:xfrm flipV="1">
            <a:off x="4496956" y="4902614"/>
            <a:ext cx="445652" cy="9032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3ADE10E-1454-4CFE-BF96-FCAF8019E9BF}"/>
              </a:ext>
            </a:extLst>
          </p:cNvPr>
          <p:cNvSpPr txBox="1"/>
          <p:nvPr/>
        </p:nvSpPr>
        <p:spPr>
          <a:xfrm>
            <a:off x="5122682" y="5363223"/>
            <a:ext cx="3681842" cy="104644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Provider Info for Controlled Resuscitation Pack</a:t>
            </a:r>
          </a:p>
          <a:p>
            <a:pPr algn="ctr"/>
            <a:r>
              <a:rPr lang="en-US" sz="1200" b="1" dirty="0"/>
              <a:t>&lt; 10kg – 1 unit PRBCs/1FFP</a:t>
            </a:r>
          </a:p>
          <a:p>
            <a:pPr algn="ctr"/>
            <a:r>
              <a:rPr lang="en-US" sz="1200" b="1" dirty="0"/>
              <a:t>10-20kg – 2 units PRBCs/2FFP/ (1/3) PLT</a:t>
            </a:r>
          </a:p>
          <a:p>
            <a:pPr algn="ctr"/>
            <a:r>
              <a:rPr lang="en-US" sz="1200" b="1" dirty="0"/>
              <a:t>20-50kg – 3 units PRBCs/3FFP/(1/2) PLT</a:t>
            </a:r>
          </a:p>
          <a:p>
            <a:pPr algn="ctr"/>
            <a:r>
              <a:rPr lang="en-US" sz="1200" b="1" dirty="0">
                <a:highlight>
                  <a:srgbClr val="FFFF00"/>
                </a:highlight>
              </a:rPr>
              <a:t>Volumes weight based ml 1:1:1 (pheresis PLT = 6pk)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9201758-D3F2-4CD4-870D-7F2F22A44BEE}"/>
              </a:ext>
            </a:extLst>
          </p:cNvPr>
          <p:cNvSpPr/>
          <p:nvPr/>
        </p:nvSpPr>
        <p:spPr>
          <a:xfrm>
            <a:off x="9116291" y="4703078"/>
            <a:ext cx="2872508" cy="17146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†Consider </a:t>
            </a:r>
            <a:r>
              <a:rPr lang="en-US" sz="1400" dirty="0" err="1"/>
              <a:t>Cryo</a:t>
            </a:r>
            <a:r>
              <a:rPr lang="en-US" sz="1400" dirty="0"/>
              <a:t> with Cooler # 2 or 3</a:t>
            </a:r>
          </a:p>
          <a:p>
            <a:pPr algn="ctr"/>
            <a:r>
              <a:rPr lang="en-US" sz="1400" dirty="0"/>
              <a:t>&lt;10kg – 1 unit (ml)</a:t>
            </a:r>
          </a:p>
          <a:p>
            <a:pPr algn="ctr"/>
            <a:r>
              <a:rPr lang="en-US" sz="1400" dirty="0"/>
              <a:t>10-20 kg – 2 units (ml)</a:t>
            </a:r>
          </a:p>
          <a:p>
            <a:pPr algn="ctr"/>
            <a:r>
              <a:rPr lang="en-US" sz="1400" dirty="0"/>
              <a:t>20-50kg – 3 units (ml)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†Call if needed</a:t>
            </a:r>
          </a:p>
        </p:txBody>
      </p:sp>
    </p:spTree>
    <p:extLst>
      <p:ext uri="{BB962C8B-B14F-4D97-AF65-F5344CB8AC3E}">
        <p14:creationId xmlns:p14="http://schemas.microsoft.com/office/powerpoint/2010/main" val="4221017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6200000">
            <a:off x="8562036" y="3259723"/>
            <a:ext cx="6921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information contained herein has been compiled as part of UK HealthCare’s Patient Safety Evaluation Systems, is deemed to be Patient Safety Work Product, and is privileged and confidential.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\\ukhcdata\home\mcwr223\Pictures\Final Trauma Logo September 2016.pdf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306" y="6120774"/>
            <a:ext cx="1532506" cy="40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915400" y="6526548"/>
            <a:ext cx="17020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chemeClr val="tx2"/>
                </a:solidFill>
              </a:rPr>
              <a:t>Kentucky Children's Hospital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E5C5D-2CF6-4978-9F28-D9ACA2626722}"/>
              </a:ext>
            </a:extLst>
          </p:cNvPr>
          <p:cNvSpPr txBox="1"/>
          <p:nvPr/>
        </p:nvSpPr>
        <p:spPr>
          <a:xfrm>
            <a:off x="9126245" y="2524609"/>
            <a:ext cx="25643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MTP page 2</a:t>
            </a:r>
          </a:p>
          <a:p>
            <a:r>
              <a:rPr lang="en-US" sz="3200" dirty="0"/>
              <a:t>(description)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8979CC-EA3E-439B-8A82-509C49FD39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918" t="22512" r="31876" b="4341"/>
          <a:stretch/>
        </p:blipFill>
        <p:spPr>
          <a:xfrm>
            <a:off x="1290562" y="88778"/>
            <a:ext cx="6286205" cy="676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8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e18221-0941-4164-87de-2866e3e1b3a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61437BF7DF874C8B648CABA1295026" ma:contentTypeVersion="18" ma:contentTypeDescription="Create a new document." ma:contentTypeScope="" ma:versionID="e7df88e4b4119d4a2ddedd9cfd335f75">
  <xsd:schema xmlns:xsd="http://www.w3.org/2001/XMLSchema" xmlns:xs="http://www.w3.org/2001/XMLSchema" xmlns:p="http://schemas.microsoft.com/office/2006/metadata/properties" xmlns:ns3="45e18221-0941-4164-87de-2866e3e1b3a8" xmlns:ns4="1454094a-907e-40cd-b3fb-a9bf80b7beda" targetNamespace="http://schemas.microsoft.com/office/2006/metadata/properties" ma:root="true" ma:fieldsID="4d20441fc50ad3efbb98d70a3fd1229a" ns3:_="" ns4:_="">
    <xsd:import namespace="45e18221-0941-4164-87de-2866e3e1b3a8"/>
    <xsd:import namespace="1454094a-907e-40cd-b3fb-a9bf80b7be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e18221-0941-4164-87de-2866e3e1b3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54094a-907e-40cd-b3fb-a9bf80b7beda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32DD80-9547-4748-81D3-97CD79E0E8AB}">
  <ds:schemaRefs>
    <ds:schemaRef ds:uri="http://purl.org/dc/elements/1.1/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45e18221-0941-4164-87de-2866e3e1b3a8"/>
    <ds:schemaRef ds:uri="http://schemas.openxmlformats.org/package/2006/metadata/core-properties"/>
    <ds:schemaRef ds:uri="http://schemas.microsoft.com/office/infopath/2007/PartnerControls"/>
    <ds:schemaRef ds:uri="1454094a-907e-40cd-b3fb-a9bf80b7beda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CDF8DED-C771-4BBA-B24C-EECFF65F73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4E4D76-1E98-46B0-BCA4-84B05D0A4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e18221-0941-4164-87de-2866e3e1b3a8"/>
    <ds:schemaRef ds:uri="1454094a-907e-40cd-b3fb-a9bf80b7be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325</Words>
  <Application>Microsoft Office PowerPoint</Application>
  <PresentationFormat>Widescreen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Williams, Ellen B.</dc:creator>
  <cp:lastModifiedBy>Williams, Ellen B.</cp:lastModifiedBy>
  <cp:revision>12</cp:revision>
  <dcterms:created xsi:type="dcterms:W3CDTF">2024-02-19T04:15:36Z</dcterms:created>
  <dcterms:modified xsi:type="dcterms:W3CDTF">2024-02-21T16:22:41Z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0x010100BD61437BF7DF874C8B648CABA1295026</vt:lpwstr>
  </property>
</Properties>
</file>